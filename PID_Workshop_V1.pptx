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1"/>
  </p:notesMasterIdLst>
  <p:sldIdLst>
    <p:sldId id="681" r:id="rId5"/>
    <p:sldId id="680" r:id="rId6"/>
    <p:sldId id="693" r:id="rId7"/>
    <p:sldId id="700" r:id="rId8"/>
    <p:sldId id="701" r:id="rId9"/>
    <p:sldId id="702" r:id="rId10"/>
    <p:sldId id="703" r:id="rId11"/>
    <p:sldId id="694" r:id="rId12"/>
    <p:sldId id="695" r:id="rId13"/>
    <p:sldId id="696" r:id="rId14"/>
    <p:sldId id="697" r:id="rId15"/>
    <p:sldId id="698" r:id="rId16"/>
    <p:sldId id="704" r:id="rId17"/>
    <p:sldId id="699" r:id="rId18"/>
    <p:sldId id="692" r:id="rId19"/>
    <p:sldId id="69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D8D10E4-3707-4D5D-A379-9B2B02337FE5}">
          <p14:sldIdLst>
            <p14:sldId id="681"/>
            <p14:sldId id="680"/>
            <p14:sldId id="693"/>
            <p14:sldId id="700"/>
            <p14:sldId id="701"/>
            <p14:sldId id="702"/>
            <p14:sldId id="703"/>
            <p14:sldId id="694"/>
            <p14:sldId id="695"/>
            <p14:sldId id="696"/>
            <p14:sldId id="697"/>
            <p14:sldId id="698"/>
            <p14:sldId id="704"/>
            <p14:sldId id="699"/>
            <p14:sldId id="692"/>
            <p14:sldId id="69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18E6"/>
    <a:srgbClr val="008542"/>
    <a:srgbClr val="C75B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77E8EA-E40C-44E4-9305-F27194AE51A6}" v="435" dt="2026-04-28T16:15:05.894"/>
    <p1510:client id="{EB5D2A0C-2EBC-451B-A86C-83BD5DB8B60F}" v="2" dt="2026-04-27T17:23:41.9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6247" autoAdjust="0"/>
  </p:normalViewPr>
  <p:slideViewPr>
    <p:cSldViewPr snapToGrid="0">
      <p:cViewPr varScale="1">
        <p:scale>
          <a:sx n="74" d="100"/>
          <a:sy n="74" d="100"/>
        </p:scale>
        <p:origin x="376" y="56"/>
      </p:cViewPr>
      <p:guideLst/>
    </p:cSldViewPr>
  </p:slideViewPr>
  <p:notesTextViewPr>
    <p:cViewPr>
      <p:scale>
        <a:sx n="3" d="2"/>
        <a:sy n="3" d="2"/>
      </p:scale>
      <p:origin x="0" y="0"/>
    </p:cViewPr>
  </p:notesTextViewPr>
  <p:notesViewPr>
    <p:cSldViewPr snapToGrid="0" showGuides="1">
      <p:cViewPr varScale="1">
        <p:scale>
          <a:sx n="97" d="100"/>
          <a:sy n="97" d="100"/>
        </p:scale>
        <p:origin x="3120"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hammad Usama Zubair" userId="0yMByXVmjaLJhq158dltGaZ6LI1pngtHeUtZr3QQ5PQ=" providerId="None" clId="Web-{EB5D2A0C-2EBC-451B-A86C-83BD5DB8B60F}"/>
    <pc:docChg chg="modSld sldOrd">
      <pc:chgData name="Muhammad Usama Zubair" userId="0yMByXVmjaLJhq158dltGaZ6LI1pngtHeUtZr3QQ5PQ=" providerId="None" clId="Web-{EB5D2A0C-2EBC-451B-A86C-83BD5DB8B60F}" dt="2026-04-27T17:23:41.970" v="1" actId="20577"/>
      <pc:docMkLst>
        <pc:docMk/>
      </pc:docMkLst>
      <pc:sldChg chg="modSp ord">
        <pc:chgData name="Muhammad Usama Zubair" userId="0yMByXVmjaLJhq158dltGaZ6LI1pngtHeUtZr3QQ5PQ=" providerId="None" clId="Web-{EB5D2A0C-2EBC-451B-A86C-83BD5DB8B60F}" dt="2026-04-27T17:23:41.970" v="1" actId="20577"/>
        <pc:sldMkLst>
          <pc:docMk/>
          <pc:sldMk cId="2527056280" sldId="680"/>
        </pc:sldMkLst>
        <pc:spChg chg="mod">
          <ac:chgData name="Muhammad Usama Zubair" userId="0yMByXVmjaLJhq158dltGaZ6LI1pngtHeUtZr3QQ5PQ=" providerId="None" clId="Web-{EB5D2A0C-2EBC-451B-A86C-83BD5DB8B60F}" dt="2026-04-27T17:23:41.970" v="1" actId="20577"/>
          <ac:spMkLst>
            <pc:docMk/>
            <pc:sldMk cId="2527056280" sldId="680"/>
            <ac:spMk id="7" creationId="{DE04B041-D11F-C865-7C88-19739B42EA1D}"/>
          </ac:spMkLst>
        </pc:spChg>
      </pc:sldChg>
    </pc:docChg>
  </pc:docChgLst>
  <pc:docChgLst>
    <pc:chgData name="Muhammad Usama Zubair" userId="0yMByXVmjaLJhq158dltGaZ6LI1pngtHeUtZr3QQ5PQ=" providerId="None" clId="Web-{1977E8EA-E40C-44E4-9305-F27194AE51A6}"/>
    <pc:docChg chg="addSld delSld modSld sldOrd modSection">
      <pc:chgData name="Muhammad Usama Zubair" userId="0yMByXVmjaLJhq158dltGaZ6LI1pngtHeUtZr3QQ5PQ=" providerId="None" clId="Web-{1977E8EA-E40C-44E4-9305-F27194AE51A6}" dt="2026-04-28T16:15:05.894" v="442"/>
      <pc:docMkLst>
        <pc:docMk/>
      </pc:docMkLst>
      <pc:sldChg chg="modSp modNotes">
        <pc:chgData name="Muhammad Usama Zubair" userId="0yMByXVmjaLJhq158dltGaZ6LI1pngtHeUtZr3QQ5PQ=" providerId="None" clId="Web-{1977E8EA-E40C-44E4-9305-F27194AE51A6}" dt="2026-04-28T12:44:18.051" v="93" actId="20577"/>
        <pc:sldMkLst>
          <pc:docMk/>
          <pc:sldMk cId="2527056280" sldId="680"/>
        </pc:sldMkLst>
        <pc:spChg chg="mod">
          <ac:chgData name="Muhammad Usama Zubair" userId="0yMByXVmjaLJhq158dltGaZ6LI1pngtHeUtZr3QQ5PQ=" providerId="None" clId="Web-{1977E8EA-E40C-44E4-9305-F27194AE51A6}" dt="2026-04-28T12:44:00.692" v="90" actId="20577"/>
          <ac:spMkLst>
            <pc:docMk/>
            <pc:sldMk cId="2527056280" sldId="680"/>
            <ac:spMk id="3" creationId="{1EEF2089-2E2B-7AA9-B542-19F24CB99805}"/>
          </ac:spMkLst>
        </pc:spChg>
        <pc:spChg chg="mod">
          <ac:chgData name="Muhammad Usama Zubair" userId="0yMByXVmjaLJhq158dltGaZ6LI1pngtHeUtZr3QQ5PQ=" providerId="None" clId="Web-{1977E8EA-E40C-44E4-9305-F27194AE51A6}" dt="2026-04-28T12:44:18.051" v="93" actId="20577"/>
          <ac:spMkLst>
            <pc:docMk/>
            <pc:sldMk cId="2527056280" sldId="680"/>
            <ac:spMk id="7" creationId="{DE04B041-D11F-C865-7C88-19739B42EA1D}"/>
          </ac:spMkLst>
        </pc:spChg>
      </pc:sldChg>
      <pc:sldChg chg="modSp modNotes">
        <pc:chgData name="Muhammad Usama Zubair" userId="0yMByXVmjaLJhq158dltGaZ6LI1pngtHeUtZr3QQ5PQ=" providerId="None" clId="Web-{1977E8EA-E40C-44E4-9305-F27194AE51A6}" dt="2026-04-28T12:43:51.067" v="88" actId="20577"/>
        <pc:sldMkLst>
          <pc:docMk/>
          <pc:sldMk cId="3332622751" sldId="681"/>
        </pc:sldMkLst>
        <pc:spChg chg="mod">
          <ac:chgData name="Muhammad Usama Zubair" userId="0yMByXVmjaLJhq158dltGaZ6LI1pngtHeUtZr3QQ5PQ=" providerId="None" clId="Web-{1977E8EA-E40C-44E4-9305-F27194AE51A6}" dt="2026-04-28T12:43:39.613" v="75" actId="20577"/>
          <ac:spMkLst>
            <pc:docMk/>
            <pc:sldMk cId="3332622751" sldId="681"/>
            <ac:spMk id="2" creationId="{C1E5E25C-74E3-D45C-B8EB-36400FC716BA}"/>
          </ac:spMkLst>
        </pc:spChg>
        <pc:spChg chg="mod">
          <ac:chgData name="Muhammad Usama Zubair" userId="0yMByXVmjaLJhq158dltGaZ6LI1pngtHeUtZr3QQ5PQ=" providerId="None" clId="Web-{1977E8EA-E40C-44E4-9305-F27194AE51A6}" dt="2026-04-28T12:43:51.067" v="88" actId="20577"/>
          <ac:spMkLst>
            <pc:docMk/>
            <pc:sldMk cId="3332622751" sldId="681"/>
            <ac:spMk id="8" creationId="{E42CE782-CE9E-528D-1E97-1D0C8C6EB6DB}"/>
          </ac:spMkLst>
        </pc:spChg>
      </pc:sldChg>
      <pc:sldChg chg="mod ord modShow">
        <pc:chgData name="Muhammad Usama Zubair" userId="0yMByXVmjaLJhq158dltGaZ6LI1pngtHeUtZr3QQ5PQ=" providerId="None" clId="Web-{1977E8EA-E40C-44E4-9305-F27194AE51A6}" dt="2026-04-28T15:46:57.424" v="209"/>
        <pc:sldMkLst>
          <pc:docMk/>
          <pc:sldMk cId="138830799" sldId="691"/>
        </pc:sldMkLst>
      </pc:sldChg>
      <pc:sldChg chg="mod ord modShow">
        <pc:chgData name="Muhammad Usama Zubair" userId="0yMByXVmjaLJhq158dltGaZ6LI1pngtHeUtZr3QQ5PQ=" providerId="None" clId="Web-{1977E8EA-E40C-44E4-9305-F27194AE51A6}" dt="2026-04-28T15:46:57.424" v="210"/>
        <pc:sldMkLst>
          <pc:docMk/>
          <pc:sldMk cId="3103769790" sldId="692"/>
        </pc:sldMkLst>
      </pc:sldChg>
      <pc:sldChg chg="addSp delSp modSp add replId modNotes">
        <pc:chgData name="Muhammad Usama Zubair" userId="0yMByXVmjaLJhq158dltGaZ6LI1pngtHeUtZr3QQ5PQ=" providerId="None" clId="Web-{1977E8EA-E40C-44E4-9305-F27194AE51A6}" dt="2026-04-28T15:52:49.706" v="267" actId="1076"/>
        <pc:sldMkLst>
          <pc:docMk/>
          <pc:sldMk cId="363167819" sldId="693"/>
        </pc:sldMkLst>
        <pc:spChg chg="mod">
          <ac:chgData name="Muhammad Usama Zubair" userId="0yMByXVmjaLJhq158dltGaZ6LI1pngtHeUtZr3QQ5PQ=" providerId="None" clId="Web-{1977E8EA-E40C-44E4-9305-F27194AE51A6}" dt="2026-04-28T12:44:24.473" v="95" actId="20577"/>
          <ac:spMkLst>
            <pc:docMk/>
            <pc:sldMk cId="363167819" sldId="693"/>
            <ac:spMk id="3" creationId="{1F8D1738-0F98-7E1F-0E42-F70AB309CC63}"/>
          </ac:spMkLst>
        </pc:spChg>
        <pc:spChg chg="del">
          <ac:chgData name="Muhammad Usama Zubair" userId="0yMByXVmjaLJhq158dltGaZ6LI1pngtHeUtZr3QQ5PQ=" providerId="None" clId="Web-{1977E8EA-E40C-44E4-9305-F27194AE51A6}" dt="2026-04-28T02:07:27.148" v="7"/>
          <ac:spMkLst>
            <pc:docMk/>
            <pc:sldMk cId="363167819" sldId="693"/>
            <ac:spMk id="6" creationId="{E084E8D1-BDB4-BB6A-D819-8C1F44632A5F}"/>
          </ac:spMkLst>
        </pc:spChg>
        <pc:spChg chg="del mod">
          <ac:chgData name="Muhammad Usama Zubair" userId="0yMByXVmjaLJhq158dltGaZ6LI1pngtHeUtZr3QQ5PQ=" providerId="None" clId="Web-{1977E8EA-E40C-44E4-9305-F27194AE51A6}" dt="2026-04-28T15:52:42.502" v="264"/>
          <ac:spMkLst>
            <pc:docMk/>
            <pc:sldMk cId="363167819" sldId="693"/>
            <ac:spMk id="7" creationId="{E95ABA67-261A-DF88-8B0C-49E40582D5B8}"/>
          </ac:spMkLst>
        </pc:spChg>
        <pc:picChg chg="add mod ord">
          <ac:chgData name="Muhammad Usama Zubair" userId="0yMByXVmjaLJhq158dltGaZ6LI1pngtHeUtZr3QQ5PQ=" providerId="None" clId="Web-{1977E8EA-E40C-44E4-9305-F27194AE51A6}" dt="2026-04-28T15:52:49.706" v="267" actId="1076"/>
          <ac:picMkLst>
            <pc:docMk/>
            <pc:sldMk cId="363167819" sldId="693"/>
            <ac:picMk id="2" creationId="{107BC1D6-24E7-99E1-DB84-D666CBDC07FE}"/>
          </ac:picMkLst>
        </pc:picChg>
      </pc:sldChg>
      <pc:sldChg chg="addSp delSp modSp add replId modNotes">
        <pc:chgData name="Muhammad Usama Zubair" userId="0yMByXVmjaLJhq158dltGaZ6LI1pngtHeUtZr3QQ5PQ=" providerId="None" clId="Web-{1977E8EA-E40C-44E4-9305-F27194AE51A6}" dt="2026-04-28T16:06:04.300" v="314" actId="14100"/>
        <pc:sldMkLst>
          <pc:docMk/>
          <pc:sldMk cId="319871860" sldId="694"/>
        </pc:sldMkLst>
        <pc:spChg chg="add del mod">
          <ac:chgData name="Muhammad Usama Zubair" userId="0yMByXVmjaLJhq158dltGaZ6LI1pngtHeUtZr3QQ5PQ=" providerId="None" clId="Web-{1977E8EA-E40C-44E4-9305-F27194AE51A6}" dt="2026-04-28T16:05:50.222" v="309"/>
          <ac:spMkLst>
            <pc:docMk/>
            <pc:sldMk cId="319871860" sldId="694"/>
            <ac:spMk id="2" creationId="{C8FBA179-E3CB-1B25-5E15-550FB33EB999}"/>
          </ac:spMkLst>
        </pc:spChg>
        <pc:spChg chg="mod">
          <ac:chgData name="Muhammad Usama Zubair" userId="0yMByXVmjaLJhq158dltGaZ6LI1pngtHeUtZr3QQ5PQ=" providerId="None" clId="Web-{1977E8EA-E40C-44E4-9305-F27194AE51A6}" dt="2026-04-28T12:44:31.598" v="98" actId="20577"/>
          <ac:spMkLst>
            <pc:docMk/>
            <pc:sldMk cId="319871860" sldId="694"/>
            <ac:spMk id="3" creationId="{DDEE42C4-1B8C-82EE-F9AF-A0C035F31C44}"/>
          </ac:spMkLst>
        </pc:spChg>
        <pc:spChg chg="mod">
          <ac:chgData name="Muhammad Usama Zubair" userId="0yMByXVmjaLJhq158dltGaZ6LI1pngtHeUtZr3QQ5PQ=" providerId="None" clId="Web-{1977E8EA-E40C-44E4-9305-F27194AE51A6}" dt="2026-04-28T12:44:50.067" v="107" actId="20577"/>
          <ac:spMkLst>
            <pc:docMk/>
            <pc:sldMk cId="319871860" sldId="694"/>
            <ac:spMk id="7" creationId="{39CB8A3C-2631-D3AD-B62C-35C7AE407285}"/>
          </ac:spMkLst>
        </pc:spChg>
        <pc:spChg chg="add del mod">
          <ac:chgData name="Muhammad Usama Zubair" userId="0yMByXVmjaLJhq158dltGaZ6LI1pngtHeUtZr3QQ5PQ=" providerId="None" clId="Web-{1977E8EA-E40C-44E4-9305-F27194AE51A6}" dt="2026-04-28T12:42:49.692" v="66"/>
          <ac:spMkLst>
            <pc:docMk/>
            <pc:sldMk cId="319871860" sldId="694"/>
            <ac:spMk id="8" creationId="{47BD8E41-151B-CFE3-1CA7-8111D81CC249}"/>
          </ac:spMkLst>
        </pc:spChg>
        <pc:picChg chg="add del mod">
          <ac:chgData name="Muhammad Usama Zubair" userId="0yMByXVmjaLJhq158dltGaZ6LI1pngtHeUtZr3QQ5PQ=" providerId="None" clId="Web-{1977E8EA-E40C-44E4-9305-F27194AE51A6}" dt="2026-04-28T12:38:22.145" v="52"/>
          <ac:picMkLst>
            <pc:docMk/>
            <pc:sldMk cId="319871860" sldId="694"/>
            <ac:picMk id="2" creationId="{7AB7B1DE-1011-2D49-BB10-C03DA1D55948}"/>
          </ac:picMkLst>
        </pc:picChg>
        <pc:picChg chg="add mod">
          <ac:chgData name="Muhammad Usama Zubair" userId="0yMByXVmjaLJhq158dltGaZ6LI1pngtHeUtZr3QQ5PQ=" providerId="None" clId="Web-{1977E8EA-E40C-44E4-9305-F27194AE51A6}" dt="2026-04-28T16:06:04.300" v="314" actId="14100"/>
          <ac:picMkLst>
            <pc:docMk/>
            <pc:sldMk cId="319871860" sldId="694"/>
            <ac:picMk id="6" creationId="{9EA7DA00-B770-694B-F826-5502E550AEA6}"/>
          </ac:picMkLst>
        </pc:picChg>
        <pc:picChg chg="add del mod">
          <ac:chgData name="Muhammad Usama Zubair" userId="0yMByXVmjaLJhq158dltGaZ6LI1pngtHeUtZr3QQ5PQ=" providerId="None" clId="Web-{1977E8EA-E40C-44E4-9305-F27194AE51A6}" dt="2026-04-28T12:41:55.145" v="62"/>
          <ac:picMkLst>
            <pc:docMk/>
            <pc:sldMk cId="319871860" sldId="694"/>
            <ac:picMk id="6" creationId="{CBFB3A2B-8DAA-9DAD-642E-3FD180323E68}"/>
          </ac:picMkLst>
        </pc:picChg>
        <pc:picChg chg="add del mod">
          <ac:chgData name="Muhammad Usama Zubair" userId="0yMByXVmjaLJhq158dltGaZ6LI1pngtHeUtZr3QQ5PQ=" providerId="None" clId="Web-{1977E8EA-E40C-44E4-9305-F27194AE51A6}" dt="2026-04-28T16:05:47.097" v="305"/>
          <ac:picMkLst>
            <pc:docMk/>
            <pc:sldMk cId="319871860" sldId="694"/>
            <ac:picMk id="9" creationId="{445D5640-759F-DF50-EADD-3128BF2EBE6C}"/>
          </ac:picMkLst>
        </pc:picChg>
      </pc:sldChg>
      <pc:sldChg chg="modSp new del">
        <pc:chgData name="Muhammad Usama Zubair" userId="0yMByXVmjaLJhq158dltGaZ6LI1pngtHeUtZr3QQ5PQ=" providerId="None" clId="Web-{1977E8EA-E40C-44E4-9305-F27194AE51A6}" dt="2026-04-28T12:35:15.676" v="39"/>
        <pc:sldMkLst>
          <pc:docMk/>
          <pc:sldMk cId="3864104808" sldId="694"/>
        </pc:sldMkLst>
        <pc:spChg chg="mod">
          <ac:chgData name="Muhammad Usama Zubair" userId="0yMByXVmjaLJhq158dltGaZ6LI1pngtHeUtZr3QQ5PQ=" providerId="None" clId="Web-{1977E8EA-E40C-44E4-9305-F27194AE51A6}" dt="2026-04-28T12:35:14.535" v="38" actId="20577"/>
          <ac:spMkLst>
            <pc:docMk/>
            <pc:sldMk cId="3864104808" sldId="694"/>
            <ac:spMk id="3" creationId="{854D401D-1F6C-9E5C-08CF-0B5488966ABE}"/>
          </ac:spMkLst>
        </pc:spChg>
      </pc:sldChg>
      <pc:sldChg chg="delSp modSp add replId modNotes">
        <pc:chgData name="Muhammad Usama Zubair" userId="0yMByXVmjaLJhq158dltGaZ6LI1pngtHeUtZr3QQ5PQ=" providerId="None" clId="Web-{1977E8EA-E40C-44E4-9305-F27194AE51A6}" dt="2026-04-28T12:49:38.754" v="148" actId="20577"/>
        <pc:sldMkLst>
          <pc:docMk/>
          <pc:sldMk cId="454836775" sldId="695"/>
        </pc:sldMkLst>
        <pc:spChg chg="mod">
          <ac:chgData name="Muhammad Usama Zubair" userId="0yMByXVmjaLJhq158dltGaZ6LI1pngtHeUtZr3QQ5PQ=" providerId="None" clId="Web-{1977E8EA-E40C-44E4-9305-F27194AE51A6}" dt="2026-04-28T12:45:21.332" v="130" actId="20577"/>
          <ac:spMkLst>
            <pc:docMk/>
            <pc:sldMk cId="454836775" sldId="695"/>
            <ac:spMk id="3" creationId="{D72F090D-900D-C199-6054-25624373F30A}"/>
          </ac:spMkLst>
        </pc:spChg>
        <pc:spChg chg="mod">
          <ac:chgData name="Muhammad Usama Zubair" userId="0yMByXVmjaLJhq158dltGaZ6LI1pngtHeUtZr3QQ5PQ=" providerId="None" clId="Web-{1977E8EA-E40C-44E4-9305-F27194AE51A6}" dt="2026-04-28T12:49:38.754" v="148" actId="20577"/>
          <ac:spMkLst>
            <pc:docMk/>
            <pc:sldMk cId="454836775" sldId="695"/>
            <ac:spMk id="7" creationId="{C6FCC342-7E8C-F8E9-60AF-6E5FB83814B6}"/>
          </ac:spMkLst>
        </pc:spChg>
        <pc:picChg chg="del">
          <ac:chgData name="Muhammad Usama Zubair" userId="0yMByXVmjaLJhq158dltGaZ6LI1pngtHeUtZr3QQ5PQ=" providerId="None" clId="Web-{1977E8EA-E40C-44E4-9305-F27194AE51A6}" dt="2026-04-28T12:45:02.129" v="110"/>
          <ac:picMkLst>
            <pc:docMk/>
            <pc:sldMk cId="454836775" sldId="695"/>
            <ac:picMk id="9" creationId="{263400B9-024B-8CD3-C4CD-791656DE409D}"/>
          </ac:picMkLst>
        </pc:picChg>
      </pc:sldChg>
      <pc:sldChg chg="addSp delSp modSp add replId modNotes">
        <pc:chgData name="Muhammad Usama Zubair" userId="0yMByXVmjaLJhq158dltGaZ6LI1pngtHeUtZr3QQ5PQ=" providerId="None" clId="Web-{1977E8EA-E40C-44E4-9305-F27194AE51A6}" dt="2026-04-28T15:44:29.658" v="178"/>
        <pc:sldMkLst>
          <pc:docMk/>
          <pc:sldMk cId="4038145416" sldId="696"/>
        </pc:sldMkLst>
        <pc:spChg chg="mod">
          <ac:chgData name="Muhammad Usama Zubair" userId="0yMByXVmjaLJhq158dltGaZ6LI1pngtHeUtZr3QQ5PQ=" providerId="None" clId="Web-{1977E8EA-E40C-44E4-9305-F27194AE51A6}" dt="2026-04-28T12:49:54.660" v="153" actId="20577"/>
          <ac:spMkLst>
            <pc:docMk/>
            <pc:sldMk cId="4038145416" sldId="696"/>
            <ac:spMk id="3" creationId="{C93EA27B-7B66-9253-2132-A986CED3A4A5}"/>
          </ac:spMkLst>
        </pc:spChg>
        <pc:spChg chg="mod">
          <ac:chgData name="Muhammad Usama Zubair" userId="0yMByXVmjaLJhq158dltGaZ6LI1pngtHeUtZr3QQ5PQ=" providerId="None" clId="Web-{1977E8EA-E40C-44E4-9305-F27194AE51A6}" dt="2026-04-28T12:54:47.285" v="171" actId="14100"/>
          <ac:spMkLst>
            <pc:docMk/>
            <pc:sldMk cId="4038145416" sldId="696"/>
            <ac:spMk id="7" creationId="{9D5747FC-6EC5-60A9-7AC8-DD5C5724A7E2}"/>
          </ac:spMkLst>
        </pc:spChg>
        <pc:picChg chg="add del mod">
          <ac:chgData name="Muhammad Usama Zubair" userId="0yMByXVmjaLJhq158dltGaZ6LI1pngtHeUtZr3QQ5PQ=" providerId="None" clId="Web-{1977E8EA-E40C-44E4-9305-F27194AE51A6}" dt="2026-04-28T15:44:29.658" v="178"/>
          <ac:picMkLst>
            <pc:docMk/>
            <pc:sldMk cId="4038145416" sldId="696"/>
            <ac:picMk id="2" creationId="{8E0B0FE6-2536-2461-33E9-502B71C61206}"/>
          </ac:picMkLst>
        </pc:picChg>
      </pc:sldChg>
      <pc:sldChg chg="delSp modSp add replId modNotes">
        <pc:chgData name="Muhammad Usama Zubair" userId="0yMByXVmjaLJhq158dltGaZ6LI1pngtHeUtZr3QQ5PQ=" providerId="None" clId="Web-{1977E8EA-E40C-44E4-9305-F27194AE51A6}" dt="2026-04-28T15:46:33.846" v="204"/>
        <pc:sldMkLst>
          <pc:docMk/>
          <pc:sldMk cId="3805030892" sldId="697"/>
        </pc:sldMkLst>
        <pc:spChg chg="mod">
          <ac:chgData name="Muhammad Usama Zubair" userId="0yMByXVmjaLJhq158dltGaZ6LI1pngtHeUtZr3QQ5PQ=" providerId="None" clId="Web-{1977E8EA-E40C-44E4-9305-F27194AE51A6}" dt="2026-04-28T15:44:34.799" v="186" actId="20577"/>
          <ac:spMkLst>
            <pc:docMk/>
            <pc:sldMk cId="3805030892" sldId="697"/>
            <ac:spMk id="3" creationId="{BBD25163-6100-A884-CFE7-EF9CB1187FE1}"/>
          </ac:spMkLst>
        </pc:spChg>
        <pc:spChg chg="del mod">
          <ac:chgData name="Muhammad Usama Zubair" userId="0yMByXVmjaLJhq158dltGaZ6LI1pngtHeUtZr3QQ5PQ=" providerId="None" clId="Web-{1977E8EA-E40C-44E4-9305-F27194AE51A6}" dt="2026-04-28T15:44:38.315" v="189"/>
          <ac:spMkLst>
            <pc:docMk/>
            <pc:sldMk cId="3805030892" sldId="697"/>
            <ac:spMk id="7" creationId="{AC91B7EE-4955-EEA5-AB3E-4B0D2DC055B4}"/>
          </ac:spMkLst>
        </pc:spChg>
        <pc:picChg chg="mod">
          <ac:chgData name="Muhammad Usama Zubair" userId="0yMByXVmjaLJhq158dltGaZ6LI1pngtHeUtZr3QQ5PQ=" providerId="None" clId="Web-{1977E8EA-E40C-44E4-9305-F27194AE51A6}" dt="2026-04-28T15:45:01.877" v="196" actId="14100"/>
          <ac:picMkLst>
            <pc:docMk/>
            <pc:sldMk cId="3805030892" sldId="697"/>
            <ac:picMk id="2" creationId="{BB6546EE-960C-F532-F6C5-0AE6B5E5040F}"/>
          </ac:picMkLst>
        </pc:picChg>
      </pc:sldChg>
      <pc:sldChg chg="modSp add ord replId modNotes">
        <pc:chgData name="Muhammad Usama Zubair" userId="0yMByXVmjaLJhq158dltGaZ6LI1pngtHeUtZr3QQ5PQ=" providerId="None" clId="Web-{1977E8EA-E40C-44E4-9305-F27194AE51A6}" dt="2026-04-28T16:13:23.597" v="418" actId="20577"/>
        <pc:sldMkLst>
          <pc:docMk/>
          <pc:sldMk cId="724952350" sldId="698"/>
        </pc:sldMkLst>
        <pc:spChg chg="mod">
          <ac:chgData name="Muhammad Usama Zubair" userId="0yMByXVmjaLJhq158dltGaZ6LI1pngtHeUtZr3QQ5PQ=" providerId="None" clId="Web-{1977E8EA-E40C-44E4-9305-F27194AE51A6}" dt="2026-04-28T15:47:57.596" v="224" actId="20577"/>
          <ac:spMkLst>
            <pc:docMk/>
            <pc:sldMk cId="724952350" sldId="698"/>
            <ac:spMk id="3" creationId="{C21703EB-78E6-3D3B-E349-7F864A66F873}"/>
          </ac:spMkLst>
        </pc:spChg>
        <pc:spChg chg="mod">
          <ac:chgData name="Muhammad Usama Zubair" userId="0yMByXVmjaLJhq158dltGaZ6LI1pngtHeUtZr3QQ5PQ=" providerId="None" clId="Web-{1977E8EA-E40C-44E4-9305-F27194AE51A6}" dt="2026-04-28T16:13:23.597" v="418" actId="20577"/>
          <ac:spMkLst>
            <pc:docMk/>
            <pc:sldMk cId="724952350" sldId="698"/>
            <ac:spMk id="7" creationId="{44E308E3-8A83-BE53-372A-9E601F97236F}"/>
          </ac:spMkLst>
        </pc:spChg>
      </pc:sldChg>
      <pc:sldChg chg="modSp add replId">
        <pc:chgData name="Muhammad Usama Zubair" userId="0yMByXVmjaLJhq158dltGaZ6LI1pngtHeUtZr3QQ5PQ=" providerId="None" clId="Web-{1977E8EA-E40C-44E4-9305-F27194AE51A6}" dt="2026-04-28T16:05:45.566" v="304" actId="20577"/>
        <pc:sldMkLst>
          <pc:docMk/>
          <pc:sldMk cId="1614774669" sldId="699"/>
        </pc:sldMkLst>
        <pc:spChg chg="mod">
          <ac:chgData name="Muhammad Usama Zubair" userId="0yMByXVmjaLJhq158dltGaZ6LI1pngtHeUtZr3QQ5PQ=" providerId="None" clId="Web-{1977E8EA-E40C-44E4-9305-F27194AE51A6}" dt="2026-04-28T15:47:01.971" v="214" actId="20577"/>
          <ac:spMkLst>
            <pc:docMk/>
            <pc:sldMk cId="1614774669" sldId="699"/>
            <ac:spMk id="3" creationId="{66F2FA82-1869-F27D-659D-A50BDB0C97B1}"/>
          </ac:spMkLst>
        </pc:spChg>
        <pc:spChg chg="mod">
          <ac:chgData name="Muhammad Usama Zubair" userId="0yMByXVmjaLJhq158dltGaZ6LI1pngtHeUtZr3QQ5PQ=" providerId="None" clId="Web-{1977E8EA-E40C-44E4-9305-F27194AE51A6}" dt="2026-04-28T16:05:45.566" v="304" actId="20577"/>
          <ac:spMkLst>
            <pc:docMk/>
            <pc:sldMk cId="1614774669" sldId="699"/>
            <ac:spMk id="7" creationId="{F46909C8-CC4B-5EC5-D2D5-A1F4651A7C31}"/>
          </ac:spMkLst>
        </pc:spChg>
      </pc:sldChg>
      <pc:sldChg chg="addSp delSp modSp add replId">
        <pc:chgData name="Muhammad Usama Zubair" userId="0yMByXVmjaLJhq158dltGaZ6LI1pngtHeUtZr3QQ5PQ=" providerId="None" clId="Web-{1977E8EA-E40C-44E4-9305-F27194AE51A6}" dt="2026-04-28T16:15:05.894" v="442"/>
        <pc:sldMkLst>
          <pc:docMk/>
          <pc:sldMk cId="3980889834" sldId="700"/>
        </pc:sldMkLst>
        <pc:spChg chg="add del mod">
          <ac:chgData name="Muhammad Usama Zubair" userId="0yMByXVmjaLJhq158dltGaZ6LI1pngtHeUtZr3QQ5PQ=" providerId="None" clId="Web-{1977E8EA-E40C-44E4-9305-F27194AE51A6}" dt="2026-04-28T16:14:53.910" v="440"/>
          <ac:spMkLst>
            <pc:docMk/>
            <pc:sldMk cId="3980889834" sldId="700"/>
            <ac:spMk id="2" creationId="{2E1865E6-10D8-0C54-FD00-179067103D23}"/>
          </ac:spMkLst>
        </pc:spChg>
        <pc:spChg chg="mod">
          <ac:chgData name="Muhammad Usama Zubair" userId="0yMByXVmjaLJhq158dltGaZ6LI1pngtHeUtZr3QQ5PQ=" providerId="None" clId="Web-{1977E8EA-E40C-44E4-9305-F27194AE51A6}" dt="2026-04-28T16:14:50.504" v="436" actId="20577"/>
          <ac:spMkLst>
            <pc:docMk/>
            <pc:sldMk cId="3980889834" sldId="700"/>
            <ac:spMk id="7" creationId="{E90AA389-ABED-78CC-4C67-650D7039F5D2}"/>
          </ac:spMkLst>
        </pc:spChg>
        <pc:picChg chg="add del mod">
          <ac:chgData name="Muhammad Usama Zubair" userId="0yMByXVmjaLJhq158dltGaZ6LI1pngtHeUtZr3QQ5PQ=" providerId="None" clId="Web-{1977E8EA-E40C-44E4-9305-F27194AE51A6}" dt="2026-04-28T16:15:05.894" v="442"/>
          <ac:picMkLst>
            <pc:docMk/>
            <pc:sldMk cId="3980889834" sldId="700"/>
            <ac:picMk id="6" creationId="{20238AF6-A645-5441-93BA-750DF8FBCBD3}"/>
          </ac:picMkLst>
        </pc:picChg>
      </pc:sldChg>
      <pc:sldChg chg="modSp new">
        <pc:chgData name="Muhammad Usama Zubair" userId="0yMByXVmjaLJhq158dltGaZ6LI1pngtHeUtZr3QQ5PQ=" providerId="None" clId="Web-{1977E8EA-E40C-44E4-9305-F27194AE51A6}" dt="2026-04-28T16:10:40.269" v="369" actId="20577"/>
        <pc:sldMkLst>
          <pc:docMk/>
          <pc:sldMk cId="2260385090" sldId="701"/>
        </pc:sldMkLst>
        <pc:spChg chg="mod">
          <ac:chgData name="Muhammad Usama Zubair" userId="0yMByXVmjaLJhq158dltGaZ6LI1pngtHeUtZr3QQ5PQ=" providerId="None" clId="Web-{1977E8EA-E40C-44E4-9305-F27194AE51A6}" dt="2026-04-28T16:10:40.269" v="369" actId="20577"/>
          <ac:spMkLst>
            <pc:docMk/>
            <pc:sldMk cId="2260385090" sldId="701"/>
            <ac:spMk id="2" creationId="{7DCFE791-B8E9-C0AE-19B2-7AC625B57CB1}"/>
          </ac:spMkLst>
        </pc:spChg>
        <pc:spChg chg="mod">
          <ac:chgData name="Muhammad Usama Zubair" userId="0yMByXVmjaLJhq158dltGaZ6LI1pngtHeUtZr3QQ5PQ=" providerId="None" clId="Web-{1977E8EA-E40C-44E4-9305-F27194AE51A6}" dt="2026-04-28T16:08:35.988" v="348" actId="20577"/>
          <ac:spMkLst>
            <pc:docMk/>
            <pc:sldMk cId="2260385090" sldId="701"/>
            <ac:spMk id="3" creationId="{31900943-9556-E86A-7664-61D514B13584}"/>
          </ac:spMkLst>
        </pc:spChg>
      </pc:sldChg>
      <pc:sldChg chg="addSp delSp modSp add replId">
        <pc:chgData name="Muhammad Usama Zubair" userId="0yMByXVmjaLJhq158dltGaZ6LI1pngtHeUtZr3QQ5PQ=" providerId="None" clId="Web-{1977E8EA-E40C-44E4-9305-F27194AE51A6}" dt="2026-04-28T16:10:45.394" v="371" actId="20577"/>
        <pc:sldMkLst>
          <pc:docMk/>
          <pc:sldMk cId="3399650237" sldId="702"/>
        </pc:sldMkLst>
        <pc:spChg chg="mod">
          <ac:chgData name="Muhammad Usama Zubair" userId="0yMByXVmjaLJhq158dltGaZ6LI1pngtHeUtZr3QQ5PQ=" providerId="None" clId="Web-{1977E8EA-E40C-44E4-9305-F27194AE51A6}" dt="2026-04-28T16:10:45.394" v="371" actId="20577"/>
          <ac:spMkLst>
            <pc:docMk/>
            <pc:sldMk cId="3399650237" sldId="702"/>
            <ac:spMk id="2" creationId="{CBA800F7-C310-FB52-D715-C2A3EAE9B9A6}"/>
          </ac:spMkLst>
        </pc:spChg>
        <pc:spChg chg="mod">
          <ac:chgData name="Muhammad Usama Zubair" userId="0yMByXVmjaLJhq158dltGaZ6LI1pngtHeUtZr3QQ5PQ=" providerId="None" clId="Web-{1977E8EA-E40C-44E4-9305-F27194AE51A6}" dt="2026-04-28T16:10:25.363" v="367" actId="20577"/>
          <ac:spMkLst>
            <pc:docMk/>
            <pc:sldMk cId="3399650237" sldId="702"/>
            <ac:spMk id="3" creationId="{D27AA12E-359F-B1B5-D89A-61B4E0E2AF5E}"/>
          </ac:spMkLst>
        </pc:spChg>
        <pc:spChg chg="add del mod">
          <ac:chgData name="Muhammad Usama Zubair" userId="0yMByXVmjaLJhq158dltGaZ6LI1pngtHeUtZr3QQ5PQ=" providerId="None" clId="Web-{1977E8EA-E40C-44E4-9305-F27194AE51A6}" dt="2026-04-28T16:09:37.347" v="360"/>
          <ac:spMkLst>
            <pc:docMk/>
            <pc:sldMk cId="3399650237" sldId="702"/>
            <ac:spMk id="6" creationId="{36A0450C-6431-80F4-24AD-0CABA8D935B3}"/>
          </ac:spMkLst>
        </pc:spChg>
      </pc:sldChg>
      <pc:sldChg chg="modSp add replId">
        <pc:chgData name="Muhammad Usama Zubair" userId="0yMByXVmjaLJhq158dltGaZ6LI1pngtHeUtZr3QQ5PQ=" providerId="None" clId="Web-{1977E8EA-E40C-44E4-9305-F27194AE51A6}" dt="2026-04-28T16:11:04.488" v="377" actId="20577"/>
        <pc:sldMkLst>
          <pc:docMk/>
          <pc:sldMk cId="4206582976" sldId="703"/>
        </pc:sldMkLst>
        <pc:spChg chg="mod">
          <ac:chgData name="Muhammad Usama Zubair" userId="0yMByXVmjaLJhq158dltGaZ6LI1pngtHeUtZr3QQ5PQ=" providerId="None" clId="Web-{1977E8EA-E40C-44E4-9305-F27194AE51A6}" dt="2026-04-28T16:10:47.800" v="373" actId="20577"/>
          <ac:spMkLst>
            <pc:docMk/>
            <pc:sldMk cId="4206582976" sldId="703"/>
            <ac:spMk id="2" creationId="{1B803EC2-B495-588D-65F6-24B8B9A142F2}"/>
          </ac:spMkLst>
        </pc:spChg>
        <pc:spChg chg="mod">
          <ac:chgData name="Muhammad Usama Zubair" userId="0yMByXVmjaLJhq158dltGaZ6LI1pngtHeUtZr3QQ5PQ=" providerId="None" clId="Web-{1977E8EA-E40C-44E4-9305-F27194AE51A6}" dt="2026-04-28T16:11:04.488" v="377" actId="20577"/>
          <ac:spMkLst>
            <pc:docMk/>
            <pc:sldMk cId="4206582976" sldId="703"/>
            <ac:spMk id="3" creationId="{7B1EB362-E240-6579-64D3-8026869B129E}"/>
          </ac:spMkLst>
        </pc:spChg>
      </pc:sldChg>
      <pc:sldChg chg="modSp add replId modNotes">
        <pc:chgData name="Muhammad Usama Zubair" userId="0yMByXVmjaLJhq158dltGaZ6LI1pngtHeUtZr3QQ5PQ=" providerId="None" clId="Web-{1977E8EA-E40C-44E4-9305-F27194AE51A6}" dt="2026-04-28T16:14:29.269" v="432"/>
        <pc:sldMkLst>
          <pc:docMk/>
          <pc:sldMk cId="2654958016" sldId="704"/>
        </pc:sldMkLst>
        <pc:spChg chg="mod">
          <ac:chgData name="Muhammad Usama Zubair" userId="0yMByXVmjaLJhq158dltGaZ6LI1pngtHeUtZr3QQ5PQ=" providerId="None" clId="Web-{1977E8EA-E40C-44E4-9305-F27194AE51A6}" dt="2026-04-28T16:13:35.988" v="425" actId="20577"/>
          <ac:spMkLst>
            <pc:docMk/>
            <pc:sldMk cId="2654958016" sldId="704"/>
            <ac:spMk id="3" creationId="{7E52B521-724E-EA95-BB74-2F7241D987D1}"/>
          </ac:spMkLst>
        </pc:spChg>
        <pc:spChg chg="mod">
          <ac:chgData name="Muhammad Usama Zubair" userId="0yMByXVmjaLJhq158dltGaZ6LI1pngtHeUtZr3QQ5PQ=" providerId="None" clId="Web-{1977E8EA-E40C-44E4-9305-F27194AE51A6}" dt="2026-04-28T16:13:48.738" v="429" actId="20577"/>
          <ac:spMkLst>
            <pc:docMk/>
            <pc:sldMk cId="2654958016" sldId="704"/>
            <ac:spMk id="7" creationId="{5EE8BD18-07DA-8FD5-4F1B-BCD903B1878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EC54B6-3A06-4A98-8DD7-91AC2EA515D9}" type="datetimeFigureOut">
              <a:rPr lang="en-US" smtClean="0"/>
              <a:t>4/28/2026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49EEB9-1E5D-4336-B1B3-152F63E4D131}" type="slidenum">
              <a:rPr lang="en-US" smtClean="0"/>
              <a:t>‹#›</a:t>
            </a:fld>
            <a:endParaRPr lang="en-US" dirty="0"/>
          </a:p>
        </p:txBody>
      </p:sp>
    </p:spTree>
    <p:extLst>
      <p:ext uri="{BB962C8B-B14F-4D97-AF65-F5344CB8AC3E}">
        <p14:creationId xmlns:p14="http://schemas.microsoft.com/office/powerpoint/2010/main" val="3674023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PID workshop. The goal of this session is to build intuition first and formulas second. We will start with the structure of a PID controller, then move into practical tuning, common implementation issues, and a few techniques that make the controller more usable in real systems. By the end, the audience should understand what each gain does, how to get a reasonable first set of gains, and why real hardware usually needs more than the ideal textbook equation.</a:t>
            </a:r>
            <a:br>
              <a:rPr lang="en-US" dirty="0">
                <a:cs typeface="+mn-lt"/>
              </a:rPr>
            </a:br>
            <a:br>
              <a:rPr lang="en-US" dirty="0">
                <a:cs typeface="+mn-lt"/>
              </a:rPr>
            </a:br>
            <a:r>
              <a:rPr lang="en-US" dirty="0"/>
              <a:t>[Sources]</a:t>
            </a:r>
            <a:br>
              <a:rPr lang="en-US" dirty="0">
                <a:cs typeface="+mn-lt"/>
              </a:rPr>
            </a:br>
            <a:r>
              <a:rPr lang="en-US" dirty="0"/>
              <a:t>MathWorks Simulink PID Controller documentation: derivative filtering, output saturation, anti-windup, and controller structure.</a:t>
            </a:r>
            <a:br>
              <a:rPr lang="en-US" dirty="0">
                <a:cs typeface="+mn-lt"/>
              </a:rPr>
            </a:br>
            <a:r>
              <a:rPr lang="en-US" dirty="0"/>
              <a:t>Caltech FBS Wiki PID Control chapter: PID roles, integrator windup, and tuning overview.</a:t>
            </a:r>
            <a:br>
              <a:rPr lang="en-US" dirty="0">
                <a:cs typeface="+mn-lt"/>
              </a:rPr>
            </a:br>
            <a:r>
              <a:rPr lang="en-US" dirty="0"/>
              <a:t>Engineering </a:t>
            </a:r>
            <a:r>
              <a:rPr lang="en-US" dirty="0" err="1"/>
              <a:t>LibreTexts</a:t>
            </a:r>
            <a:r>
              <a:rPr lang="en-US" dirty="0"/>
              <a:t> PID tuning via classical methods: Ziegler-Nichols experimental tuning concepts.</a:t>
            </a:r>
            <a:br>
              <a:rPr lang="en-US" dirty="0">
                <a:cs typeface="+mn-lt"/>
              </a:rPr>
            </a:br>
            <a:r>
              <a:rPr lang="en-US" dirty="0"/>
              <a:t>Wikipedia: PID controller and Ziegler-Nichols method for standard definitions and classic formulas.</a:t>
            </a:r>
          </a:p>
        </p:txBody>
      </p:sp>
      <p:sp>
        <p:nvSpPr>
          <p:cNvPr id="4" name="Slide Number Placeholder 3"/>
          <p:cNvSpPr>
            <a:spLocks noGrp="1"/>
          </p:cNvSpPr>
          <p:nvPr>
            <p:ph type="sldNum" sz="quarter" idx="5"/>
          </p:nvPr>
        </p:nvSpPr>
        <p:spPr/>
        <p:txBody>
          <a:bodyPr/>
          <a:lstStyle/>
          <a:p>
            <a:fld id="{C149EEB9-1E5D-4336-B1B3-152F63E4D131}" type="slidenum">
              <a:rPr lang="en-US" smtClean="0"/>
              <a:t>1</a:t>
            </a:fld>
            <a:endParaRPr lang="en-US" dirty="0"/>
          </a:p>
        </p:txBody>
      </p:sp>
    </p:spTree>
    <p:extLst>
      <p:ext uri="{BB962C8B-B14F-4D97-AF65-F5344CB8AC3E}">
        <p14:creationId xmlns:p14="http://schemas.microsoft.com/office/powerpoint/2010/main" val="35434960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roadmap for the workshop. We begin with the meaning of proportional, integral, and derivative action. Then we look at manual tuning because it is still one of the most useful engineering skills when a model is incomplete. After that, we focus on two practical problems: derivative sensitivity to noise and integral windup under actuator limits. We then cover Ziegler-Nichols as a systematic starting rule, and we close with gain scheduling for systems whose dynamics change across operating conditions.</a:t>
            </a:r>
            <a:br>
              <a:rPr lang="en-US" dirty="0">
                <a:cs typeface="+mn-lt"/>
              </a:rPr>
            </a:br>
            <a:br>
              <a:rPr lang="en-US" dirty="0">
                <a:cs typeface="+mn-lt"/>
              </a:rPr>
            </a:br>
            <a:r>
              <a:rPr lang="en-US" dirty="0"/>
              <a:t>[Sources]</a:t>
            </a:r>
            <a:br>
              <a:rPr lang="en-US" dirty="0">
                <a:cs typeface="+mn-lt"/>
              </a:rPr>
            </a:br>
            <a:r>
              <a:rPr lang="en-US" dirty="0"/>
              <a:t>MathWorks Simulink PID Controller documentation: derivative filtering, output saturation, anti-windup, and controller structure.</a:t>
            </a:r>
            <a:br>
              <a:rPr lang="en-US" dirty="0">
                <a:cs typeface="+mn-lt"/>
              </a:rPr>
            </a:br>
            <a:r>
              <a:rPr lang="en-US" dirty="0"/>
              <a:t>Caltech FBS Wiki PID Control chapter: PID roles, integrator windup, and tuning overview.</a:t>
            </a:r>
            <a:br>
              <a:rPr lang="en-US" dirty="0">
                <a:cs typeface="+mn-lt"/>
              </a:rPr>
            </a:br>
            <a:r>
              <a:rPr lang="en-US" dirty="0"/>
              <a:t>Engineering </a:t>
            </a:r>
            <a:r>
              <a:rPr lang="en-US" dirty="0" err="1"/>
              <a:t>LibreTexts</a:t>
            </a:r>
            <a:r>
              <a:rPr lang="en-US" dirty="0"/>
              <a:t> PID tuning via classical methods: Ziegler-Nichols experimental tuning concepts.</a:t>
            </a:r>
            <a:br>
              <a:rPr lang="en-US" dirty="0">
                <a:cs typeface="+mn-lt"/>
              </a:rPr>
            </a:br>
            <a:r>
              <a:rPr lang="en-US" dirty="0"/>
              <a:t>Wikipedia: PID controller and Ziegler-Nichols method for standard definitions and classic formulas.</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149EEB9-1E5D-4336-B1B3-152F63E4D131}" type="slidenum">
              <a:rPr lang="en-US" smtClean="0"/>
              <a:t>2</a:t>
            </a:fld>
            <a:endParaRPr lang="en-US" dirty="0"/>
          </a:p>
        </p:txBody>
      </p:sp>
    </p:spTree>
    <p:extLst>
      <p:ext uri="{BB962C8B-B14F-4D97-AF65-F5344CB8AC3E}">
        <p14:creationId xmlns:p14="http://schemas.microsoft.com/office/powerpoint/2010/main" val="35553158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PID controller compares the reference with the measured output and acts on the error. The proportional term gives an immediate correction that scales with how far we are from the setpoint. The integral term accumulates past error, so it is the term that removes persistent offset. The derivative term looks at how fast the error is changing, which can add damping and reduce overshoot. A useful way to explain the tuning roles is this: proportional sets aggressiveness, integral corrects bias over time, and derivative adds prediction. In practice, many loops run as PI because the derivative term is not always worth the added sensitivity to noise.</a:t>
            </a:r>
            <a:br>
              <a:rPr lang="en-US" dirty="0">
                <a:cs typeface="+mn-lt"/>
              </a:rPr>
            </a:br>
            <a:br>
              <a:rPr lang="en-US" dirty="0">
                <a:cs typeface="+mn-lt"/>
              </a:rPr>
            </a:br>
            <a:r>
              <a:rPr lang="en-US" dirty="0"/>
              <a:t>[Sources]</a:t>
            </a:r>
            <a:br>
              <a:rPr lang="en-US" dirty="0">
                <a:cs typeface="+mn-lt"/>
              </a:rPr>
            </a:br>
            <a:r>
              <a:rPr lang="en-US" dirty="0"/>
              <a:t>MathWorks Simulink PID Controller documentation: derivative filtering, output saturation, anti-windup, and controller structure.</a:t>
            </a:r>
            <a:br>
              <a:rPr lang="en-US" dirty="0">
                <a:cs typeface="+mn-lt"/>
              </a:rPr>
            </a:br>
            <a:r>
              <a:rPr lang="en-US" dirty="0"/>
              <a:t>Caltech FBS Wiki PID Control chapter: PID roles, integrator windup, and tuning overview.</a:t>
            </a:r>
            <a:br>
              <a:rPr lang="en-US" dirty="0">
                <a:cs typeface="+mn-lt"/>
              </a:rPr>
            </a:br>
            <a:r>
              <a:rPr lang="en-US" dirty="0"/>
              <a:t>Engineering </a:t>
            </a:r>
            <a:r>
              <a:rPr lang="en-US" dirty="0" err="1"/>
              <a:t>LibreTexts</a:t>
            </a:r>
            <a:r>
              <a:rPr lang="en-US" dirty="0"/>
              <a:t> PID tuning via classical methods: Ziegler-Nichols experimental tuning concepts.</a:t>
            </a:r>
            <a:br>
              <a:rPr lang="en-US" dirty="0">
                <a:cs typeface="+mn-lt"/>
              </a:rPr>
            </a:br>
            <a:r>
              <a:rPr lang="en-US" dirty="0"/>
              <a:t>Wikipedia: PID controller and Ziegler-Nichols method for standard definitions and classic formulas.</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149EEB9-1E5D-4336-B1B3-152F63E4D131}" type="slidenum">
              <a:rPr lang="en-US" smtClean="0"/>
              <a:t>3</a:t>
            </a:fld>
            <a:endParaRPr lang="en-US" dirty="0"/>
          </a:p>
        </p:txBody>
      </p:sp>
    </p:spTree>
    <p:extLst>
      <p:ext uri="{BB962C8B-B14F-4D97-AF65-F5344CB8AC3E}">
        <p14:creationId xmlns:p14="http://schemas.microsoft.com/office/powerpoint/2010/main" val="32661868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36284-F6A2-B430-2147-863BEBBAD4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940CF7-F335-70D4-03FA-A373B4EEE8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A52212-6833-05FE-1865-DDDB04B59DE8}"/>
              </a:ext>
            </a:extLst>
          </p:cNvPr>
          <p:cNvSpPr>
            <a:spLocks noGrp="1"/>
          </p:cNvSpPr>
          <p:nvPr>
            <p:ph type="body" idx="1"/>
          </p:nvPr>
        </p:nvSpPr>
        <p:spPr/>
        <p:txBody>
          <a:bodyPr/>
          <a:lstStyle/>
          <a:p>
            <a:r>
              <a:rPr lang="en-US" dirty="0"/>
              <a:t>A PID controller compares the reference with the measured output and acts on the error. The proportional term gives an immediate correction that scales with how far we are from the setpoint. The integral term accumulates past error, so it is the term that removes persistent offset. The derivative term looks at how fast the error is changing, which can add damping and reduce overshoot. A useful way to explain the tuning roles is this: proportional sets aggressiveness, integral corrects bias over time, and derivative adds prediction. In practice, many loops run as PI because the derivative term is not always worth the added sensitivity to noise.</a:t>
            </a:r>
            <a:br>
              <a:rPr lang="en-US" dirty="0">
                <a:cs typeface="+mn-lt"/>
              </a:rPr>
            </a:br>
            <a:br>
              <a:rPr lang="en-US" dirty="0">
                <a:cs typeface="+mn-lt"/>
              </a:rPr>
            </a:br>
            <a:r>
              <a:rPr lang="en-US" dirty="0"/>
              <a:t>[Sources]</a:t>
            </a:r>
            <a:br>
              <a:rPr lang="en-US" dirty="0">
                <a:cs typeface="+mn-lt"/>
              </a:rPr>
            </a:br>
            <a:r>
              <a:rPr lang="en-US" dirty="0"/>
              <a:t>MathWorks Simulink PID Controller documentation: derivative filtering, output saturation, anti-windup, and controller structure.</a:t>
            </a:r>
            <a:br>
              <a:rPr lang="en-US" dirty="0">
                <a:cs typeface="+mn-lt"/>
              </a:rPr>
            </a:br>
            <a:r>
              <a:rPr lang="en-US" dirty="0"/>
              <a:t>Caltech FBS Wiki PID Control chapter: PID roles, integrator windup, and tuning overview.</a:t>
            </a:r>
            <a:br>
              <a:rPr lang="en-US" dirty="0">
                <a:cs typeface="+mn-lt"/>
              </a:rPr>
            </a:br>
            <a:r>
              <a:rPr lang="en-US" dirty="0"/>
              <a:t>Engineering </a:t>
            </a:r>
            <a:r>
              <a:rPr lang="en-US" dirty="0" err="1"/>
              <a:t>LibreTexts</a:t>
            </a:r>
            <a:r>
              <a:rPr lang="en-US" dirty="0"/>
              <a:t> PID tuning via classical methods: Ziegler-Nichols experimental tuning concepts.</a:t>
            </a:r>
            <a:br>
              <a:rPr lang="en-US" dirty="0">
                <a:cs typeface="+mn-lt"/>
              </a:rPr>
            </a:br>
            <a:r>
              <a:rPr lang="en-US" dirty="0"/>
              <a:t>Wikipedia: PID controller and Ziegler-Nichols method for standard definitions and classic formulas.</a:t>
            </a:r>
          </a:p>
          <a:p>
            <a:endParaRPr lang="en-US" dirty="0">
              <a:ea typeface="Calibri"/>
              <a:cs typeface="Calibri"/>
            </a:endParaRPr>
          </a:p>
        </p:txBody>
      </p:sp>
      <p:sp>
        <p:nvSpPr>
          <p:cNvPr id="4" name="Slide Number Placeholder 3">
            <a:extLst>
              <a:ext uri="{FF2B5EF4-FFF2-40B4-BE49-F238E27FC236}">
                <a16:creationId xmlns:a16="http://schemas.microsoft.com/office/drawing/2014/main" id="{98CC0543-A34D-6B02-F15F-802BA44BD197}"/>
              </a:ext>
            </a:extLst>
          </p:cNvPr>
          <p:cNvSpPr>
            <a:spLocks noGrp="1"/>
          </p:cNvSpPr>
          <p:nvPr>
            <p:ph type="sldNum" sz="quarter" idx="5"/>
          </p:nvPr>
        </p:nvSpPr>
        <p:spPr/>
        <p:txBody>
          <a:bodyPr/>
          <a:lstStyle/>
          <a:p>
            <a:fld id="{C149EEB9-1E5D-4336-B1B3-152F63E4D131}" type="slidenum">
              <a:rPr lang="en-US" smtClean="0"/>
              <a:t>4</a:t>
            </a:fld>
            <a:endParaRPr lang="en-US" dirty="0"/>
          </a:p>
        </p:txBody>
      </p:sp>
    </p:spTree>
    <p:extLst>
      <p:ext uri="{BB962C8B-B14F-4D97-AF65-F5344CB8AC3E}">
        <p14:creationId xmlns:p14="http://schemas.microsoft.com/office/powerpoint/2010/main" val="24024117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3DFB2-BFF1-97A7-6C17-4A00D406AF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EC3F39-3BE5-E029-0F40-1B3DAF06CF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866705-4A7E-FF2F-D66C-4600667058FE}"/>
              </a:ext>
            </a:extLst>
          </p:cNvPr>
          <p:cNvSpPr>
            <a:spLocks noGrp="1"/>
          </p:cNvSpPr>
          <p:nvPr>
            <p:ph type="body" idx="1"/>
          </p:nvPr>
        </p:nvSpPr>
        <p:spPr/>
        <p:txBody>
          <a:bodyPr/>
          <a:lstStyle/>
          <a:p>
            <a:r>
              <a:rPr lang="en-US" dirty="0"/>
              <a:t>A practical manual tuning workflow is to start with proportional control only. Increase </a:t>
            </a:r>
            <a:r>
              <a:rPr lang="en-US" dirty="0" err="1"/>
              <a:t>Kp</a:t>
            </a:r>
            <a:r>
              <a:rPr lang="en-US" dirty="0"/>
              <a:t> until the loop becomes responsive but not obviously oscillatory. Once the response is fast enough, introduce integral action gradually to remove steady-state error. If the system overshoots too much or rings, a small amount of derivative action may help, but it should be added cautiously. While tuning, watch a few simple metrics: rise time tells you how fast the response is, overshoot tells you how aggressive it is, settling time tells you when the system calms down, and steady-state error tells you whether the final value is correct. This procedure is not optimal, but it is transparent and effective for first-pass tuning.</a:t>
            </a:r>
            <a:br>
              <a:rPr lang="en-US" dirty="0">
                <a:cs typeface="+mn-lt"/>
              </a:rPr>
            </a:br>
            <a:br>
              <a:rPr lang="en-US" dirty="0">
                <a:cs typeface="+mn-lt"/>
              </a:rPr>
            </a:br>
            <a:r>
              <a:rPr lang="en-US" dirty="0"/>
              <a:t>[Sources]</a:t>
            </a:r>
            <a:br>
              <a:rPr lang="en-US" dirty="0">
                <a:cs typeface="+mn-lt"/>
              </a:rPr>
            </a:br>
            <a:r>
              <a:rPr lang="en-US" dirty="0"/>
              <a:t>MathWorks Simulink PID Controller documentation: derivative filtering, output saturation, anti-windup, and controller structure.</a:t>
            </a:r>
            <a:br>
              <a:rPr lang="en-US" dirty="0">
                <a:cs typeface="+mn-lt"/>
              </a:rPr>
            </a:br>
            <a:r>
              <a:rPr lang="en-US" dirty="0"/>
              <a:t>Caltech FBS Wiki PID Control chapter: PID roles, integrator windup, and tuning overview.</a:t>
            </a:r>
            <a:br>
              <a:rPr lang="en-US" dirty="0">
                <a:cs typeface="+mn-lt"/>
              </a:rPr>
            </a:br>
            <a:r>
              <a:rPr lang="en-US" dirty="0"/>
              <a:t>Engineering </a:t>
            </a:r>
            <a:r>
              <a:rPr lang="en-US" dirty="0" err="1"/>
              <a:t>LibreTexts</a:t>
            </a:r>
            <a:r>
              <a:rPr lang="en-US" dirty="0"/>
              <a:t> PID tuning via classical methods: Ziegler-Nichols experimental tuning concepts.</a:t>
            </a:r>
            <a:br>
              <a:rPr lang="en-US" dirty="0">
                <a:cs typeface="+mn-lt"/>
              </a:rPr>
            </a:br>
            <a:r>
              <a:rPr lang="en-US" dirty="0"/>
              <a:t>Wikipedia: PID controller and Ziegler-Nichols method for standard definitions and classic formulas.</a:t>
            </a:r>
          </a:p>
          <a:p>
            <a:endParaRPr lang="en-US" dirty="0">
              <a:ea typeface="Calibri"/>
              <a:cs typeface="Calibri"/>
            </a:endParaRPr>
          </a:p>
        </p:txBody>
      </p:sp>
      <p:sp>
        <p:nvSpPr>
          <p:cNvPr id="4" name="Slide Number Placeholder 3">
            <a:extLst>
              <a:ext uri="{FF2B5EF4-FFF2-40B4-BE49-F238E27FC236}">
                <a16:creationId xmlns:a16="http://schemas.microsoft.com/office/drawing/2014/main" id="{9BB94B65-D754-7F66-2DB4-34356C26A519}"/>
              </a:ext>
            </a:extLst>
          </p:cNvPr>
          <p:cNvSpPr>
            <a:spLocks noGrp="1"/>
          </p:cNvSpPr>
          <p:nvPr>
            <p:ph type="sldNum" sz="quarter" idx="5"/>
          </p:nvPr>
        </p:nvSpPr>
        <p:spPr/>
        <p:txBody>
          <a:bodyPr/>
          <a:lstStyle/>
          <a:p>
            <a:fld id="{C149EEB9-1E5D-4336-B1B3-152F63E4D131}" type="slidenum">
              <a:rPr lang="en-US" smtClean="0"/>
              <a:t>8</a:t>
            </a:fld>
            <a:endParaRPr lang="en-US" dirty="0"/>
          </a:p>
        </p:txBody>
      </p:sp>
    </p:spTree>
    <p:extLst>
      <p:ext uri="{BB962C8B-B14F-4D97-AF65-F5344CB8AC3E}">
        <p14:creationId xmlns:p14="http://schemas.microsoft.com/office/powerpoint/2010/main" val="22992745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7C750-288A-6F2F-29A4-3187E1CA59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910931-D5C4-C7AC-7D29-CBAC48B497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410855-BF53-B030-C70A-B4A485337D08}"/>
              </a:ext>
            </a:extLst>
          </p:cNvPr>
          <p:cNvSpPr>
            <a:spLocks noGrp="1"/>
          </p:cNvSpPr>
          <p:nvPr>
            <p:ph type="body" idx="1"/>
          </p:nvPr>
        </p:nvSpPr>
        <p:spPr/>
        <p:txBody>
          <a:bodyPr/>
          <a:lstStyle/>
          <a:p>
            <a:r>
              <a:rPr lang="en-US" dirty="0"/>
              <a:t>The derivative term is attractive in theory because it predicts the trend of the error, but it also reacts strongly to high-frequency measurement noise. That means a noisy sensor can make the control signal chatter when derivative gain is too large. Another issue is derivative kick: if the derivative is taken directly on the error, a sudden setpoint change can create a large spike in control effort. Two common mitigations are to filter the derivative term and to take derivative action on the measurement rather than on the full error. Even with those fixes, derivative action is often omitted in noisy industrial loops, which is why PI control is extremely common.</a:t>
            </a:r>
            <a:br>
              <a:rPr lang="en-US" dirty="0">
                <a:cs typeface="+mn-lt"/>
              </a:rPr>
            </a:br>
            <a:br>
              <a:rPr lang="en-US" dirty="0">
                <a:cs typeface="+mn-lt"/>
              </a:rPr>
            </a:br>
            <a:r>
              <a:rPr lang="en-US" dirty="0"/>
              <a:t>[Sources]</a:t>
            </a:r>
            <a:br>
              <a:rPr lang="en-US" dirty="0">
                <a:cs typeface="+mn-lt"/>
              </a:rPr>
            </a:br>
            <a:r>
              <a:rPr lang="en-US" dirty="0"/>
              <a:t>MathWorks Simulink PID Controller documentation: derivative filtering, output saturation, anti-windup, and controller structure.</a:t>
            </a:r>
            <a:br>
              <a:rPr lang="en-US" dirty="0">
                <a:cs typeface="+mn-lt"/>
              </a:rPr>
            </a:br>
            <a:r>
              <a:rPr lang="en-US" dirty="0"/>
              <a:t>Caltech FBS Wiki PID Control chapter: PID roles, integrator windup, and tuning overview.</a:t>
            </a:r>
            <a:br>
              <a:rPr lang="en-US" dirty="0">
                <a:cs typeface="+mn-lt"/>
              </a:rPr>
            </a:br>
            <a:r>
              <a:rPr lang="en-US" dirty="0"/>
              <a:t>Engineering </a:t>
            </a:r>
            <a:r>
              <a:rPr lang="en-US" dirty="0" err="1"/>
              <a:t>LibreTexts</a:t>
            </a:r>
            <a:r>
              <a:rPr lang="en-US" dirty="0"/>
              <a:t> PID tuning via classical methods: Ziegler-Nichols experimental tuning concepts.</a:t>
            </a:r>
            <a:br>
              <a:rPr lang="en-US" dirty="0">
                <a:cs typeface="+mn-lt"/>
              </a:rPr>
            </a:br>
            <a:r>
              <a:rPr lang="en-US" dirty="0"/>
              <a:t>Wikipedia: PID controller and Ziegler-Nichols method for standard definitions and classic formulas.</a:t>
            </a:r>
          </a:p>
          <a:p>
            <a:endParaRPr lang="en-US" dirty="0">
              <a:ea typeface="Calibri"/>
              <a:cs typeface="Calibri"/>
            </a:endParaRPr>
          </a:p>
        </p:txBody>
      </p:sp>
      <p:sp>
        <p:nvSpPr>
          <p:cNvPr id="4" name="Slide Number Placeholder 3">
            <a:extLst>
              <a:ext uri="{FF2B5EF4-FFF2-40B4-BE49-F238E27FC236}">
                <a16:creationId xmlns:a16="http://schemas.microsoft.com/office/drawing/2014/main" id="{17ABB635-4D1B-2A40-2DD3-F79A7550AB50}"/>
              </a:ext>
            </a:extLst>
          </p:cNvPr>
          <p:cNvSpPr>
            <a:spLocks noGrp="1"/>
          </p:cNvSpPr>
          <p:nvPr>
            <p:ph type="sldNum" sz="quarter" idx="5"/>
          </p:nvPr>
        </p:nvSpPr>
        <p:spPr/>
        <p:txBody>
          <a:bodyPr/>
          <a:lstStyle/>
          <a:p>
            <a:fld id="{C149EEB9-1E5D-4336-B1B3-152F63E4D131}" type="slidenum">
              <a:rPr lang="en-US" smtClean="0"/>
              <a:t>9</a:t>
            </a:fld>
            <a:endParaRPr lang="en-US" dirty="0"/>
          </a:p>
        </p:txBody>
      </p:sp>
    </p:spTree>
    <p:extLst>
      <p:ext uri="{BB962C8B-B14F-4D97-AF65-F5344CB8AC3E}">
        <p14:creationId xmlns:p14="http://schemas.microsoft.com/office/powerpoint/2010/main" val="5188957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B7DF0-D361-81EB-02F4-6E91B0F71B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DE728C-C928-FCEA-CF4A-E855F19FD9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4F3F3A-F515-7D84-ACBB-3101695BD778}"/>
              </a:ext>
            </a:extLst>
          </p:cNvPr>
          <p:cNvSpPr>
            <a:spLocks noGrp="1"/>
          </p:cNvSpPr>
          <p:nvPr>
            <p:ph type="body" idx="1"/>
          </p:nvPr>
        </p:nvSpPr>
        <p:spPr/>
        <p:txBody>
          <a:bodyPr/>
          <a:lstStyle/>
          <a:p>
            <a:r>
              <a:rPr lang="en-US" dirty="0"/>
              <a:t>Integral windup appears when the actuator hits a limit, such as maximum voltage, valve position, or duty cycle. The controller output cannot increase further, but the integrator may keep accumulating error as if more authority were available. When the loop finally leaves saturation, that stored integral action causes sluggish recovery or large overshoot. Anti-windup methods try to stop that buildup. The simplest approach is clamping, where the integrator is paused or limited when the output is saturated in the wrong direction. A more systematic method is back-calculation, which feeds the difference between the unsaturated and saturated outputs back into the integrator state.</a:t>
            </a:r>
            <a:br>
              <a:rPr lang="en-US" dirty="0">
                <a:cs typeface="+mn-lt"/>
              </a:rPr>
            </a:br>
            <a:br>
              <a:rPr lang="en-US" dirty="0">
                <a:cs typeface="+mn-lt"/>
              </a:rPr>
            </a:br>
            <a:r>
              <a:rPr lang="en-US" dirty="0"/>
              <a:t>[Sources]</a:t>
            </a:r>
            <a:br>
              <a:rPr lang="en-US" dirty="0">
                <a:cs typeface="+mn-lt"/>
              </a:rPr>
            </a:br>
            <a:r>
              <a:rPr lang="en-US" dirty="0"/>
              <a:t>MathWorks Simulink PID Controller documentation: derivative filtering, output saturation, anti-windup, and controller structure.</a:t>
            </a:r>
            <a:br>
              <a:rPr lang="en-US" dirty="0">
                <a:cs typeface="+mn-lt"/>
              </a:rPr>
            </a:br>
            <a:r>
              <a:rPr lang="en-US" dirty="0"/>
              <a:t>Caltech FBS Wiki PID Control chapter: PID roles, integrator windup, and tuning overview.</a:t>
            </a:r>
            <a:br>
              <a:rPr lang="en-US" dirty="0">
                <a:cs typeface="+mn-lt"/>
              </a:rPr>
            </a:br>
            <a:r>
              <a:rPr lang="en-US" dirty="0"/>
              <a:t>Engineering </a:t>
            </a:r>
            <a:r>
              <a:rPr lang="en-US" dirty="0" err="1"/>
              <a:t>LibreTexts</a:t>
            </a:r>
            <a:r>
              <a:rPr lang="en-US" dirty="0"/>
              <a:t> PID tuning via classical methods: Ziegler-Nichols experimental tuning concepts.</a:t>
            </a:r>
            <a:br>
              <a:rPr lang="en-US" dirty="0">
                <a:cs typeface="+mn-lt"/>
              </a:rPr>
            </a:br>
            <a:r>
              <a:rPr lang="en-US" dirty="0"/>
              <a:t>Wikipedia: PID controller and Ziegler-Nichols method for standard definitions and classic formulas.</a:t>
            </a:r>
          </a:p>
          <a:p>
            <a:endParaRPr lang="en-US" dirty="0">
              <a:ea typeface="Calibri"/>
              <a:cs typeface="Calibri"/>
            </a:endParaRPr>
          </a:p>
        </p:txBody>
      </p:sp>
      <p:sp>
        <p:nvSpPr>
          <p:cNvPr id="4" name="Slide Number Placeholder 3">
            <a:extLst>
              <a:ext uri="{FF2B5EF4-FFF2-40B4-BE49-F238E27FC236}">
                <a16:creationId xmlns:a16="http://schemas.microsoft.com/office/drawing/2014/main" id="{C31F3703-B4D4-EA12-2EF3-CD6702A3CE0B}"/>
              </a:ext>
            </a:extLst>
          </p:cNvPr>
          <p:cNvSpPr>
            <a:spLocks noGrp="1"/>
          </p:cNvSpPr>
          <p:nvPr>
            <p:ph type="sldNum" sz="quarter" idx="5"/>
          </p:nvPr>
        </p:nvSpPr>
        <p:spPr/>
        <p:txBody>
          <a:bodyPr/>
          <a:lstStyle/>
          <a:p>
            <a:fld id="{C149EEB9-1E5D-4336-B1B3-152F63E4D131}" type="slidenum">
              <a:rPr lang="en-US" smtClean="0"/>
              <a:t>10</a:t>
            </a:fld>
            <a:endParaRPr lang="en-US" dirty="0"/>
          </a:p>
        </p:txBody>
      </p:sp>
    </p:spTree>
    <p:extLst>
      <p:ext uri="{BB962C8B-B14F-4D97-AF65-F5344CB8AC3E}">
        <p14:creationId xmlns:p14="http://schemas.microsoft.com/office/powerpoint/2010/main" val="31722632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45B60-1E27-D5AC-4FDB-72599364DB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6B062A-DCAF-4905-0728-3956060B27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DB388B-26C2-AD91-EC8D-EBD86B1092D8}"/>
              </a:ext>
            </a:extLst>
          </p:cNvPr>
          <p:cNvSpPr>
            <a:spLocks noGrp="1"/>
          </p:cNvSpPr>
          <p:nvPr>
            <p:ph type="body" idx="1"/>
          </p:nvPr>
        </p:nvSpPr>
        <p:spPr/>
        <p:txBody>
          <a:bodyPr/>
          <a:lstStyle/>
          <a:p>
            <a:r>
              <a:rPr lang="en-US" dirty="0"/>
              <a:t>A more systematic method is back-calculation, which feeds the difference between the unsaturated and saturated outputs back into the integrator state.</a:t>
            </a:r>
            <a:br>
              <a:rPr lang="en-US" dirty="0">
                <a:cs typeface="+mn-lt"/>
              </a:rPr>
            </a:br>
            <a:br>
              <a:rPr lang="en-US" dirty="0">
                <a:cs typeface="+mn-lt"/>
              </a:rPr>
            </a:br>
            <a:r>
              <a:rPr lang="en-US" dirty="0"/>
              <a:t>[Sources]</a:t>
            </a:r>
            <a:br>
              <a:rPr lang="en-US" dirty="0">
                <a:cs typeface="+mn-lt"/>
              </a:rPr>
            </a:br>
            <a:r>
              <a:rPr lang="en-US" dirty="0"/>
              <a:t>MathWorks Simulink PID Controller documentation: derivative filtering, output saturation, anti-windup, and controller structure.</a:t>
            </a:r>
            <a:br>
              <a:rPr lang="en-US" dirty="0">
                <a:cs typeface="+mn-lt"/>
              </a:rPr>
            </a:br>
            <a:r>
              <a:rPr lang="en-US" dirty="0"/>
              <a:t>Caltech FBS Wiki PID Control chapter: PID roles, integrator windup, and tuning overview.</a:t>
            </a:r>
            <a:br>
              <a:rPr lang="en-US" dirty="0">
                <a:cs typeface="+mn-lt"/>
              </a:rPr>
            </a:br>
            <a:r>
              <a:rPr lang="en-US" dirty="0"/>
              <a:t>Engineering </a:t>
            </a:r>
            <a:r>
              <a:rPr lang="en-US" dirty="0" err="1"/>
              <a:t>LibreTexts</a:t>
            </a:r>
            <a:r>
              <a:rPr lang="en-US" dirty="0"/>
              <a:t> PID tuning via classical methods: Ziegler-Nichols experimental tuning concepts.</a:t>
            </a:r>
            <a:br>
              <a:rPr lang="en-US" dirty="0">
                <a:cs typeface="+mn-lt"/>
              </a:rPr>
            </a:br>
            <a:r>
              <a:rPr lang="en-US" dirty="0"/>
              <a:t>Wikipedia: PID controller and Ziegler-Nichols method for standard definitions and classic formulas.</a:t>
            </a:r>
          </a:p>
          <a:p>
            <a:endParaRPr lang="en-US" dirty="0">
              <a:ea typeface="Calibri"/>
              <a:cs typeface="Calibri"/>
            </a:endParaRPr>
          </a:p>
        </p:txBody>
      </p:sp>
      <p:sp>
        <p:nvSpPr>
          <p:cNvPr id="4" name="Slide Number Placeholder 3">
            <a:extLst>
              <a:ext uri="{FF2B5EF4-FFF2-40B4-BE49-F238E27FC236}">
                <a16:creationId xmlns:a16="http://schemas.microsoft.com/office/drawing/2014/main" id="{03EC3CD4-88B1-442A-4917-A9C9A8134D85}"/>
              </a:ext>
            </a:extLst>
          </p:cNvPr>
          <p:cNvSpPr>
            <a:spLocks noGrp="1"/>
          </p:cNvSpPr>
          <p:nvPr>
            <p:ph type="sldNum" sz="quarter" idx="5"/>
          </p:nvPr>
        </p:nvSpPr>
        <p:spPr/>
        <p:txBody>
          <a:bodyPr/>
          <a:lstStyle/>
          <a:p>
            <a:fld id="{C149EEB9-1E5D-4336-B1B3-152F63E4D131}" type="slidenum">
              <a:rPr lang="en-US" smtClean="0"/>
              <a:t>11</a:t>
            </a:fld>
            <a:endParaRPr lang="en-US" dirty="0"/>
          </a:p>
        </p:txBody>
      </p:sp>
    </p:spTree>
    <p:extLst>
      <p:ext uri="{BB962C8B-B14F-4D97-AF65-F5344CB8AC3E}">
        <p14:creationId xmlns:p14="http://schemas.microsoft.com/office/powerpoint/2010/main" val="35625698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C40BC-8100-EA36-6A9C-71DF58FF46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4E4025-E9BE-3F39-5811-06DD644B5A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99B351-A54D-3DF4-4454-969A5FA3A6D4}"/>
              </a:ext>
            </a:extLst>
          </p:cNvPr>
          <p:cNvSpPr>
            <a:spLocks noGrp="1"/>
          </p:cNvSpPr>
          <p:nvPr>
            <p:ph type="body" idx="1"/>
          </p:nvPr>
        </p:nvSpPr>
        <p:spPr/>
        <p:txBody>
          <a:bodyPr/>
          <a:lstStyle/>
          <a:p>
            <a:r>
              <a:rPr lang="en-US" dirty="0"/>
              <a:t>The Ziegler-Nichols closed-loop method is a classic heuristic for getting initial PID gains. You disable integral and derivative action, then increase proportional gain until the loop reaches sustained oscillation. That gain is the ultimate gain, Ku, and the oscillation period is Pu. The Ziegler-Nichols formulas convert those two measured quantities into initial controller settings. The benefit is that the method is simple and does not require a detailed process model. The downside is that it tends to produce aggressive tuning with noticeable overshoot, so it should be treated as a starting point that is refined afterward based on the real design goals.</a:t>
            </a:r>
            <a:br>
              <a:rPr lang="en-US" dirty="0">
                <a:cs typeface="+mn-lt"/>
              </a:rPr>
            </a:br>
            <a:br>
              <a:rPr lang="en-US" dirty="0">
                <a:cs typeface="+mn-lt"/>
              </a:rPr>
            </a:br>
            <a:r>
              <a:rPr lang="en-US" dirty="0"/>
              <a:t>[Sources]</a:t>
            </a:r>
            <a:br>
              <a:rPr lang="en-US" dirty="0">
                <a:cs typeface="+mn-lt"/>
              </a:rPr>
            </a:br>
            <a:r>
              <a:rPr lang="en-US" dirty="0"/>
              <a:t>MathWorks Simulink PID Controller documentation: derivative filtering, output saturation, anti-windup, and controller structure.</a:t>
            </a:r>
            <a:br>
              <a:rPr lang="en-US" dirty="0">
                <a:cs typeface="+mn-lt"/>
              </a:rPr>
            </a:br>
            <a:r>
              <a:rPr lang="en-US" dirty="0"/>
              <a:t>Caltech FBS Wiki PID Control chapter: PID roles, integrator windup, and tuning overview.</a:t>
            </a:r>
            <a:br>
              <a:rPr lang="en-US" dirty="0">
                <a:cs typeface="+mn-lt"/>
              </a:rPr>
            </a:br>
            <a:r>
              <a:rPr lang="en-US" dirty="0"/>
              <a:t>Engineering </a:t>
            </a:r>
            <a:r>
              <a:rPr lang="en-US" dirty="0" err="1"/>
              <a:t>LibreTexts</a:t>
            </a:r>
            <a:r>
              <a:rPr lang="en-US" dirty="0"/>
              <a:t> PID tuning via classical methods: Ziegler-Nichols experimental tuning concepts.</a:t>
            </a:r>
            <a:br>
              <a:rPr lang="en-US" dirty="0">
                <a:cs typeface="+mn-lt"/>
              </a:rPr>
            </a:br>
            <a:r>
              <a:rPr lang="en-US" dirty="0"/>
              <a:t>Wikipedia: PID controller and Ziegler-Nichols method for standard definitions and classic formulas.</a:t>
            </a:r>
          </a:p>
          <a:p>
            <a:endParaRPr lang="en-US" dirty="0">
              <a:ea typeface="Calibri"/>
              <a:cs typeface="Calibri"/>
            </a:endParaRPr>
          </a:p>
        </p:txBody>
      </p:sp>
      <p:sp>
        <p:nvSpPr>
          <p:cNvPr id="4" name="Slide Number Placeholder 3">
            <a:extLst>
              <a:ext uri="{FF2B5EF4-FFF2-40B4-BE49-F238E27FC236}">
                <a16:creationId xmlns:a16="http://schemas.microsoft.com/office/drawing/2014/main" id="{A2C83FEA-3527-0416-E5A7-4C4F56149F42}"/>
              </a:ext>
            </a:extLst>
          </p:cNvPr>
          <p:cNvSpPr>
            <a:spLocks noGrp="1"/>
          </p:cNvSpPr>
          <p:nvPr>
            <p:ph type="sldNum" sz="quarter" idx="5"/>
          </p:nvPr>
        </p:nvSpPr>
        <p:spPr/>
        <p:txBody>
          <a:bodyPr/>
          <a:lstStyle/>
          <a:p>
            <a:fld id="{C149EEB9-1E5D-4336-B1B3-152F63E4D131}" type="slidenum">
              <a:rPr lang="en-US" smtClean="0"/>
              <a:t>12</a:t>
            </a:fld>
            <a:endParaRPr lang="en-US" dirty="0"/>
          </a:p>
        </p:txBody>
      </p:sp>
    </p:spTree>
    <p:extLst>
      <p:ext uri="{BB962C8B-B14F-4D97-AF65-F5344CB8AC3E}">
        <p14:creationId xmlns:p14="http://schemas.microsoft.com/office/powerpoint/2010/main" val="1070469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AFC43-97F2-B87D-3D35-A997FB4BFA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09C544-038E-C299-E5F6-EDC789AE80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DBA95E-0F75-9290-FFD7-F704187FC296}"/>
              </a:ext>
            </a:extLst>
          </p:cNvPr>
          <p:cNvSpPr>
            <a:spLocks noGrp="1"/>
          </p:cNvSpPr>
          <p:nvPr>
            <p:ph type="body" idx="1"/>
          </p:nvPr>
        </p:nvSpPr>
        <p:spPr/>
        <p:txBody>
          <a:bodyPr/>
          <a:lstStyle/>
          <a:p>
            <a:r>
              <a:rPr lang="en-US" dirty="0"/>
              <a:t>Gain scheduling is useful when the plant behaves differently in different regions, for example at low versus high speed, light versus heavy load, or small versus large angle. Instead of forcing one fixed controller to handle the whole range, we tune several local controllers and switch or interpolate between them based on a scheduling variable. The key idea is simple, but implementation needs care. The scheduling variable should be measurable and physically meaningful, the gains should vary smoothly to avoid abrupt control changes, and transitions must be tested because a controller that looks good at each operating point can still behave poorly while moving between them.</a:t>
            </a:r>
            <a:br>
              <a:rPr lang="en-US" dirty="0">
                <a:cs typeface="+mn-lt"/>
              </a:rPr>
            </a:br>
            <a:br>
              <a:rPr lang="en-US" dirty="0">
                <a:cs typeface="+mn-lt"/>
              </a:rPr>
            </a:br>
            <a:r>
              <a:rPr lang="en-US" dirty="0"/>
              <a:t>[Sources]</a:t>
            </a:r>
            <a:br>
              <a:rPr lang="en-US" dirty="0">
                <a:cs typeface="+mn-lt"/>
              </a:rPr>
            </a:br>
            <a:r>
              <a:rPr lang="en-US" dirty="0"/>
              <a:t>MathWorks Simulink PID Controller documentation: derivative filtering, output saturation, anti-windup, and controller structure.</a:t>
            </a:r>
            <a:br>
              <a:rPr lang="en-US" dirty="0">
                <a:cs typeface="+mn-lt"/>
              </a:rPr>
            </a:br>
            <a:r>
              <a:rPr lang="en-US" dirty="0"/>
              <a:t>Caltech FBS Wiki PID Control chapter: PID roles, integrator windup, and tuning overview.</a:t>
            </a:r>
            <a:br>
              <a:rPr lang="en-US" dirty="0">
                <a:cs typeface="+mn-lt"/>
              </a:rPr>
            </a:br>
            <a:r>
              <a:rPr lang="en-US" dirty="0"/>
              <a:t>Engineering </a:t>
            </a:r>
            <a:r>
              <a:rPr lang="en-US" dirty="0" err="1"/>
              <a:t>LibreTexts</a:t>
            </a:r>
            <a:r>
              <a:rPr lang="en-US" dirty="0"/>
              <a:t> PID tuning via classical methods: Ziegler-Nichols experimental tuning concepts.</a:t>
            </a:r>
            <a:br>
              <a:rPr lang="en-US" dirty="0">
                <a:cs typeface="+mn-lt"/>
              </a:rPr>
            </a:br>
            <a:r>
              <a:rPr lang="en-US" dirty="0"/>
              <a:t>Wikipedia: PID controller and Ziegler-Nichols method for standard definitions and classic formulas.</a:t>
            </a:r>
          </a:p>
          <a:p>
            <a:endParaRPr lang="en-US" dirty="0">
              <a:ea typeface="Calibri"/>
              <a:cs typeface="Calibri"/>
            </a:endParaRPr>
          </a:p>
        </p:txBody>
      </p:sp>
      <p:sp>
        <p:nvSpPr>
          <p:cNvPr id="4" name="Slide Number Placeholder 3">
            <a:extLst>
              <a:ext uri="{FF2B5EF4-FFF2-40B4-BE49-F238E27FC236}">
                <a16:creationId xmlns:a16="http://schemas.microsoft.com/office/drawing/2014/main" id="{9614C95C-9124-6045-24E6-264EC50B7030}"/>
              </a:ext>
            </a:extLst>
          </p:cNvPr>
          <p:cNvSpPr>
            <a:spLocks noGrp="1"/>
          </p:cNvSpPr>
          <p:nvPr>
            <p:ph type="sldNum" sz="quarter" idx="5"/>
          </p:nvPr>
        </p:nvSpPr>
        <p:spPr/>
        <p:txBody>
          <a:bodyPr/>
          <a:lstStyle/>
          <a:p>
            <a:fld id="{C149EEB9-1E5D-4336-B1B3-152F63E4D131}" type="slidenum">
              <a:rPr lang="en-US" smtClean="0"/>
              <a:t>13</a:t>
            </a:fld>
            <a:endParaRPr lang="en-US" dirty="0"/>
          </a:p>
        </p:txBody>
      </p:sp>
    </p:spTree>
    <p:extLst>
      <p:ext uri="{BB962C8B-B14F-4D97-AF65-F5344CB8AC3E}">
        <p14:creationId xmlns:p14="http://schemas.microsoft.com/office/powerpoint/2010/main" val="35365050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A00DF-FFA2-488B-7F68-77A0716D49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27A11C-FD85-7FAC-06F3-2128CEDE1D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AA0DBC-1BCE-8A22-76AB-8D6860CCE314}"/>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53D8767F-96D4-C855-AA6B-2F84512A2B37}"/>
              </a:ext>
            </a:extLst>
          </p:cNvPr>
          <p:cNvSpPr>
            <a:spLocks noGrp="1"/>
          </p:cNvSpPr>
          <p:nvPr>
            <p:ph type="sldNum" sz="quarter" idx="5"/>
          </p:nvPr>
        </p:nvSpPr>
        <p:spPr/>
        <p:txBody>
          <a:bodyPr/>
          <a:lstStyle/>
          <a:p>
            <a:fld id="{C149EEB9-1E5D-4336-B1B3-152F63E4D131}" type="slidenum">
              <a:rPr lang="en-US" smtClean="0"/>
              <a:t>14</a:t>
            </a:fld>
            <a:endParaRPr lang="en-US" dirty="0"/>
          </a:p>
        </p:txBody>
      </p:sp>
    </p:spTree>
    <p:extLst>
      <p:ext uri="{BB962C8B-B14F-4D97-AF65-F5344CB8AC3E}">
        <p14:creationId xmlns:p14="http://schemas.microsoft.com/office/powerpoint/2010/main" val="27497877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Emblem">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solidFill>
                  <a:schemeClr val="accent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5109224" y="585894"/>
            <a:ext cx="1973552" cy="1973552"/>
          </a:xfrm>
          <a:prstGeom prst="rect">
            <a:avLst/>
          </a:prstGeom>
        </p:spPr>
      </p:pic>
    </p:spTree>
    <p:extLst>
      <p:ext uri="{BB962C8B-B14F-4D97-AF65-F5344CB8AC3E}">
        <p14:creationId xmlns:p14="http://schemas.microsoft.com/office/powerpoint/2010/main" val="2664792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Monogram 2 Color">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solidFill>
                  <a:schemeClr val="accent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5110934" y="585894"/>
            <a:ext cx="1970131" cy="1973552"/>
          </a:xfrm>
          <a:prstGeom prst="rect">
            <a:avLst/>
          </a:prstGeom>
        </p:spPr>
      </p:pic>
    </p:spTree>
    <p:extLst>
      <p:ext uri="{BB962C8B-B14F-4D97-AF65-F5344CB8AC3E}">
        <p14:creationId xmlns:p14="http://schemas.microsoft.com/office/powerpoint/2010/main" val="20114640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Monogram Orang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solidFill>
                  <a:schemeClr val="accent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5110934" y="585894"/>
            <a:ext cx="1970131" cy="1973551"/>
          </a:xfrm>
          <a:prstGeom prst="rect">
            <a:avLst/>
          </a:prstGeom>
        </p:spPr>
      </p:pic>
    </p:spTree>
    <p:extLst>
      <p:ext uri="{BB962C8B-B14F-4D97-AF65-F5344CB8AC3E}">
        <p14:creationId xmlns:p14="http://schemas.microsoft.com/office/powerpoint/2010/main" val="2013388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Monogram Wordmark">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solidFill>
                  <a:schemeClr val="accent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475897" y="205964"/>
            <a:ext cx="5240206" cy="2096081"/>
          </a:xfrm>
          <a:prstGeom prst="rect">
            <a:avLst/>
          </a:prstGeom>
        </p:spPr>
      </p:pic>
    </p:spTree>
    <p:extLst>
      <p:ext uri="{BB962C8B-B14F-4D97-AF65-F5344CB8AC3E}">
        <p14:creationId xmlns:p14="http://schemas.microsoft.com/office/powerpoint/2010/main" val="1871384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Wordmark Footer">
    <p:spTree>
      <p:nvGrpSpPr>
        <p:cNvPr id="1" name=""/>
        <p:cNvGrpSpPr/>
        <p:nvPr/>
      </p:nvGrpSpPr>
      <p:grpSpPr>
        <a:xfrm>
          <a:off x="0" y="0"/>
          <a:ext cx="0" cy="0"/>
          <a:chOff x="0" y="0"/>
          <a:chExt cx="0" cy="0"/>
        </a:xfrm>
      </p:grpSpPr>
      <p:sp>
        <p:nvSpPr>
          <p:cNvPr id="7" name="Rectangle 6"/>
          <p:cNvSpPr/>
          <p:nvPr userDrawn="1"/>
        </p:nvSpPr>
        <p:spPr>
          <a:xfrm>
            <a:off x="0" y="6228863"/>
            <a:ext cx="12192000" cy="6201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838200" y="1579419"/>
            <a:ext cx="10515600" cy="43620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4038600" y="6461729"/>
            <a:ext cx="7315200" cy="190307"/>
          </a:xfrm>
        </p:spPr>
        <p:txBody>
          <a:bodyPr rIns="0"/>
          <a:lstStyle>
            <a:lvl1pPr>
              <a:defRPr>
                <a:solidFill>
                  <a:schemeClr val="bg1"/>
                </a:solidFill>
              </a:defRPr>
            </a:lvl1pPr>
          </a:lstStyle>
          <a:p>
            <a:r>
              <a:rPr lang="en-US" dirty="0"/>
              <a:t>CSSC @ </a:t>
            </a:r>
            <a:r>
              <a:rPr lang="en-US" dirty="0" err="1"/>
              <a:t>UTDallas</a:t>
            </a:r>
            <a:endParaRPr lang="en-US" dirty="0"/>
          </a:p>
        </p:txBody>
      </p:sp>
      <p:sp>
        <p:nvSpPr>
          <p:cNvPr id="6" name="Slide Number Placeholder 5"/>
          <p:cNvSpPr>
            <a:spLocks noGrp="1"/>
          </p:cNvSpPr>
          <p:nvPr>
            <p:ph type="sldNum" sz="quarter" idx="12"/>
          </p:nvPr>
        </p:nvSpPr>
        <p:spPr>
          <a:xfrm>
            <a:off x="11353800" y="6464043"/>
            <a:ext cx="358140" cy="190307"/>
          </a:xfrm>
        </p:spPr>
        <p:txBody>
          <a:bodyPr/>
          <a:lstStyle>
            <a:lvl1pPr>
              <a:defRPr>
                <a:solidFill>
                  <a:schemeClr val="bg1"/>
                </a:solidFill>
              </a:defRPr>
            </a:lvl1pPr>
          </a:lstStyle>
          <a:p>
            <a:fld id="{C68DACDF-E1A9-A04C-A5FF-FC2443684BF5}" type="slidenum">
              <a:rPr lang="en-US" smtClean="0"/>
              <a:pPr/>
              <a:t>‹#›</a:t>
            </a:fld>
            <a:endParaRPr lang="en-US" dirty="0"/>
          </a:p>
        </p:txBody>
      </p:sp>
      <p:cxnSp>
        <p:nvCxnSpPr>
          <p:cNvPr id="8" name="Straight Connector 7"/>
          <p:cNvCxnSpPr/>
          <p:nvPr userDrawn="1"/>
        </p:nvCxnSpPr>
        <p:spPr>
          <a:xfrm>
            <a:off x="0" y="6138438"/>
            <a:ext cx="12192000"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9225" y="6228863"/>
            <a:ext cx="3432175" cy="600320"/>
          </a:xfrm>
          <a:prstGeom prst="rect">
            <a:avLst/>
          </a:prstGeom>
        </p:spPr>
      </p:pic>
    </p:spTree>
    <p:extLst>
      <p:ext uri="{BB962C8B-B14F-4D97-AF65-F5344CB8AC3E}">
        <p14:creationId xmlns:p14="http://schemas.microsoft.com/office/powerpoint/2010/main" val="1065862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ircle Foot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774E77A-F3AF-2642-9310-AD4C753862B7}"/>
              </a:ext>
            </a:extLst>
          </p:cNvPr>
          <p:cNvSpPr/>
          <p:nvPr userDrawn="1"/>
        </p:nvSpPr>
        <p:spPr>
          <a:xfrm>
            <a:off x="0" y="6228863"/>
            <a:ext cx="12192000" cy="6201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endParaRPr>
          </a:p>
        </p:txBody>
      </p:sp>
      <p:cxnSp>
        <p:nvCxnSpPr>
          <p:cNvPr id="10" name="Straight Connector 9">
            <a:extLst>
              <a:ext uri="{FF2B5EF4-FFF2-40B4-BE49-F238E27FC236}">
                <a16:creationId xmlns:a16="http://schemas.microsoft.com/office/drawing/2014/main" id="{11B1F3F2-2AC7-B443-8B2E-4E2C0AEEA1A6}"/>
              </a:ext>
            </a:extLst>
          </p:cNvPr>
          <p:cNvCxnSpPr/>
          <p:nvPr userDrawn="1"/>
        </p:nvCxnSpPr>
        <p:spPr>
          <a:xfrm>
            <a:off x="0" y="6138438"/>
            <a:ext cx="12192000"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a:xfrm>
            <a:off x="4038600" y="6461729"/>
            <a:ext cx="7315200" cy="190307"/>
          </a:xfrm>
        </p:spPr>
        <p:txBody>
          <a:bodyPr rIns="0"/>
          <a:lstStyle>
            <a:lvl1pPr>
              <a:defRPr>
                <a:solidFill>
                  <a:schemeClr val="bg1"/>
                </a:solidFill>
              </a:defRPr>
            </a:lvl1pPr>
          </a:lstStyle>
          <a:p>
            <a:r>
              <a:rPr lang="en-US" dirty="0"/>
              <a:t>CSSC @ </a:t>
            </a:r>
            <a:r>
              <a:rPr lang="en-US" dirty="0" err="1"/>
              <a:t>UTDallas</a:t>
            </a:r>
            <a:endParaRPr lang="en-US" dirty="0"/>
          </a:p>
        </p:txBody>
      </p:sp>
      <p:sp>
        <p:nvSpPr>
          <p:cNvPr id="5" name="Slide Number Placeholder 4"/>
          <p:cNvSpPr>
            <a:spLocks noGrp="1"/>
          </p:cNvSpPr>
          <p:nvPr>
            <p:ph type="sldNum" sz="quarter" idx="12"/>
          </p:nvPr>
        </p:nvSpPr>
        <p:spPr>
          <a:xfrm>
            <a:off x="11353800" y="6461729"/>
            <a:ext cx="356616" cy="190307"/>
          </a:xfrm>
        </p:spPr>
        <p:txBody>
          <a:bodyPr/>
          <a:lstStyle>
            <a:lvl1pPr>
              <a:defRPr>
                <a:solidFill>
                  <a:schemeClr val="bg1"/>
                </a:solidFill>
              </a:defRPr>
            </a:lvl1pPr>
          </a:lstStyle>
          <a:p>
            <a:fld id="{C68DACDF-E1A9-A04C-A5FF-FC2443684BF5}" type="slidenum">
              <a:rPr lang="en-US" smtClean="0"/>
              <a:pPr/>
              <a:t>‹#›</a:t>
            </a:fld>
            <a:endParaRPr lang="en-US" dirty="0"/>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93552" y="6303180"/>
            <a:ext cx="471466" cy="471466"/>
          </a:xfrm>
          <a:prstGeom prst="rect">
            <a:avLst/>
          </a:prstGeom>
        </p:spPr>
      </p:pic>
      <p:sp>
        <p:nvSpPr>
          <p:cNvPr id="12" name="Content Placeholder 11">
            <a:extLst>
              <a:ext uri="{FF2B5EF4-FFF2-40B4-BE49-F238E27FC236}">
                <a16:creationId xmlns:a16="http://schemas.microsoft.com/office/drawing/2014/main" id="{2864F1B8-AFCD-9B4D-A310-FC0F8BAA1D91}"/>
              </a:ext>
            </a:extLst>
          </p:cNvPr>
          <p:cNvSpPr>
            <a:spLocks noGrp="1"/>
          </p:cNvSpPr>
          <p:nvPr>
            <p:ph sz="quarter" idx="13"/>
          </p:nvPr>
        </p:nvSpPr>
        <p:spPr>
          <a:xfrm>
            <a:off x="838200" y="1565566"/>
            <a:ext cx="10515600" cy="42113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134563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lvl1pPr>
              <a:defRPr>
                <a:solidFill>
                  <a:schemeClr val="bg2">
                    <a:lumMod val="75000"/>
                  </a:schemeClr>
                </a:solidFill>
              </a:defRPr>
            </a:lvl1pPr>
          </a:lstStyle>
          <a:p>
            <a:r>
              <a:rPr lang="en-US" dirty="0"/>
              <a:t>CSSC @ </a:t>
            </a:r>
            <a:r>
              <a:rPr lang="en-US" dirty="0" err="1"/>
              <a:t>UTDallas</a:t>
            </a:r>
            <a:endParaRPr lang="en-US" dirty="0"/>
          </a:p>
        </p:txBody>
      </p:sp>
      <p:sp>
        <p:nvSpPr>
          <p:cNvPr id="4" name="Slide Number Placeholder 3"/>
          <p:cNvSpPr>
            <a:spLocks noGrp="1"/>
          </p:cNvSpPr>
          <p:nvPr>
            <p:ph type="sldNum" sz="quarter" idx="12"/>
          </p:nvPr>
        </p:nvSpPr>
        <p:spPr/>
        <p:txBody>
          <a:bodyPr/>
          <a:lstStyle>
            <a:lvl1pPr>
              <a:defRPr>
                <a:solidFill>
                  <a:schemeClr val="bg2">
                    <a:lumMod val="75000"/>
                  </a:schemeClr>
                </a:solidFill>
              </a:defRPr>
            </a:lvl1pPr>
          </a:lstStyle>
          <a:p>
            <a:fld id="{C68DACDF-E1A9-A04C-A5FF-FC2443684BF5}"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247914"/>
            <a:ext cx="10515600" cy="115757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579418"/>
            <a:ext cx="10515600" cy="459754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4038600" y="6461729"/>
            <a:ext cx="7315200" cy="190307"/>
          </a:xfrm>
          <a:prstGeom prst="rect">
            <a:avLst/>
          </a:prstGeom>
        </p:spPr>
        <p:txBody>
          <a:bodyPr vert="horz" lIns="91440" tIns="45720" rIns="0" bIns="45720" rtlCol="0" anchor="ctr"/>
          <a:lstStyle>
            <a:lvl1pPr algn="r">
              <a:defRPr sz="900">
                <a:solidFill>
                  <a:schemeClr val="bg2">
                    <a:lumMod val="90000"/>
                  </a:schemeClr>
                </a:solidFill>
              </a:defRPr>
            </a:lvl1pPr>
          </a:lstStyle>
          <a:p>
            <a:r>
              <a:rPr lang="en-US" dirty="0"/>
              <a:t>CSSC @ </a:t>
            </a:r>
            <a:r>
              <a:rPr lang="en-US" dirty="0" err="1"/>
              <a:t>UTDallas</a:t>
            </a:r>
            <a:endParaRPr lang="en-US" dirty="0"/>
          </a:p>
        </p:txBody>
      </p:sp>
      <p:sp>
        <p:nvSpPr>
          <p:cNvPr id="6" name="Slide Number Placeholder 5"/>
          <p:cNvSpPr>
            <a:spLocks noGrp="1"/>
          </p:cNvSpPr>
          <p:nvPr>
            <p:ph type="sldNum" sz="quarter" idx="4"/>
          </p:nvPr>
        </p:nvSpPr>
        <p:spPr>
          <a:xfrm>
            <a:off x="11353800" y="6461729"/>
            <a:ext cx="356616" cy="190307"/>
          </a:xfrm>
          <a:prstGeom prst="rect">
            <a:avLst/>
          </a:prstGeom>
        </p:spPr>
        <p:txBody>
          <a:bodyPr vert="horz" lIns="91440" tIns="45720" rIns="91440" bIns="45720" rtlCol="0" anchor="ctr"/>
          <a:lstStyle>
            <a:lvl1pPr algn="r">
              <a:defRPr sz="900">
                <a:solidFill>
                  <a:schemeClr val="bg2">
                    <a:lumMod val="90000"/>
                  </a:schemeClr>
                </a:solidFill>
              </a:defRPr>
            </a:lvl1pPr>
          </a:lstStyle>
          <a:p>
            <a:fld id="{C68DACDF-E1A9-A04C-A5FF-FC2443684BF5}" type="slidenum">
              <a:rPr lang="en-US" smtClean="0"/>
              <a:pPr/>
              <a:t>‹#›</a:t>
            </a:fld>
            <a:endParaRPr lang="en-US" dirty="0"/>
          </a:p>
        </p:txBody>
      </p:sp>
    </p:spTree>
    <p:extLst>
      <p:ext uri="{BB962C8B-B14F-4D97-AF65-F5344CB8AC3E}">
        <p14:creationId xmlns:p14="http://schemas.microsoft.com/office/powerpoint/2010/main" val="2624593944"/>
      </p:ext>
    </p:extLst>
  </p:cSld>
  <p:clrMap bg1="lt1" tx1="dk1" bg2="lt2" tx2="dk2" accent1="accent1" accent2="accent2" accent3="accent3" accent4="accent4" accent5="accent5" accent6="accent6" hlink="hlink" folHlink="folHlink"/>
  <p:sldLayoutIdLst>
    <p:sldLayoutId id="2147483661" r:id="rId1"/>
    <p:sldLayoutId id="2147483671" r:id="rId2"/>
    <p:sldLayoutId id="2147483672" r:id="rId3"/>
    <p:sldLayoutId id="2147483673" r:id="rId4"/>
    <p:sldLayoutId id="2147483662" r:id="rId5"/>
    <p:sldLayoutId id="2147483666" r:id="rId6"/>
    <p:sldLayoutId id="2147483670" r:id="rId7"/>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0" indent="0" algn="l" defTabSz="685800" rtl="0" eaLnBrk="1" latinLnBrk="0" hangingPunct="1">
        <a:lnSpc>
          <a:spcPct val="90000"/>
        </a:lnSpc>
        <a:spcBef>
          <a:spcPts val="750"/>
        </a:spcBef>
        <a:buFont typeface="Arial" panose="020B0604020202020204" pitchFamily="34" charset="0"/>
        <a:buNone/>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jonaswagner2826/DSC_SysID_Workshop" TargetMode="External"/><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hyperlink" Target="https://en.wikipedia.org/wiki/Ziegler%E2%80%93Nichols_method" TargetMode="External"/><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5.xml"/><Relationship Id="rId5" Type="http://schemas.openxmlformats.org/officeDocument/2006/relationships/image" Target="../media/image17.emf"/><Relationship Id="rId4" Type="http://schemas.openxmlformats.org/officeDocument/2006/relationships/image" Target="../media/image16.emf"/></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0.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5E25C-74E3-D45C-B8EB-36400FC716BA}"/>
              </a:ext>
            </a:extLst>
          </p:cNvPr>
          <p:cNvSpPr>
            <a:spLocks noGrp="1"/>
          </p:cNvSpPr>
          <p:nvPr>
            <p:ph type="title"/>
          </p:nvPr>
        </p:nvSpPr>
        <p:spPr>
          <a:xfrm>
            <a:off x="1757795" y="1435194"/>
            <a:ext cx="8676409" cy="1157575"/>
          </a:xfrm>
        </p:spPr>
        <p:txBody>
          <a:bodyPr>
            <a:normAutofit/>
          </a:bodyPr>
          <a:lstStyle/>
          <a:p>
            <a:pPr algn="ctr"/>
            <a:r>
              <a:rPr lang="en-US" sz="5400" dirty="0"/>
              <a:t>The PID Workshop</a:t>
            </a:r>
            <a:endParaRPr lang="en-US" sz="5400" dirty="0">
              <a:cs typeface="Arial"/>
            </a:endParaRPr>
          </a:p>
        </p:txBody>
      </p:sp>
      <p:sp>
        <p:nvSpPr>
          <p:cNvPr id="4" name="Footer Placeholder 3">
            <a:extLst>
              <a:ext uri="{FF2B5EF4-FFF2-40B4-BE49-F238E27FC236}">
                <a16:creationId xmlns:a16="http://schemas.microsoft.com/office/drawing/2014/main" id="{14B92E38-A9A1-5914-4EA8-C8E722B09C0F}"/>
              </a:ext>
            </a:extLst>
          </p:cNvPr>
          <p:cNvSpPr>
            <a:spLocks noGrp="1"/>
          </p:cNvSpPr>
          <p:nvPr>
            <p:ph type="ftr" sz="quarter" idx="11"/>
          </p:nvPr>
        </p:nvSpPr>
        <p:spPr/>
        <p:txBody>
          <a:bodyPr/>
          <a:lstStyle/>
          <a:p>
            <a:r>
              <a:rPr lang="en-US" dirty="0"/>
              <a:t>CSSC @ </a:t>
            </a:r>
            <a:r>
              <a:rPr lang="en-US" dirty="0" err="1"/>
              <a:t>UTDallas</a:t>
            </a:r>
            <a:endParaRPr lang="en-US" dirty="0"/>
          </a:p>
        </p:txBody>
      </p:sp>
      <p:sp>
        <p:nvSpPr>
          <p:cNvPr id="5" name="Slide Number Placeholder 4">
            <a:extLst>
              <a:ext uri="{FF2B5EF4-FFF2-40B4-BE49-F238E27FC236}">
                <a16:creationId xmlns:a16="http://schemas.microsoft.com/office/drawing/2014/main" id="{9C56DE3A-2BE6-2FAF-B5C6-596DBCD2EA86}"/>
              </a:ext>
            </a:extLst>
          </p:cNvPr>
          <p:cNvSpPr>
            <a:spLocks noGrp="1"/>
          </p:cNvSpPr>
          <p:nvPr>
            <p:ph type="sldNum" sz="quarter" idx="12"/>
          </p:nvPr>
        </p:nvSpPr>
        <p:spPr/>
        <p:txBody>
          <a:bodyPr/>
          <a:lstStyle/>
          <a:p>
            <a:fld id="{C68DACDF-E1A9-A04C-A5FF-FC2443684BF5}" type="slidenum">
              <a:rPr lang="en-US" smtClean="0"/>
              <a:pPr/>
              <a:t>1</a:t>
            </a:fld>
            <a:endParaRPr lang="en-US" dirty="0"/>
          </a:p>
        </p:txBody>
      </p:sp>
      <p:sp>
        <p:nvSpPr>
          <p:cNvPr id="8" name="TextBox 7">
            <a:extLst>
              <a:ext uri="{FF2B5EF4-FFF2-40B4-BE49-F238E27FC236}">
                <a16:creationId xmlns:a16="http://schemas.microsoft.com/office/drawing/2014/main" id="{E42CE782-CE9E-528D-1E97-1D0C8C6EB6DB}"/>
              </a:ext>
            </a:extLst>
          </p:cNvPr>
          <p:cNvSpPr txBox="1"/>
          <p:nvPr/>
        </p:nvSpPr>
        <p:spPr>
          <a:xfrm>
            <a:off x="1600200" y="3023755"/>
            <a:ext cx="8676409" cy="954107"/>
          </a:xfrm>
          <a:prstGeom prst="rect">
            <a:avLst/>
          </a:prstGeom>
          <a:noFill/>
        </p:spPr>
        <p:txBody>
          <a:bodyPr wrap="square" lIns="91440" tIns="45720" rIns="91440" bIns="45720" rtlCol="0" anchor="t">
            <a:spAutoFit/>
          </a:bodyPr>
          <a:lstStyle/>
          <a:p>
            <a:pPr algn="ctr"/>
            <a:r>
              <a:rPr lang="en-US" sz="2800" dirty="0"/>
              <a:t>Juned Shaikh, Reillan Sawyer and</a:t>
            </a:r>
          </a:p>
          <a:p>
            <a:pPr algn="ctr"/>
            <a:r>
              <a:rPr lang="en-US" sz="2800" dirty="0">
                <a:cs typeface="Arial"/>
              </a:rPr>
              <a:t>Muhammad Usama Zubair</a:t>
            </a:r>
          </a:p>
        </p:txBody>
      </p:sp>
      <p:sp>
        <p:nvSpPr>
          <p:cNvPr id="7" name="Title 1">
            <a:extLst>
              <a:ext uri="{FF2B5EF4-FFF2-40B4-BE49-F238E27FC236}">
                <a16:creationId xmlns:a16="http://schemas.microsoft.com/office/drawing/2014/main" id="{421AE892-3AF3-B16A-363D-FDB59B3460D6}"/>
              </a:ext>
            </a:extLst>
          </p:cNvPr>
          <p:cNvSpPr txBox="1">
            <a:spLocks/>
          </p:cNvSpPr>
          <p:nvPr/>
        </p:nvSpPr>
        <p:spPr>
          <a:xfrm>
            <a:off x="838200" y="478885"/>
            <a:ext cx="10515600" cy="73043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2800" dirty="0"/>
              <a:t>CSSC at UT Dallas</a:t>
            </a:r>
          </a:p>
        </p:txBody>
      </p:sp>
    </p:spTree>
    <p:extLst>
      <p:ext uri="{BB962C8B-B14F-4D97-AF65-F5344CB8AC3E}">
        <p14:creationId xmlns:p14="http://schemas.microsoft.com/office/powerpoint/2010/main" val="33326227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4CE8F-8547-855D-FBFE-35ED0454BFE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505D441E-ABCA-396F-FF79-492B3631F3B4}"/>
              </a:ext>
            </a:extLst>
          </p:cNvPr>
          <p:cNvSpPr>
            <a:spLocks noGrp="1"/>
          </p:cNvSpPr>
          <p:nvPr>
            <p:ph type="ftr" sz="quarter" idx="11"/>
          </p:nvPr>
        </p:nvSpPr>
        <p:spPr/>
        <p:txBody>
          <a:bodyPr/>
          <a:lstStyle/>
          <a:p>
            <a:r>
              <a:rPr lang="en-US" dirty="0"/>
              <a:t>CSSC @ </a:t>
            </a:r>
            <a:r>
              <a:rPr lang="en-US" dirty="0" err="1"/>
              <a:t>UTDallas</a:t>
            </a:r>
            <a:endParaRPr lang="en-US" dirty="0"/>
          </a:p>
        </p:txBody>
      </p:sp>
      <p:sp>
        <p:nvSpPr>
          <p:cNvPr id="5" name="Slide Number Placeholder 4">
            <a:extLst>
              <a:ext uri="{FF2B5EF4-FFF2-40B4-BE49-F238E27FC236}">
                <a16:creationId xmlns:a16="http://schemas.microsoft.com/office/drawing/2014/main" id="{78F72CA4-3292-C3D0-ECC4-21D7CAB56ABD}"/>
              </a:ext>
            </a:extLst>
          </p:cNvPr>
          <p:cNvSpPr>
            <a:spLocks noGrp="1"/>
          </p:cNvSpPr>
          <p:nvPr>
            <p:ph type="sldNum" sz="quarter" idx="12"/>
          </p:nvPr>
        </p:nvSpPr>
        <p:spPr/>
        <p:txBody>
          <a:bodyPr/>
          <a:lstStyle/>
          <a:p>
            <a:fld id="{C68DACDF-E1A9-A04C-A5FF-FC2443684BF5}" type="slidenum">
              <a:rPr lang="en-US" smtClean="0"/>
              <a:pPr/>
              <a:t>2</a:t>
            </a:fld>
            <a:endParaRPr lang="en-US" dirty="0"/>
          </a:p>
        </p:txBody>
      </p:sp>
      <p:sp>
        <p:nvSpPr>
          <p:cNvPr id="3" name="Title 1">
            <a:extLst>
              <a:ext uri="{FF2B5EF4-FFF2-40B4-BE49-F238E27FC236}">
                <a16:creationId xmlns:a16="http://schemas.microsoft.com/office/drawing/2014/main" id="{1EEF2089-2E2B-7AA9-B542-19F24CB99805}"/>
              </a:ext>
            </a:extLst>
          </p:cNvPr>
          <p:cNvSpPr>
            <a:spLocks noGrp="1"/>
          </p:cNvSpPr>
          <p:nvPr>
            <p:ph type="title"/>
          </p:nvPr>
        </p:nvSpPr>
        <p:spPr>
          <a:xfrm>
            <a:off x="838200" y="247914"/>
            <a:ext cx="10515600" cy="1157575"/>
          </a:xfrm>
        </p:spPr>
        <p:txBody>
          <a:bodyPr>
            <a:normAutofit/>
          </a:bodyPr>
          <a:lstStyle/>
          <a:p>
            <a:r>
              <a:rPr lang="en-US" sz="4000" dirty="0"/>
              <a:t>The PID Workshop</a:t>
            </a:r>
            <a:endParaRPr lang="en-US" sz="4000" dirty="0">
              <a:cs typeface="Arial"/>
            </a:endParaRPr>
          </a:p>
        </p:txBody>
      </p:sp>
      <p:sp>
        <p:nvSpPr>
          <p:cNvPr id="7" name="Content Placeholder 2">
            <a:extLst>
              <a:ext uri="{FF2B5EF4-FFF2-40B4-BE49-F238E27FC236}">
                <a16:creationId xmlns:a16="http://schemas.microsoft.com/office/drawing/2014/main" id="{DE04B041-D11F-C865-7C88-19739B42EA1D}"/>
              </a:ext>
            </a:extLst>
          </p:cNvPr>
          <p:cNvSpPr>
            <a:spLocks noGrp="1"/>
          </p:cNvSpPr>
          <p:nvPr>
            <p:ph idx="1"/>
          </p:nvPr>
        </p:nvSpPr>
        <p:spPr>
          <a:xfrm>
            <a:off x="838200" y="1579419"/>
            <a:ext cx="10515600" cy="4362092"/>
          </a:xfrm>
        </p:spPr>
        <p:txBody>
          <a:bodyPr vert="horz" lIns="91440" tIns="45720" rIns="91440" bIns="45720" rtlCol="0" anchor="t">
            <a:normAutofit/>
          </a:bodyPr>
          <a:lstStyle/>
          <a:p>
            <a:pPr marL="342900" indent="-342900">
              <a:buFont typeface="Arial" panose="020B0604020202020204" pitchFamily="34" charset="0"/>
              <a:buChar char="•"/>
            </a:pPr>
            <a:r>
              <a:rPr lang="en-US" sz="2800" dirty="0"/>
              <a:t>Intro to PID</a:t>
            </a:r>
            <a:endParaRPr lang="en-US" sz="2800">
              <a:cs typeface="Arial"/>
            </a:endParaRPr>
          </a:p>
          <a:p>
            <a:pPr marL="342900" indent="-342900">
              <a:buFont typeface="Arial" panose="020B0604020202020204" pitchFamily="34" charset="0"/>
              <a:buChar char="•"/>
            </a:pPr>
            <a:r>
              <a:rPr lang="en-US" sz="2800" dirty="0"/>
              <a:t>Manual tuning</a:t>
            </a:r>
            <a:endParaRPr lang="en-US" sz="2800">
              <a:cs typeface="Arial"/>
            </a:endParaRPr>
          </a:p>
          <a:p>
            <a:pPr marL="342900" indent="-342900">
              <a:buFont typeface="Arial" panose="020B0604020202020204" pitchFamily="34" charset="0"/>
              <a:buChar char="•"/>
            </a:pPr>
            <a:r>
              <a:rPr lang="en-US" sz="2800" dirty="0"/>
              <a:t>Problems with the D</a:t>
            </a:r>
            <a:endParaRPr lang="en-US" sz="2800">
              <a:cs typeface="Arial"/>
            </a:endParaRPr>
          </a:p>
          <a:p>
            <a:pPr marL="342900" indent="-342900">
              <a:buFont typeface="Arial" panose="020B0604020202020204" pitchFamily="34" charset="0"/>
              <a:buChar char="•"/>
            </a:pPr>
            <a:r>
              <a:rPr lang="en-US" sz="2800" dirty="0"/>
              <a:t>Integral Anti-windup</a:t>
            </a:r>
            <a:endParaRPr lang="en-US" sz="2800" dirty="0">
              <a:cs typeface="Arial"/>
            </a:endParaRPr>
          </a:p>
          <a:p>
            <a:pPr marL="342900" indent="-342900">
              <a:buFont typeface="Arial" panose="020B0604020202020204" pitchFamily="34" charset="0"/>
              <a:buChar char="•"/>
            </a:pPr>
            <a:r>
              <a:rPr lang="en-US" sz="2800" dirty="0"/>
              <a:t>Ziegler-Nichols (ZN) tuning</a:t>
            </a:r>
            <a:endParaRPr lang="en-US" sz="2800">
              <a:cs typeface="Arial"/>
            </a:endParaRPr>
          </a:p>
          <a:p>
            <a:pPr marL="342900" indent="-342900">
              <a:buFont typeface="Arial" panose="020B0604020202020204" pitchFamily="34" charset="0"/>
              <a:buChar char="•"/>
            </a:pPr>
            <a:r>
              <a:rPr lang="en-US" sz="2800" dirty="0"/>
              <a:t>Gain Scheduling</a:t>
            </a:r>
            <a:endParaRPr lang="en-US" sz="2800">
              <a:cs typeface="Arial"/>
            </a:endParaRPr>
          </a:p>
        </p:txBody>
      </p:sp>
      <p:sp>
        <p:nvSpPr>
          <p:cNvPr id="6" name="Rectangle 5">
            <a:extLst>
              <a:ext uri="{FF2B5EF4-FFF2-40B4-BE49-F238E27FC236}">
                <a16:creationId xmlns:a16="http://schemas.microsoft.com/office/drawing/2014/main" id="{A3588105-8D0B-554C-8FD5-802C2115F0AF}"/>
              </a:ext>
            </a:extLst>
          </p:cNvPr>
          <p:cNvSpPr/>
          <p:nvPr/>
        </p:nvSpPr>
        <p:spPr>
          <a:xfrm>
            <a:off x="4036594" y="5254290"/>
            <a:ext cx="7800473" cy="688306"/>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baseline="0">
                <a:latin typeface="Arial"/>
              </a:rPr>
              <a:t>Link: </a:t>
            </a:r>
            <a:r>
              <a:rPr lang="en-US" sz="1800" b="1" u="sng" strike="noStrike" baseline="0">
                <a:solidFill>
                  <a:srgbClr val="181717"/>
                </a:solidFill>
                <a:latin typeface="Arial"/>
                <a:ea typeface="Segoe UI"/>
                <a:cs typeface="Segoe UI"/>
                <a:hlinkClick r:id="rId3">
                  <a:extLst>
                    <a:ext uri="{A12FA001-AC4F-418D-AE19-62706E023703}">
                      <ahyp:hlinkClr xmlns:ahyp="http://schemas.microsoft.com/office/drawing/2018/hyperlinkcolor" val="tx"/>
                    </a:ext>
                  </a:extLst>
                </a:hlinkClick>
              </a:rPr>
              <a:t>https://github.com/jonaswagner2826/DSC_SysID_Workshop</a:t>
            </a:r>
            <a:endParaRPr lang="en-US"/>
          </a:p>
        </p:txBody>
      </p:sp>
    </p:spTree>
    <p:extLst>
      <p:ext uri="{BB962C8B-B14F-4D97-AF65-F5344CB8AC3E}">
        <p14:creationId xmlns:p14="http://schemas.microsoft.com/office/powerpoint/2010/main" val="25270562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674BA-6E7D-737B-E502-972C6F128F8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6D06D3E-D263-ABA2-00B5-242994C04A04}"/>
              </a:ext>
            </a:extLst>
          </p:cNvPr>
          <p:cNvSpPr>
            <a:spLocks noGrp="1"/>
          </p:cNvSpPr>
          <p:nvPr>
            <p:ph type="ftr" sz="quarter" idx="11"/>
          </p:nvPr>
        </p:nvSpPr>
        <p:spPr/>
        <p:txBody>
          <a:bodyPr/>
          <a:lstStyle/>
          <a:p>
            <a:r>
              <a:rPr lang="en-US" dirty="0"/>
              <a:t>CSSC @ </a:t>
            </a:r>
            <a:r>
              <a:rPr lang="en-US" dirty="0" err="1"/>
              <a:t>UTDallas</a:t>
            </a:r>
            <a:endParaRPr lang="en-US" dirty="0"/>
          </a:p>
        </p:txBody>
      </p:sp>
      <p:sp>
        <p:nvSpPr>
          <p:cNvPr id="5" name="Slide Number Placeholder 4">
            <a:extLst>
              <a:ext uri="{FF2B5EF4-FFF2-40B4-BE49-F238E27FC236}">
                <a16:creationId xmlns:a16="http://schemas.microsoft.com/office/drawing/2014/main" id="{F12390CA-3689-B01A-1923-93D0AC8A1D04}"/>
              </a:ext>
            </a:extLst>
          </p:cNvPr>
          <p:cNvSpPr>
            <a:spLocks noGrp="1"/>
          </p:cNvSpPr>
          <p:nvPr>
            <p:ph type="sldNum" sz="quarter" idx="12"/>
          </p:nvPr>
        </p:nvSpPr>
        <p:spPr/>
        <p:txBody>
          <a:bodyPr/>
          <a:lstStyle/>
          <a:p>
            <a:fld id="{C68DACDF-E1A9-A04C-A5FF-FC2443684BF5}" type="slidenum">
              <a:rPr lang="en-US" smtClean="0"/>
              <a:pPr/>
              <a:t>3</a:t>
            </a:fld>
            <a:endParaRPr lang="en-US" dirty="0"/>
          </a:p>
        </p:txBody>
      </p:sp>
      <p:sp>
        <p:nvSpPr>
          <p:cNvPr id="3" name="Title 1">
            <a:extLst>
              <a:ext uri="{FF2B5EF4-FFF2-40B4-BE49-F238E27FC236}">
                <a16:creationId xmlns:a16="http://schemas.microsoft.com/office/drawing/2014/main" id="{1F8D1738-0F98-7E1F-0E42-F70AB309CC63}"/>
              </a:ext>
            </a:extLst>
          </p:cNvPr>
          <p:cNvSpPr>
            <a:spLocks noGrp="1"/>
          </p:cNvSpPr>
          <p:nvPr>
            <p:ph type="title"/>
          </p:nvPr>
        </p:nvSpPr>
        <p:spPr>
          <a:xfrm>
            <a:off x="838200" y="247914"/>
            <a:ext cx="10515600" cy="1157575"/>
          </a:xfrm>
        </p:spPr>
        <p:txBody>
          <a:bodyPr>
            <a:normAutofit/>
          </a:bodyPr>
          <a:lstStyle/>
          <a:p>
            <a:r>
              <a:rPr lang="en-US" sz="4000" dirty="0"/>
              <a:t>Intro to PID</a:t>
            </a:r>
            <a:endParaRPr lang="en-US" sz="4000" dirty="0">
              <a:cs typeface="Arial"/>
            </a:endParaRPr>
          </a:p>
        </p:txBody>
      </p:sp>
      <p:pic>
        <p:nvPicPr>
          <p:cNvPr id="2" name="Content Placeholder 1" descr="A diagram of a mathematical equation&#10;&#10;AI-generated content may be incorrect.">
            <a:extLst>
              <a:ext uri="{FF2B5EF4-FFF2-40B4-BE49-F238E27FC236}">
                <a16:creationId xmlns:a16="http://schemas.microsoft.com/office/drawing/2014/main" id="{107BC1D6-24E7-99E1-DB84-D666CBDC07FE}"/>
              </a:ext>
            </a:extLst>
          </p:cNvPr>
          <p:cNvPicPr>
            <a:picLocks noGrp="1" noChangeAspect="1"/>
          </p:cNvPicPr>
          <p:nvPr>
            <p:ph idx="1"/>
          </p:nvPr>
        </p:nvPicPr>
        <p:blipFill>
          <a:blip r:embed="rId3"/>
          <a:stretch>
            <a:fillRect/>
          </a:stretch>
        </p:blipFill>
        <p:spPr>
          <a:xfrm>
            <a:off x="676275" y="1412552"/>
            <a:ext cx="11039475" cy="4600575"/>
          </a:xfrm>
          <a:prstGeom prst="rect">
            <a:avLst/>
          </a:prstGeom>
        </p:spPr>
      </p:pic>
    </p:spTree>
    <p:extLst>
      <p:ext uri="{BB962C8B-B14F-4D97-AF65-F5344CB8AC3E}">
        <p14:creationId xmlns:p14="http://schemas.microsoft.com/office/powerpoint/2010/main" val="363167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E98AA-9081-BADE-C318-31C85AB2B97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83F00FD6-3049-9288-F44A-2FFAF98E3238}"/>
              </a:ext>
            </a:extLst>
          </p:cNvPr>
          <p:cNvSpPr>
            <a:spLocks noGrp="1"/>
          </p:cNvSpPr>
          <p:nvPr>
            <p:ph type="ftr" sz="quarter" idx="11"/>
          </p:nvPr>
        </p:nvSpPr>
        <p:spPr/>
        <p:txBody>
          <a:bodyPr/>
          <a:lstStyle/>
          <a:p>
            <a:r>
              <a:rPr lang="en-US" dirty="0"/>
              <a:t>CSSC @ </a:t>
            </a:r>
            <a:r>
              <a:rPr lang="en-US" dirty="0" err="1"/>
              <a:t>UTDallas</a:t>
            </a:r>
            <a:endParaRPr lang="en-US" dirty="0"/>
          </a:p>
        </p:txBody>
      </p:sp>
      <p:sp>
        <p:nvSpPr>
          <p:cNvPr id="5" name="Slide Number Placeholder 4">
            <a:extLst>
              <a:ext uri="{FF2B5EF4-FFF2-40B4-BE49-F238E27FC236}">
                <a16:creationId xmlns:a16="http://schemas.microsoft.com/office/drawing/2014/main" id="{AF17FC8B-0A04-3417-CD30-DAE4F6B587A5}"/>
              </a:ext>
            </a:extLst>
          </p:cNvPr>
          <p:cNvSpPr>
            <a:spLocks noGrp="1"/>
          </p:cNvSpPr>
          <p:nvPr>
            <p:ph type="sldNum" sz="quarter" idx="12"/>
          </p:nvPr>
        </p:nvSpPr>
        <p:spPr/>
        <p:txBody>
          <a:bodyPr/>
          <a:lstStyle/>
          <a:p>
            <a:fld id="{C68DACDF-E1A9-A04C-A5FF-FC2443684BF5}" type="slidenum">
              <a:rPr lang="en-US" smtClean="0"/>
              <a:pPr/>
              <a:t>4</a:t>
            </a:fld>
            <a:endParaRPr lang="en-US" dirty="0"/>
          </a:p>
        </p:txBody>
      </p:sp>
      <p:sp>
        <p:nvSpPr>
          <p:cNvPr id="3" name="Title 1">
            <a:extLst>
              <a:ext uri="{FF2B5EF4-FFF2-40B4-BE49-F238E27FC236}">
                <a16:creationId xmlns:a16="http://schemas.microsoft.com/office/drawing/2014/main" id="{1771B510-3F0F-69D9-D457-4C936DF19FBC}"/>
              </a:ext>
            </a:extLst>
          </p:cNvPr>
          <p:cNvSpPr>
            <a:spLocks noGrp="1"/>
          </p:cNvSpPr>
          <p:nvPr>
            <p:ph type="title"/>
          </p:nvPr>
        </p:nvSpPr>
        <p:spPr>
          <a:xfrm>
            <a:off x="838200" y="247914"/>
            <a:ext cx="10515600" cy="1157575"/>
          </a:xfrm>
        </p:spPr>
        <p:txBody>
          <a:bodyPr>
            <a:normAutofit/>
          </a:bodyPr>
          <a:lstStyle/>
          <a:p>
            <a:r>
              <a:rPr lang="en-US" sz="4000" dirty="0"/>
              <a:t>Intro to PID</a:t>
            </a:r>
            <a:endParaRPr lang="en-US" sz="4000" dirty="0">
              <a:cs typeface="Arial"/>
            </a:endParaRPr>
          </a:p>
        </p:txBody>
      </p:sp>
      <mc:AlternateContent xmlns:mc="http://schemas.openxmlformats.org/markup-compatibility/2006">
        <mc:Choice xmlns:a14="http://schemas.microsoft.com/office/drawing/2010/main" Requires="a14">
          <p:sp>
            <p:nvSpPr>
              <p:cNvPr id="7" name="Content Placeholder 2">
                <a:extLst>
                  <a:ext uri="{FF2B5EF4-FFF2-40B4-BE49-F238E27FC236}">
                    <a16:creationId xmlns:a16="http://schemas.microsoft.com/office/drawing/2014/main" id="{E90AA389-ABED-78CC-4C67-650D7039F5D2}"/>
                  </a:ext>
                </a:extLst>
              </p:cNvPr>
              <p:cNvSpPr>
                <a:spLocks noGrp="1"/>
              </p:cNvSpPr>
              <p:nvPr>
                <p:ph idx="1"/>
              </p:nvPr>
            </p:nvSpPr>
            <p:spPr>
              <a:xfrm>
                <a:off x="838200" y="1579419"/>
                <a:ext cx="10515600" cy="4362092"/>
              </a:xfrm>
            </p:spPr>
            <p:txBody>
              <a:bodyPr vert="horz" lIns="91440" tIns="45720" rIns="91440" bIns="45720" rtlCol="0" anchor="t">
                <a:normAutofit/>
              </a:bodyPr>
              <a:lstStyle/>
              <a:p>
                <a:pPr algn="ctr">
                  <a:lnSpc>
                    <a:spcPct val="100000"/>
                  </a:lnSpc>
                  <a:spcBef>
                    <a:spcPts val="0"/>
                  </a:spcBef>
                  <a:spcAft>
                    <a:spcPts val="1200"/>
                  </a:spcAft>
                </a:pPr>
                <a14:m>
                  <m:oMathPara xmlns:m="http://schemas.openxmlformats.org/officeDocument/2006/math">
                    <m:oMathParaPr>
                      <m:jc m:val="centerGroup"/>
                    </m:oMathParaPr>
                    <m:oMath xmlns:m="http://schemas.openxmlformats.org/officeDocument/2006/math">
                      <m:r>
                        <a:rPr lang="en-US" sz="2800" i="1" dirty="0" smtClean="0">
                          <a:solidFill>
                            <a:srgbClr val="282828"/>
                          </a:solidFill>
                          <a:latin typeface="Cambria Math" panose="02040503050406030204" pitchFamily="18" charset="0"/>
                          <a:ea typeface="Cambria Math"/>
                        </a:rPr>
                        <m:t>𝑒</m:t>
                      </m:r>
                      <m:r>
                        <a:rPr lang="en-US" sz="2800" i="1" dirty="0" smtClean="0">
                          <a:solidFill>
                            <a:srgbClr val="282828"/>
                          </a:solidFill>
                          <a:latin typeface="Cambria Math" panose="02040503050406030204" pitchFamily="18" charset="0"/>
                          <a:ea typeface="Cambria Math"/>
                        </a:rPr>
                        <m:t>(</m:t>
                      </m:r>
                      <m:r>
                        <a:rPr lang="en-US" sz="2800" i="1" dirty="0" smtClean="0">
                          <a:solidFill>
                            <a:srgbClr val="282828"/>
                          </a:solidFill>
                          <a:latin typeface="Cambria Math" panose="02040503050406030204" pitchFamily="18" charset="0"/>
                          <a:ea typeface="Cambria Math"/>
                        </a:rPr>
                        <m:t>𝑡</m:t>
                      </m:r>
                      <m:r>
                        <a:rPr lang="en-US" sz="2800" i="1" dirty="0" smtClean="0">
                          <a:solidFill>
                            <a:srgbClr val="282828"/>
                          </a:solidFill>
                          <a:latin typeface="Cambria Math" panose="02040503050406030204" pitchFamily="18" charset="0"/>
                          <a:ea typeface="Cambria Math"/>
                        </a:rPr>
                        <m:t>) = </m:t>
                      </m:r>
                      <m:r>
                        <a:rPr lang="en-US" sz="2800" i="1" dirty="0" smtClean="0">
                          <a:solidFill>
                            <a:srgbClr val="282828"/>
                          </a:solidFill>
                          <a:latin typeface="Cambria Math" panose="02040503050406030204" pitchFamily="18" charset="0"/>
                          <a:ea typeface="Cambria Math"/>
                        </a:rPr>
                        <m:t>𝑢</m:t>
                      </m:r>
                      <m:r>
                        <a:rPr lang="en-US" sz="2800" i="1" dirty="0" smtClean="0">
                          <a:solidFill>
                            <a:srgbClr val="282828"/>
                          </a:solidFill>
                          <a:latin typeface="Cambria Math" panose="02040503050406030204" pitchFamily="18" charset="0"/>
                          <a:ea typeface="Cambria Math"/>
                        </a:rPr>
                        <m:t>(</m:t>
                      </m:r>
                      <m:r>
                        <a:rPr lang="en-US" sz="2800" i="1" dirty="0" smtClean="0">
                          <a:solidFill>
                            <a:srgbClr val="282828"/>
                          </a:solidFill>
                          <a:latin typeface="Cambria Math" panose="02040503050406030204" pitchFamily="18" charset="0"/>
                          <a:ea typeface="Cambria Math"/>
                        </a:rPr>
                        <m:t>𝑡</m:t>
                      </m:r>
                      <m:r>
                        <a:rPr lang="en-US" sz="2800" i="1" dirty="0" smtClean="0">
                          <a:solidFill>
                            <a:srgbClr val="282828"/>
                          </a:solidFill>
                          <a:latin typeface="Cambria Math" panose="02040503050406030204" pitchFamily="18" charset="0"/>
                          <a:ea typeface="Cambria Math"/>
                        </a:rPr>
                        <m:t>) − </m:t>
                      </m:r>
                      <m:r>
                        <a:rPr lang="en-US" sz="2800" i="1" dirty="0" smtClean="0">
                          <a:solidFill>
                            <a:srgbClr val="282828"/>
                          </a:solidFill>
                          <a:latin typeface="Cambria Math" panose="02040503050406030204" pitchFamily="18" charset="0"/>
                          <a:ea typeface="Cambria Math"/>
                        </a:rPr>
                        <m:t>𝑦</m:t>
                      </m:r>
                      <m:r>
                        <a:rPr lang="en-US" sz="2800" i="1" dirty="0" smtClean="0">
                          <a:solidFill>
                            <a:srgbClr val="282828"/>
                          </a:solidFill>
                          <a:latin typeface="Cambria Math" panose="02040503050406030204" pitchFamily="18" charset="0"/>
                          <a:ea typeface="Cambria Math"/>
                        </a:rPr>
                        <m:t>(</m:t>
                      </m:r>
                      <m:r>
                        <a:rPr lang="en-US" sz="2800" i="1" dirty="0" smtClean="0">
                          <a:solidFill>
                            <a:srgbClr val="282828"/>
                          </a:solidFill>
                          <a:latin typeface="Cambria Math" panose="02040503050406030204" pitchFamily="18" charset="0"/>
                          <a:ea typeface="Cambria Math"/>
                        </a:rPr>
                        <m:t>𝑡</m:t>
                      </m:r>
                      <m:r>
                        <a:rPr lang="en-US" sz="2800" i="1" dirty="0" smtClean="0">
                          <a:solidFill>
                            <a:srgbClr val="282828"/>
                          </a:solidFill>
                          <a:latin typeface="Cambria Math" panose="02040503050406030204" pitchFamily="18" charset="0"/>
                          <a:ea typeface="Cambria Math"/>
                        </a:rPr>
                        <m:t>)</m:t>
                      </m:r>
                    </m:oMath>
                  </m:oMathPara>
                </a14:m>
                <a:endParaRPr lang="en-US" dirty="0"/>
              </a:p>
              <a:p>
                <a:pPr algn="ctr">
                  <a:lnSpc>
                    <a:spcPct val="100000"/>
                  </a:lnSpc>
                  <a:spcBef>
                    <a:spcPts val="0"/>
                  </a:spcBef>
                  <a:spcAft>
                    <a:spcPts val="1200"/>
                  </a:spcAft>
                </a:pPr>
                <a14:m>
                  <m:oMathPara xmlns:m="http://schemas.openxmlformats.org/officeDocument/2006/math">
                    <m:oMathParaPr>
                      <m:jc m:val="centerGroup"/>
                    </m:oMathParaPr>
                    <m:oMath xmlns:m="http://schemas.openxmlformats.org/officeDocument/2006/math">
                      <m:r>
                        <a:rPr lang="en-US" sz="2800" b="0" i="1" dirty="0" smtClean="0">
                          <a:solidFill>
                            <a:srgbClr val="282828"/>
                          </a:solidFill>
                          <a:latin typeface="Cambria Math" panose="02040503050406030204" pitchFamily="18" charset="0"/>
                          <a:ea typeface="Cambria Math"/>
                        </a:rPr>
                        <m:t>𝑐</m:t>
                      </m:r>
                      <m:d>
                        <m:dPr>
                          <m:ctrlPr>
                            <a:rPr lang="en-US" sz="2800" i="1" dirty="0" smtClean="0">
                              <a:solidFill>
                                <a:srgbClr val="282828"/>
                              </a:solidFill>
                              <a:latin typeface="Cambria Math" panose="02040503050406030204" pitchFamily="18" charset="0"/>
                              <a:ea typeface="Cambria Math"/>
                            </a:rPr>
                          </m:ctrlPr>
                        </m:dPr>
                        <m:e>
                          <m:r>
                            <a:rPr lang="en-US" sz="2800" i="1" dirty="0" smtClean="0">
                              <a:solidFill>
                                <a:srgbClr val="282828"/>
                              </a:solidFill>
                              <a:latin typeface="Cambria Math" panose="02040503050406030204" pitchFamily="18" charset="0"/>
                              <a:ea typeface="Cambria Math"/>
                            </a:rPr>
                            <m:t>𝑡</m:t>
                          </m:r>
                        </m:e>
                      </m:d>
                      <m:r>
                        <a:rPr lang="en-US" sz="2800" i="1" dirty="0" smtClean="0">
                          <a:solidFill>
                            <a:srgbClr val="282828"/>
                          </a:solidFill>
                          <a:latin typeface="Cambria Math" panose="02040503050406030204" pitchFamily="18" charset="0"/>
                          <a:ea typeface="Cambria Math"/>
                        </a:rPr>
                        <m:t>=</m:t>
                      </m:r>
                      <m:sSub>
                        <m:sSubPr>
                          <m:ctrlPr>
                            <a:rPr lang="en-US" sz="2800" b="0" i="1" dirty="0" smtClean="0">
                              <a:solidFill>
                                <a:srgbClr val="282828"/>
                              </a:solidFill>
                              <a:latin typeface="Cambria Math" panose="02040503050406030204" pitchFamily="18" charset="0"/>
                              <a:ea typeface="Cambria Math"/>
                            </a:rPr>
                          </m:ctrlPr>
                        </m:sSubPr>
                        <m:e>
                          <m:r>
                            <a:rPr lang="en-US" sz="2800" b="0" i="1" dirty="0" smtClean="0">
                              <a:solidFill>
                                <a:srgbClr val="282828"/>
                              </a:solidFill>
                              <a:latin typeface="Cambria Math" panose="02040503050406030204" pitchFamily="18" charset="0"/>
                              <a:ea typeface="Cambria Math"/>
                            </a:rPr>
                            <m:t>𝐾</m:t>
                          </m:r>
                        </m:e>
                        <m:sub>
                          <m:r>
                            <a:rPr lang="en-US" sz="2800" b="0" i="1" dirty="0" smtClean="0">
                              <a:solidFill>
                                <a:srgbClr val="282828"/>
                              </a:solidFill>
                              <a:latin typeface="Cambria Math" panose="02040503050406030204" pitchFamily="18" charset="0"/>
                              <a:ea typeface="Cambria Math"/>
                            </a:rPr>
                            <m:t>𝑝</m:t>
                          </m:r>
                        </m:sub>
                      </m:sSub>
                      <m:r>
                        <a:rPr lang="en-US" sz="2800" i="1" dirty="0">
                          <a:solidFill>
                            <a:srgbClr val="282828"/>
                          </a:solidFill>
                          <a:latin typeface="Cambria Math" panose="02040503050406030204" pitchFamily="18" charset="0"/>
                          <a:ea typeface="Cambria Math"/>
                        </a:rPr>
                        <m:t>𝑒</m:t>
                      </m:r>
                      <m:d>
                        <m:dPr>
                          <m:ctrlPr>
                            <a:rPr lang="en-US" sz="2800" i="1" dirty="0">
                              <a:solidFill>
                                <a:srgbClr val="282828"/>
                              </a:solidFill>
                              <a:latin typeface="Cambria Math" panose="02040503050406030204" pitchFamily="18" charset="0"/>
                              <a:ea typeface="Cambria Math"/>
                            </a:rPr>
                          </m:ctrlPr>
                        </m:dPr>
                        <m:e>
                          <m:r>
                            <a:rPr lang="en-US" sz="2800" i="1" dirty="0">
                              <a:solidFill>
                                <a:srgbClr val="282828"/>
                              </a:solidFill>
                              <a:latin typeface="Cambria Math" panose="02040503050406030204" pitchFamily="18" charset="0"/>
                              <a:ea typeface="Cambria Math"/>
                            </a:rPr>
                            <m:t>𝑡</m:t>
                          </m:r>
                        </m:e>
                      </m:d>
                      <m:r>
                        <a:rPr lang="en-US" sz="2800" i="1" dirty="0">
                          <a:solidFill>
                            <a:srgbClr val="282828"/>
                          </a:solidFill>
                          <a:latin typeface="Cambria Math" panose="02040503050406030204" pitchFamily="18" charset="0"/>
                          <a:ea typeface="Cambria Math"/>
                        </a:rPr>
                        <m:t>+</m:t>
                      </m:r>
                      <m:sSub>
                        <m:sSubPr>
                          <m:ctrlPr>
                            <a:rPr lang="en-US" sz="2800" b="0" i="1" dirty="0" smtClean="0">
                              <a:solidFill>
                                <a:srgbClr val="282828"/>
                              </a:solidFill>
                              <a:latin typeface="Cambria Math" panose="02040503050406030204" pitchFamily="18" charset="0"/>
                              <a:ea typeface="Cambria Math"/>
                            </a:rPr>
                          </m:ctrlPr>
                        </m:sSubPr>
                        <m:e>
                          <m:r>
                            <a:rPr lang="en-US" sz="2800" b="0" i="1" dirty="0" smtClean="0">
                              <a:solidFill>
                                <a:srgbClr val="282828"/>
                              </a:solidFill>
                              <a:latin typeface="Cambria Math" panose="02040503050406030204" pitchFamily="18" charset="0"/>
                              <a:ea typeface="Cambria Math"/>
                            </a:rPr>
                            <m:t>𝐾</m:t>
                          </m:r>
                        </m:e>
                        <m:sub>
                          <m:r>
                            <a:rPr lang="en-US" sz="2800" b="0" i="1" dirty="0" smtClean="0">
                              <a:solidFill>
                                <a:srgbClr val="282828"/>
                              </a:solidFill>
                              <a:latin typeface="Cambria Math" panose="02040503050406030204" pitchFamily="18" charset="0"/>
                              <a:ea typeface="Cambria Math"/>
                            </a:rPr>
                            <m:t>𝑖</m:t>
                          </m:r>
                        </m:sub>
                      </m:sSub>
                      <m:nary>
                        <m:naryPr>
                          <m:ctrlPr>
                            <a:rPr lang="en-US" sz="2800" i="1" dirty="0" smtClean="0">
                              <a:solidFill>
                                <a:srgbClr val="282828"/>
                              </a:solidFill>
                              <a:latin typeface="Cambria Math" panose="02040503050406030204" pitchFamily="18" charset="0"/>
                              <a:ea typeface="Cambria Math"/>
                            </a:rPr>
                          </m:ctrlPr>
                        </m:naryPr>
                        <m:sub>
                          <m:r>
                            <m:rPr>
                              <m:brk m:alnAt="23"/>
                            </m:rPr>
                            <a:rPr lang="en-US" sz="2800" b="0" i="1" dirty="0" smtClean="0">
                              <a:solidFill>
                                <a:srgbClr val="282828"/>
                              </a:solidFill>
                              <a:latin typeface="Cambria Math" panose="02040503050406030204" pitchFamily="18" charset="0"/>
                              <a:ea typeface="Cambria Math"/>
                            </a:rPr>
                            <m:t>0</m:t>
                          </m:r>
                        </m:sub>
                        <m:sup>
                          <m:r>
                            <a:rPr lang="en-US" sz="2800" b="0" i="1" dirty="0" smtClean="0">
                              <a:solidFill>
                                <a:srgbClr val="282828"/>
                              </a:solidFill>
                              <a:latin typeface="Cambria Math" panose="02040503050406030204" pitchFamily="18" charset="0"/>
                              <a:ea typeface="Cambria Math"/>
                            </a:rPr>
                            <m:t>𝑡</m:t>
                          </m:r>
                        </m:sup>
                        <m:e>
                          <m:r>
                            <a:rPr lang="en-US" sz="2800" b="0" i="1" dirty="0" smtClean="0">
                              <a:solidFill>
                                <a:srgbClr val="282828"/>
                              </a:solidFill>
                              <a:latin typeface="Cambria Math" panose="02040503050406030204" pitchFamily="18" charset="0"/>
                              <a:ea typeface="Cambria Math"/>
                            </a:rPr>
                            <m:t>𝑒</m:t>
                          </m:r>
                          <m:d>
                            <m:dPr>
                              <m:ctrlPr>
                                <a:rPr lang="en-US" sz="2800" b="0" i="1" dirty="0" smtClean="0">
                                  <a:solidFill>
                                    <a:srgbClr val="282828"/>
                                  </a:solidFill>
                                  <a:latin typeface="Cambria Math" panose="02040503050406030204" pitchFamily="18" charset="0"/>
                                  <a:ea typeface="Cambria Math"/>
                                </a:rPr>
                              </m:ctrlPr>
                            </m:dPr>
                            <m:e>
                              <m:r>
                                <a:rPr lang="en-US" sz="2800" b="0" i="1" dirty="0" smtClean="0">
                                  <a:solidFill>
                                    <a:srgbClr val="282828"/>
                                  </a:solidFill>
                                  <a:latin typeface="Cambria Math" panose="02040503050406030204" pitchFamily="18" charset="0"/>
                                  <a:ea typeface="Cambria Math"/>
                                </a:rPr>
                                <m:t>𝜏</m:t>
                              </m:r>
                            </m:e>
                          </m:d>
                          <m:r>
                            <a:rPr lang="en-US" sz="2800" b="0" i="1" dirty="0" smtClean="0">
                              <a:solidFill>
                                <a:srgbClr val="282828"/>
                              </a:solidFill>
                              <a:latin typeface="Cambria Math" panose="02040503050406030204" pitchFamily="18" charset="0"/>
                              <a:ea typeface="Cambria Math"/>
                            </a:rPr>
                            <m:t>𝑑</m:t>
                          </m:r>
                          <m:r>
                            <a:rPr lang="en-US" sz="2800" b="0" i="1" dirty="0" smtClean="0">
                              <a:solidFill>
                                <a:srgbClr val="282828"/>
                              </a:solidFill>
                              <a:latin typeface="Cambria Math" panose="02040503050406030204" pitchFamily="18" charset="0"/>
                              <a:ea typeface="Cambria Math"/>
                            </a:rPr>
                            <m:t>𝜏</m:t>
                          </m:r>
                        </m:e>
                      </m:nary>
                      <m:r>
                        <a:rPr lang="en-US" sz="2800" i="1" dirty="0">
                          <a:solidFill>
                            <a:srgbClr val="282828"/>
                          </a:solidFill>
                          <a:latin typeface="Cambria Math" panose="02040503050406030204" pitchFamily="18" charset="0"/>
                          <a:ea typeface="Cambria Math"/>
                        </a:rPr>
                        <m:t>+</m:t>
                      </m:r>
                      <m:sSub>
                        <m:sSubPr>
                          <m:ctrlPr>
                            <a:rPr lang="en-US" sz="2800" b="0" i="1" dirty="0" smtClean="0">
                              <a:solidFill>
                                <a:srgbClr val="282828"/>
                              </a:solidFill>
                              <a:latin typeface="Cambria Math" panose="02040503050406030204" pitchFamily="18" charset="0"/>
                              <a:ea typeface="Cambria Math"/>
                            </a:rPr>
                          </m:ctrlPr>
                        </m:sSubPr>
                        <m:e>
                          <m:r>
                            <a:rPr lang="en-US" sz="2800" b="0" i="1" dirty="0" smtClean="0">
                              <a:solidFill>
                                <a:srgbClr val="282828"/>
                              </a:solidFill>
                              <a:latin typeface="Cambria Math" panose="02040503050406030204" pitchFamily="18" charset="0"/>
                              <a:ea typeface="Cambria Math"/>
                            </a:rPr>
                            <m:t>𝐾</m:t>
                          </m:r>
                        </m:e>
                        <m:sub>
                          <m:r>
                            <a:rPr lang="en-US" sz="2800" b="0" i="1" dirty="0" smtClean="0">
                              <a:solidFill>
                                <a:srgbClr val="282828"/>
                              </a:solidFill>
                              <a:latin typeface="Cambria Math" panose="02040503050406030204" pitchFamily="18" charset="0"/>
                              <a:ea typeface="Cambria Math"/>
                            </a:rPr>
                            <m:t>𝑑</m:t>
                          </m:r>
                        </m:sub>
                      </m:sSub>
                      <m:f>
                        <m:fPr>
                          <m:ctrlPr>
                            <a:rPr lang="en-US" sz="2800" i="1" dirty="0">
                              <a:solidFill>
                                <a:srgbClr val="282828"/>
                              </a:solidFill>
                              <a:latin typeface="Cambria Math" panose="02040503050406030204" pitchFamily="18" charset="0"/>
                              <a:ea typeface="Cambria Math"/>
                            </a:rPr>
                          </m:ctrlPr>
                        </m:fPr>
                        <m:num>
                          <m:r>
                            <a:rPr lang="en-US" sz="2800" i="1" dirty="0">
                              <a:solidFill>
                                <a:srgbClr val="282828"/>
                              </a:solidFill>
                              <a:latin typeface="Cambria Math" panose="02040503050406030204" pitchFamily="18" charset="0"/>
                              <a:ea typeface="Cambria Math"/>
                            </a:rPr>
                            <m:t>𝑑𝑒</m:t>
                          </m:r>
                          <m:d>
                            <m:dPr>
                              <m:ctrlPr>
                                <a:rPr lang="en-US" sz="2800" i="1" dirty="0">
                                  <a:solidFill>
                                    <a:srgbClr val="282828"/>
                                  </a:solidFill>
                                  <a:latin typeface="Cambria Math" panose="02040503050406030204" pitchFamily="18" charset="0"/>
                                  <a:ea typeface="Cambria Math"/>
                                </a:rPr>
                              </m:ctrlPr>
                            </m:dPr>
                            <m:e>
                              <m:r>
                                <a:rPr lang="en-US" sz="2800" i="1" dirty="0">
                                  <a:solidFill>
                                    <a:srgbClr val="282828"/>
                                  </a:solidFill>
                                  <a:latin typeface="Cambria Math" panose="02040503050406030204" pitchFamily="18" charset="0"/>
                                  <a:ea typeface="Cambria Math"/>
                                </a:rPr>
                                <m:t>𝑡</m:t>
                              </m:r>
                            </m:e>
                          </m:d>
                        </m:num>
                        <m:den>
                          <m:r>
                            <a:rPr lang="en-US" sz="2800" i="1" dirty="0">
                              <a:solidFill>
                                <a:srgbClr val="282828"/>
                              </a:solidFill>
                              <a:latin typeface="Cambria Math" panose="02040503050406030204" pitchFamily="18" charset="0"/>
                              <a:ea typeface="Cambria Math"/>
                            </a:rPr>
                            <m:t>𝑑𝑡</m:t>
                          </m:r>
                        </m:den>
                      </m:f>
                    </m:oMath>
                  </m:oMathPara>
                </a14:m>
                <a:endParaRPr lang="en-US" sz="2800" dirty="0">
                  <a:solidFill>
                    <a:srgbClr val="282828"/>
                  </a:solidFill>
                  <a:latin typeface="Cambria Math"/>
                  <a:ea typeface="Cambria Math"/>
                </a:endParaRPr>
              </a:p>
              <a:p>
                <a:pPr marL="285750" indent="-285750">
                  <a:lnSpc>
                    <a:spcPct val="100000"/>
                  </a:lnSpc>
                  <a:spcBef>
                    <a:spcPts val="0"/>
                  </a:spcBef>
                  <a:spcAft>
                    <a:spcPts val="1200"/>
                  </a:spcAft>
                  <a:buFont typeface="Arial" panose="020B0604020202020204" pitchFamily="34" charset="0"/>
                  <a:buChar char="•"/>
                </a:pPr>
                <a:r>
                  <a:rPr lang="en-US" sz="2800" dirty="0">
                    <a:solidFill>
                      <a:srgbClr val="282828"/>
                    </a:solidFill>
                    <a:latin typeface="Aptos"/>
                  </a:rPr>
                  <a:t>P reacts to present error</a:t>
                </a:r>
                <a:endParaRPr lang="en-US" sz="2800" dirty="0">
                  <a:latin typeface="Aptos"/>
                </a:endParaRPr>
              </a:p>
              <a:p>
                <a:pPr marL="285750" indent="-285750">
                  <a:lnSpc>
                    <a:spcPct val="100000"/>
                  </a:lnSpc>
                  <a:spcBef>
                    <a:spcPts val="0"/>
                  </a:spcBef>
                  <a:spcAft>
                    <a:spcPts val="1200"/>
                  </a:spcAft>
                  <a:buFont typeface="Arial" panose="020B0604020202020204" pitchFamily="34" charset="0"/>
                  <a:buChar char="•"/>
                </a:pPr>
                <a:r>
                  <a:rPr lang="en-US" sz="2800" dirty="0">
                    <a:solidFill>
                      <a:srgbClr val="282828"/>
                    </a:solidFill>
                    <a:latin typeface="Aptos"/>
                  </a:rPr>
                  <a:t>I removes steady-state offset</a:t>
                </a:r>
                <a:endParaRPr lang="en-US" sz="2800" dirty="0">
                  <a:latin typeface="Aptos"/>
                </a:endParaRPr>
              </a:p>
              <a:p>
                <a:pPr marL="285750" indent="-285750">
                  <a:lnSpc>
                    <a:spcPct val="100000"/>
                  </a:lnSpc>
                  <a:spcBef>
                    <a:spcPts val="0"/>
                  </a:spcBef>
                  <a:spcAft>
                    <a:spcPts val="1200"/>
                  </a:spcAft>
                  <a:buFont typeface="Arial" panose="020B0604020202020204" pitchFamily="34" charset="0"/>
                  <a:buChar char="•"/>
                </a:pPr>
                <a:r>
                  <a:rPr lang="en-US" sz="2800" dirty="0">
                    <a:solidFill>
                      <a:srgbClr val="282828"/>
                    </a:solidFill>
                    <a:latin typeface="Aptos"/>
                  </a:rPr>
                  <a:t>D anticipates error change</a:t>
                </a:r>
                <a:endParaRPr lang="en-US" sz="2800" dirty="0">
                  <a:latin typeface="Aptos"/>
                </a:endParaRPr>
              </a:p>
              <a:p>
                <a:pPr marL="342900" indent="-342900">
                  <a:buFont typeface="Arial" panose="020B0604020202020204" pitchFamily="34" charset="0"/>
                  <a:buChar char="•"/>
                </a:pPr>
                <a:endParaRPr lang="en-US" sz="2800" dirty="0">
                  <a:cs typeface="Arial"/>
                </a:endParaRPr>
              </a:p>
            </p:txBody>
          </p:sp>
        </mc:Choice>
        <mc:Fallback>
          <p:sp>
            <p:nvSpPr>
              <p:cNvPr id="7" name="Content Placeholder 2">
                <a:extLst>
                  <a:ext uri="{FF2B5EF4-FFF2-40B4-BE49-F238E27FC236}">
                    <a16:creationId xmlns:a16="http://schemas.microsoft.com/office/drawing/2014/main" id="{E90AA389-ABED-78CC-4C67-650D7039F5D2}"/>
                  </a:ext>
                </a:extLst>
              </p:cNvPr>
              <p:cNvSpPr>
                <a:spLocks noGrp="1" noRot="1" noChangeAspect="1" noMove="1" noResize="1" noEditPoints="1" noAdjustHandles="1" noChangeArrowheads="1" noChangeShapeType="1" noTextEdit="1"/>
              </p:cNvSpPr>
              <p:nvPr>
                <p:ph idx="1"/>
              </p:nvPr>
            </p:nvSpPr>
            <p:spPr>
              <a:xfrm>
                <a:off x="838200" y="1579419"/>
                <a:ext cx="10515600" cy="4362092"/>
              </a:xfrm>
              <a:blipFill>
                <a:blip r:embed="rId3"/>
                <a:stretch>
                  <a:fillRect l="-1043"/>
                </a:stretch>
              </a:blipFill>
            </p:spPr>
            <p:txBody>
              <a:bodyPr/>
              <a:lstStyle/>
              <a:p>
                <a:r>
                  <a:rPr lang="en-US">
                    <a:noFill/>
                  </a:rPr>
                  <a:t> </a:t>
                </a:r>
              </a:p>
            </p:txBody>
          </p:sp>
        </mc:Fallback>
      </mc:AlternateContent>
    </p:spTree>
    <p:extLst>
      <p:ext uri="{BB962C8B-B14F-4D97-AF65-F5344CB8AC3E}">
        <p14:creationId xmlns:p14="http://schemas.microsoft.com/office/powerpoint/2010/main" val="3980889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FE791-B8E9-C0AE-19B2-7AC625B57CB1}"/>
              </a:ext>
            </a:extLst>
          </p:cNvPr>
          <p:cNvSpPr>
            <a:spLocks noGrp="1"/>
          </p:cNvSpPr>
          <p:nvPr>
            <p:ph type="title"/>
          </p:nvPr>
        </p:nvSpPr>
        <p:spPr/>
        <p:txBody>
          <a:bodyPr>
            <a:normAutofit/>
          </a:bodyPr>
          <a:lstStyle/>
          <a:p>
            <a:r>
              <a:rPr lang="en-US" sz="4000" dirty="0">
                <a:cs typeface="Arial"/>
              </a:rPr>
              <a:t>Car Acceleration Analogy</a:t>
            </a:r>
          </a:p>
        </p:txBody>
      </p:sp>
      <p:sp>
        <p:nvSpPr>
          <p:cNvPr id="3" name="Content Placeholder 2">
            <a:extLst>
              <a:ext uri="{FF2B5EF4-FFF2-40B4-BE49-F238E27FC236}">
                <a16:creationId xmlns:a16="http://schemas.microsoft.com/office/drawing/2014/main" id="{31900943-9556-E86A-7664-61D514B13584}"/>
              </a:ext>
            </a:extLst>
          </p:cNvPr>
          <p:cNvSpPr>
            <a:spLocks noGrp="1"/>
          </p:cNvSpPr>
          <p:nvPr>
            <p:ph idx="1"/>
          </p:nvPr>
        </p:nvSpPr>
        <p:spPr/>
        <p:txBody>
          <a:bodyPr vert="horz" lIns="91440" tIns="45720" rIns="91440" bIns="45720" rtlCol="0" anchor="t">
            <a:normAutofit/>
          </a:bodyPr>
          <a:lstStyle/>
          <a:p>
            <a:r>
              <a:rPr lang="en-US" sz="3200" i="1" dirty="0">
                <a:solidFill>
                  <a:schemeClr val="accent2"/>
                </a:solidFill>
                <a:ea typeface="+mn-lt"/>
                <a:cs typeface="+mn-lt"/>
              </a:rPr>
              <a:t>P - Proportional (The Current Error)</a:t>
            </a:r>
          </a:p>
          <a:p>
            <a:pPr marL="285750" indent="-285750">
              <a:buFont typeface="Arial"/>
              <a:buChar char="•"/>
            </a:pPr>
            <a:r>
              <a:rPr lang="en-US" sz="2800" b="1" dirty="0">
                <a:ea typeface="+mn-lt"/>
                <a:cs typeface="+mn-lt"/>
              </a:rPr>
              <a:t>Action:</a:t>
            </a:r>
            <a:r>
              <a:rPr lang="en-US" sz="2800" dirty="0">
                <a:ea typeface="+mn-lt"/>
                <a:cs typeface="+mn-lt"/>
              </a:rPr>
              <a:t> You notice your speed (e.g., 60 mph) is lower than your desired speed (e.g., 80 mph).</a:t>
            </a:r>
            <a:endParaRPr lang="en-US" sz="2800">
              <a:cs typeface="Arial"/>
            </a:endParaRPr>
          </a:p>
          <a:p>
            <a:pPr marL="285750" indent="-285750">
              <a:buFont typeface="Arial"/>
              <a:buChar char="•"/>
            </a:pPr>
            <a:r>
              <a:rPr lang="en-US" sz="2800" b="1" dirty="0">
                <a:ea typeface="+mn-lt"/>
                <a:cs typeface="+mn-lt"/>
              </a:rPr>
              <a:t>Intuition:</a:t>
            </a:r>
            <a:r>
              <a:rPr lang="en-US" sz="2800" dirty="0">
                <a:ea typeface="+mn-lt"/>
                <a:cs typeface="+mn-lt"/>
              </a:rPr>
              <a:t> The larger the speed difference (error), the harder you press the gas pedal.</a:t>
            </a:r>
            <a:endParaRPr lang="en-US" sz="2800">
              <a:cs typeface="Arial"/>
            </a:endParaRPr>
          </a:p>
          <a:p>
            <a:pPr marL="285750" indent="-285750">
              <a:buFont typeface="Arial"/>
              <a:buChar char="•"/>
            </a:pPr>
            <a:r>
              <a:rPr lang="en-US" sz="2800" b="1" dirty="0">
                <a:ea typeface="+mn-lt"/>
                <a:cs typeface="+mn-lt"/>
              </a:rPr>
              <a:t>Result:</a:t>
            </a:r>
            <a:r>
              <a:rPr lang="en-US" sz="2800" dirty="0">
                <a:ea typeface="+mn-lt"/>
                <a:cs typeface="+mn-lt"/>
              </a:rPr>
              <a:t> You quickly accelerate to reduce that gap.</a:t>
            </a:r>
            <a:endParaRPr lang="en-US" sz="2800">
              <a:cs typeface="Arial"/>
            </a:endParaRPr>
          </a:p>
          <a:p>
            <a:endParaRPr lang="en-US" sz="2800" dirty="0">
              <a:cs typeface="Arial"/>
            </a:endParaRPr>
          </a:p>
        </p:txBody>
      </p:sp>
      <p:sp>
        <p:nvSpPr>
          <p:cNvPr id="4" name="Footer Placeholder 3">
            <a:extLst>
              <a:ext uri="{FF2B5EF4-FFF2-40B4-BE49-F238E27FC236}">
                <a16:creationId xmlns:a16="http://schemas.microsoft.com/office/drawing/2014/main" id="{97739130-74E7-69F8-53B9-F47B3AD39A43}"/>
              </a:ext>
            </a:extLst>
          </p:cNvPr>
          <p:cNvSpPr>
            <a:spLocks noGrp="1"/>
          </p:cNvSpPr>
          <p:nvPr>
            <p:ph type="ftr" sz="quarter" idx="11"/>
          </p:nvPr>
        </p:nvSpPr>
        <p:spPr/>
        <p:txBody>
          <a:bodyPr/>
          <a:lstStyle/>
          <a:p>
            <a:r>
              <a:rPr lang="en-US" dirty="0"/>
              <a:t>CSSC @ </a:t>
            </a:r>
            <a:r>
              <a:rPr lang="en-US" dirty="0" err="1"/>
              <a:t>UTDallas</a:t>
            </a:r>
            <a:endParaRPr lang="en-US" dirty="0"/>
          </a:p>
        </p:txBody>
      </p:sp>
      <p:sp>
        <p:nvSpPr>
          <p:cNvPr id="5" name="Slide Number Placeholder 4">
            <a:extLst>
              <a:ext uri="{FF2B5EF4-FFF2-40B4-BE49-F238E27FC236}">
                <a16:creationId xmlns:a16="http://schemas.microsoft.com/office/drawing/2014/main" id="{6A64A525-4472-E332-1564-EBB17EA71729}"/>
              </a:ext>
            </a:extLst>
          </p:cNvPr>
          <p:cNvSpPr>
            <a:spLocks noGrp="1"/>
          </p:cNvSpPr>
          <p:nvPr>
            <p:ph type="sldNum" sz="quarter" idx="12"/>
          </p:nvPr>
        </p:nvSpPr>
        <p:spPr/>
        <p:txBody>
          <a:bodyPr/>
          <a:lstStyle/>
          <a:p>
            <a:fld id="{C68DACDF-E1A9-A04C-A5FF-FC2443684BF5}" type="slidenum">
              <a:rPr lang="en-US" smtClean="0"/>
              <a:pPr/>
              <a:t>5</a:t>
            </a:fld>
            <a:endParaRPr lang="en-US" dirty="0"/>
          </a:p>
        </p:txBody>
      </p:sp>
    </p:spTree>
    <p:extLst>
      <p:ext uri="{BB962C8B-B14F-4D97-AF65-F5344CB8AC3E}">
        <p14:creationId xmlns:p14="http://schemas.microsoft.com/office/powerpoint/2010/main" val="2260385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E94EB-72A4-1788-6E15-06DD9CB6AC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A800F7-C310-FB52-D715-C2A3EAE9B9A6}"/>
              </a:ext>
            </a:extLst>
          </p:cNvPr>
          <p:cNvSpPr>
            <a:spLocks noGrp="1"/>
          </p:cNvSpPr>
          <p:nvPr>
            <p:ph type="title"/>
          </p:nvPr>
        </p:nvSpPr>
        <p:spPr/>
        <p:txBody>
          <a:bodyPr>
            <a:normAutofit/>
          </a:bodyPr>
          <a:lstStyle/>
          <a:p>
            <a:r>
              <a:rPr lang="en-US" sz="4000" dirty="0">
                <a:cs typeface="Arial"/>
              </a:rPr>
              <a:t>Car Acceleration Analogy</a:t>
            </a:r>
          </a:p>
        </p:txBody>
      </p:sp>
      <p:sp>
        <p:nvSpPr>
          <p:cNvPr id="3" name="Content Placeholder 2">
            <a:extLst>
              <a:ext uri="{FF2B5EF4-FFF2-40B4-BE49-F238E27FC236}">
                <a16:creationId xmlns:a16="http://schemas.microsoft.com/office/drawing/2014/main" id="{D27AA12E-359F-B1B5-D89A-61B4E0E2AF5E}"/>
              </a:ext>
            </a:extLst>
          </p:cNvPr>
          <p:cNvSpPr>
            <a:spLocks noGrp="1"/>
          </p:cNvSpPr>
          <p:nvPr>
            <p:ph idx="1"/>
          </p:nvPr>
        </p:nvSpPr>
        <p:spPr/>
        <p:txBody>
          <a:bodyPr vert="horz" lIns="91440" tIns="45720" rIns="91440" bIns="45720" rtlCol="0" anchor="t">
            <a:normAutofit/>
          </a:bodyPr>
          <a:lstStyle/>
          <a:p>
            <a:r>
              <a:rPr lang="en-US" sz="3200" i="1" dirty="0">
                <a:solidFill>
                  <a:schemeClr val="accent3">
                    <a:lumMod val="60000"/>
                    <a:lumOff val="40000"/>
                  </a:schemeClr>
                </a:solidFill>
                <a:ea typeface="+mn-lt"/>
                <a:cs typeface="+mn-lt"/>
              </a:rPr>
              <a:t>2. I - Integral (The Past Error)</a:t>
            </a:r>
            <a:endParaRPr lang="en-US" sz="3200" i="1" dirty="0">
              <a:solidFill>
                <a:schemeClr val="accent3">
                  <a:lumMod val="60000"/>
                  <a:lumOff val="40000"/>
                </a:schemeClr>
              </a:solidFill>
            </a:endParaRPr>
          </a:p>
          <a:p>
            <a:pPr marL="285750" indent="-285750">
              <a:buFont typeface="Arial"/>
              <a:buChar char="•"/>
            </a:pPr>
            <a:r>
              <a:rPr lang="en-US" sz="2800" b="1" dirty="0">
                <a:ea typeface="+mn-lt"/>
                <a:cs typeface="+mn-lt"/>
              </a:rPr>
              <a:t>Action:</a:t>
            </a:r>
            <a:r>
              <a:rPr lang="en-US" sz="2800" dirty="0">
                <a:ea typeface="+mn-lt"/>
                <a:cs typeface="+mn-lt"/>
              </a:rPr>
              <a:t> You are driving up a long hill. Even though you are pressing the pedal, the speed stays slightly below 80 mph for a sustained time.</a:t>
            </a:r>
            <a:endParaRPr lang="en-US" dirty="0"/>
          </a:p>
          <a:p>
            <a:pPr marL="285750" indent="-285750">
              <a:buFont typeface="Arial"/>
              <a:buChar char="•"/>
            </a:pPr>
            <a:r>
              <a:rPr lang="en-US" sz="2800" b="1" dirty="0">
                <a:ea typeface="+mn-lt"/>
                <a:cs typeface="+mn-lt"/>
              </a:rPr>
              <a:t>Intuition:</a:t>
            </a:r>
            <a:r>
              <a:rPr lang="en-US" sz="2800" dirty="0">
                <a:ea typeface="+mn-lt"/>
                <a:cs typeface="+mn-lt"/>
              </a:rPr>
              <a:t> Because the car has been below the speed for a while, you gradually press the pedal further down to compensate for the incline.</a:t>
            </a:r>
            <a:endParaRPr lang="en-US" dirty="0"/>
          </a:p>
          <a:p>
            <a:pPr marL="285750" indent="-285750">
              <a:buFont typeface="Arial"/>
              <a:buChar char="•"/>
            </a:pPr>
            <a:r>
              <a:rPr lang="en-US" sz="2800" b="1" dirty="0">
                <a:ea typeface="+mn-lt"/>
                <a:cs typeface="+mn-lt"/>
              </a:rPr>
              <a:t>Result:</a:t>
            </a:r>
            <a:r>
              <a:rPr lang="en-US" sz="2800" dirty="0">
                <a:ea typeface="+mn-lt"/>
                <a:cs typeface="+mn-lt"/>
              </a:rPr>
              <a:t> The accumulation of time spent driving too slowly makes you add more gas to eliminate that steady-state error.</a:t>
            </a:r>
            <a:endParaRPr lang="en-US" dirty="0"/>
          </a:p>
          <a:p>
            <a:endParaRPr lang="en-US" sz="2800" dirty="0">
              <a:cs typeface="Arial"/>
            </a:endParaRPr>
          </a:p>
        </p:txBody>
      </p:sp>
      <p:sp>
        <p:nvSpPr>
          <p:cNvPr id="4" name="Footer Placeholder 3">
            <a:extLst>
              <a:ext uri="{FF2B5EF4-FFF2-40B4-BE49-F238E27FC236}">
                <a16:creationId xmlns:a16="http://schemas.microsoft.com/office/drawing/2014/main" id="{6870732B-B473-1909-6E28-681A41F0C712}"/>
              </a:ext>
            </a:extLst>
          </p:cNvPr>
          <p:cNvSpPr>
            <a:spLocks noGrp="1"/>
          </p:cNvSpPr>
          <p:nvPr>
            <p:ph type="ftr" sz="quarter" idx="11"/>
          </p:nvPr>
        </p:nvSpPr>
        <p:spPr/>
        <p:txBody>
          <a:bodyPr/>
          <a:lstStyle/>
          <a:p>
            <a:r>
              <a:rPr lang="en-US" dirty="0"/>
              <a:t>CSSC @ </a:t>
            </a:r>
            <a:r>
              <a:rPr lang="en-US" dirty="0" err="1"/>
              <a:t>UTDallas</a:t>
            </a:r>
            <a:endParaRPr lang="en-US" dirty="0"/>
          </a:p>
        </p:txBody>
      </p:sp>
      <p:sp>
        <p:nvSpPr>
          <p:cNvPr id="5" name="Slide Number Placeholder 4">
            <a:extLst>
              <a:ext uri="{FF2B5EF4-FFF2-40B4-BE49-F238E27FC236}">
                <a16:creationId xmlns:a16="http://schemas.microsoft.com/office/drawing/2014/main" id="{2162C869-FC69-C762-5AD6-2F41DB8D0014}"/>
              </a:ext>
            </a:extLst>
          </p:cNvPr>
          <p:cNvSpPr>
            <a:spLocks noGrp="1"/>
          </p:cNvSpPr>
          <p:nvPr>
            <p:ph type="sldNum" sz="quarter" idx="12"/>
          </p:nvPr>
        </p:nvSpPr>
        <p:spPr/>
        <p:txBody>
          <a:bodyPr/>
          <a:lstStyle/>
          <a:p>
            <a:fld id="{C68DACDF-E1A9-A04C-A5FF-FC2443684BF5}" type="slidenum">
              <a:rPr lang="en-US" smtClean="0"/>
              <a:pPr/>
              <a:t>6</a:t>
            </a:fld>
            <a:endParaRPr lang="en-US" dirty="0"/>
          </a:p>
        </p:txBody>
      </p:sp>
    </p:spTree>
    <p:extLst>
      <p:ext uri="{BB962C8B-B14F-4D97-AF65-F5344CB8AC3E}">
        <p14:creationId xmlns:p14="http://schemas.microsoft.com/office/powerpoint/2010/main" val="3399650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34D2E-3CCC-FC0D-31BE-4901482FCA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803EC2-B495-588D-65F6-24B8B9A142F2}"/>
              </a:ext>
            </a:extLst>
          </p:cNvPr>
          <p:cNvSpPr>
            <a:spLocks noGrp="1"/>
          </p:cNvSpPr>
          <p:nvPr>
            <p:ph type="title"/>
          </p:nvPr>
        </p:nvSpPr>
        <p:spPr/>
        <p:txBody>
          <a:bodyPr>
            <a:normAutofit/>
          </a:bodyPr>
          <a:lstStyle/>
          <a:p>
            <a:r>
              <a:rPr lang="en-US" sz="4000" dirty="0">
                <a:cs typeface="Arial"/>
              </a:rPr>
              <a:t>Car Acceleration Analogy</a:t>
            </a:r>
          </a:p>
        </p:txBody>
      </p:sp>
      <p:sp>
        <p:nvSpPr>
          <p:cNvPr id="3" name="Content Placeholder 2">
            <a:extLst>
              <a:ext uri="{FF2B5EF4-FFF2-40B4-BE49-F238E27FC236}">
                <a16:creationId xmlns:a16="http://schemas.microsoft.com/office/drawing/2014/main" id="{7B1EB362-E240-6579-64D3-8026869B129E}"/>
              </a:ext>
            </a:extLst>
          </p:cNvPr>
          <p:cNvSpPr>
            <a:spLocks noGrp="1"/>
          </p:cNvSpPr>
          <p:nvPr>
            <p:ph idx="1"/>
          </p:nvPr>
        </p:nvSpPr>
        <p:spPr/>
        <p:txBody>
          <a:bodyPr vert="horz" lIns="91440" tIns="45720" rIns="91440" bIns="45720" rtlCol="0" anchor="t">
            <a:normAutofit/>
          </a:bodyPr>
          <a:lstStyle/>
          <a:p>
            <a:r>
              <a:rPr lang="en-US" sz="3600" dirty="0">
                <a:solidFill>
                  <a:schemeClr val="accent1"/>
                </a:solidFill>
                <a:ea typeface="+mn-lt"/>
                <a:cs typeface="+mn-lt"/>
              </a:rPr>
              <a:t>3. D - Derivative (The Future Error/Change)</a:t>
            </a:r>
            <a:endParaRPr lang="en-US" dirty="0">
              <a:solidFill>
                <a:schemeClr val="accent1"/>
              </a:solidFill>
              <a:cs typeface="Arial"/>
            </a:endParaRPr>
          </a:p>
          <a:p>
            <a:pPr marL="285750" indent="-285750">
              <a:buFont typeface="Arial"/>
              <a:buChar char="•"/>
            </a:pPr>
            <a:r>
              <a:rPr lang="en-US" sz="2800" b="1" dirty="0">
                <a:ea typeface="+mn-lt"/>
                <a:cs typeface="+mn-lt"/>
              </a:rPr>
              <a:t>Action:</a:t>
            </a:r>
            <a:r>
              <a:rPr lang="en-US" sz="2800" dirty="0">
                <a:ea typeface="+mn-lt"/>
                <a:cs typeface="+mn-lt"/>
              </a:rPr>
              <a:t> You notice your speed is approaching 80 mph very quickly.</a:t>
            </a:r>
            <a:endParaRPr lang="en-US" sz="2800">
              <a:cs typeface="Arial"/>
            </a:endParaRPr>
          </a:p>
          <a:p>
            <a:pPr marL="285750" indent="-285750">
              <a:buFont typeface="Arial"/>
              <a:buChar char="•"/>
            </a:pPr>
            <a:r>
              <a:rPr lang="en-US" sz="2800" b="1" dirty="0">
                <a:ea typeface="+mn-lt"/>
                <a:cs typeface="+mn-lt"/>
              </a:rPr>
              <a:t>Intuition:</a:t>
            </a:r>
            <a:r>
              <a:rPr lang="en-US" sz="2800" dirty="0">
                <a:ea typeface="+mn-lt"/>
                <a:cs typeface="+mn-lt"/>
              </a:rPr>
              <a:t> You lift off the accelerator slightly </a:t>
            </a:r>
            <a:r>
              <a:rPr lang="en-US" sz="2800" i="1" dirty="0">
                <a:ea typeface="+mn-lt"/>
                <a:cs typeface="+mn-lt"/>
              </a:rPr>
              <a:t>before</a:t>
            </a:r>
            <a:r>
              <a:rPr lang="en-US" sz="2800" dirty="0">
                <a:ea typeface="+mn-lt"/>
                <a:cs typeface="+mn-lt"/>
              </a:rPr>
              <a:t> you reach 80 mph to prevent overshooting the speed.</a:t>
            </a:r>
            <a:endParaRPr lang="en-US" sz="2800">
              <a:cs typeface="Arial"/>
            </a:endParaRPr>
          </a:p>
          <a:p>
            <a:pPr marL="285750" indent="-285750">
              <a:buFont typeface="Arial"/>
              <a:buChar char="•"/>
            </a:pPr>
            <a:r>
              <a:rPr lang="en-US" sz="2800" b="1" dirty="0">
                <a:ea typeface="+mn-lt"/>
                <a:cs typeface="+mn-lt"/>
              </a:rPr>
              <a:t>Result:</a:t>
            </a:r>
            <a:r>
              <a:rPr lang="en-US" sz="2800" dirty="0">
                <a:ea typeface="+mn-lt"/>
                <a:cs typeface="+mn-lt"/>
              </a:rPr>
              <a:t> You are acting on the </a:t>
            </a:r>
            <a:r>
              <a:rPr lang="en-US" sz="2800" i="1" dirty="0">
                <a:ea typeface="+mn-lt"/>
                <a:cs typeface="+mn-lt"/>
              </a:rPr>
              <a:t>rate of change</a:t>
            </a:r>
            <a:r>
              <a:rPr lang="en-US" sz="2800" dirty="0">
                <a:ea typeface="+mn-lt"/>
                <a:cs typeface="+mn-lt"/>
              </a:rPr>
              <a:t> (acceleration) to stabilize the speed smoothly, rather than waiting for the speed to already be too high.</a:t>
            </a:r>
            <a:endParaRPr lang="en-US" sz="2800">
              <a:cs typeface="Arial"/>
            </a:endParaRPr>
          </a:p>
          <a:p>
            <a:endParaRPr lang="en-US" sz="3600" i="1" dirty="0">
              <a:cs typeface="Arial"/>
            </a:endParaRPr>
          </a:p>
        </p:txBody>
      </p:sp>
      <p:sp>
        <p:nvSpPr>
          <p:cNvPr id="4" name="Footer Placeholder 3">
            <a:extLst>
              <a:ext uri="{FF2B5EF4-FFF2-40B4-BE49-F238E27FC236}">
                <a16:creationId xmlns:a16="http://schemas.microsoft.com/office/drawing/2014/main" id="{0AAFC3DB-57DE-1151-8DFE-3121A9903139}"/>
              </a:ext>
            </a:extLst>
          </p:cNvPr>
          <p:cNvSpPr>
            <a:spLocks noGrp="1"/>
          </p:cNvSpPr>
          <p:nvPr>
            <p:ph type="ftr" sz="quarter" idx="11"/>
          </p:nvPr>
        </p:nvSpPr>
        <p:spPr/>
        <p:txBody>
          <a:bodyPr/>
          <a:lstStyle/>
          <a:p>
            <a:r>
              <a:rPr lang="en-US" dirty="0"/>
              <a:t>CSSC @ </a:t>
            </a:r>
            <a:r>
              <a:rPr lang="en-US" dirty="0" err="1"/>
              <a:t>UTDallas</a:t>
            </a:r>
            <a:endParaRPr lang="en-US" dirty="0"/>
          </a:p>
        </p:txBody>
      </p:sp>
      <p:sp>
        <p:nvSpPr>
          <p:cNvPr id="5" name="Slide Number Placeholder 4">
            <a:extLst>
              <a:ext uri="{FF2B5EF4-FFF2-40B4-BE49-F238E27FC236}">
                <a16:creationId xmlns:a16="http://schemas.microsoft.com/office/drawing/2014/main" id="{334E56F3-65A9-38E3-4186-CB058481F02E}"/>
              </a:ext>
            </a:extLst>
          </p:cNvPr>
          <p:cNvSpPr>
            <a:spLocks noGrp="1"/>
          </p:cNvSpPr>
          <p:nvPr>
            <p:ph type="sldNum" sz="quarter" idx="12"/>
          </p:nvPr>
        </p:nvSpPr>
        <p:spPr/>
        <p:txBody>
          <a:bodyPr/>
          <a:lstStyle/>
          <a:p>
            <a:fld id="{C68DACDF-E1A9-A04C-A5FF-FC2443684BF5}" type="slidenum">
              <a:rPr lang="en-US" smtClean="0"/>
              <a:pPr/>
              <a:t>7</a:t>
            </a:fld>
            <a:endParaRPr lang="en-US" dirty="0"/>
          </a:p>
        </p:txBody>
      </p:sp>
    </p:spTree>
    <p:extLst>
      <p:ext uri="{BB962C8B-B14F-4D97-AF65-F5344CB8AC3E}">
        <p14:creationId xmlns:p14="http://schemas.microsoft.com/office/powerpoint/2010/main" val="4206582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85F8E-EBA2-43E7-17F0-A39BE11C161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5EE2F72E-6BE5-C1EE-F382-7E26ACB70A60}"/>
              </a:ext>
            </a:extLst>
          </p:cNvPr>
          <p:cNvSpPr>
            <a:spLocks noGrp="1"/>
          </p:cNvSpPr>
          <p:nvPr>
            <p:ph type="ftr" sz="quarter" idx="11"/>
          </p:nvPr>
        </p:nvSpPr>
        <p:spPr/>
        <p:txBody>
          <a:bodyPr/>
          <a:lstStyle/>
          <a:p>
            <a:r>
              <a:rPr lang="en-US" dirty="0"/>
              <a:t>CSSC @ </a:t>
            </a:r>
            <a:r>
              <a:rPr lang="en-US" dirty="0" err="1"/>
              <a:t>UTDallas</a:t>
            </a:r>
            <a:endParaRPr lang="en-US" dirty="0"/>
          </a:p>
        </p:txBody>
      </p:sp>
      <p:sp>
        <p:nvSpPr>
          <p:cNvPr id="5" name="Slide Number Placeholder 4">
            <a:extLst>
              <a:ext uri="{FF2B5EF4-FFF2-40B4-BE49-F238E27FC236}">
                <a16:creationId xmlns:a16="http://schemas.microsoft.com/office/drawing/2014/main" id="{016D3B41-8417-CA7D-4870-7BA7EBF13344}"/>
              </a:ext>
            </a:extLst>
          </p:cNvPr>
          <p:cNvSpPr>
            <a:spLocks noGrp="1"/>
          </p:cNvSpPr>
          <p:nvPr>
            <p:ph type="sldNum" sz="quarter" idx="12"/>
          </p:nvPr>
        </p:nvSpPr>
        <p:spPr/>
        <p:txBody>
          <a:bodyPr/>
          <a:lstStyle/>
          <a:p>
            <a:fld id="{C68DACDF-E1A9-A04C-A5FF-FC2443684BF5}" type="slidenum">
              <a:rPr lang="en-US" smtClean="0"/>
              <a:pPr/>
              <a:t>8</a:t>
            </a:fld>
            <a:endParaRPr lang="en-US" dirty="0"/>
          </a:p>
        </p:txBody>
      </p:sp>
      <p:sp>
        <p:nvSpPr>
          <p:cNvPr id="3" name="Title 1">
            <a:extLst>
              <a:ext uri="{FF2B5EF4-FFF2-40B4-BE49-F238E27FC236}">
                <a16:creationId xmlns:a16="http://schemas.microsoft.com/office/drawing/2014/main" id="{DDEE42C4-1B8C-82EE-F9AF-A0C035F31C44}"/>
              </a:ext>
            </a:extLst>
          </p:cNvPr>
          <p:cNvSpPr>
            <a:spLocks noGrp="1"/>
          </p:cNvSpPr>
          <p:nvPr>
            <p:ph type="title"/>
          </p:nvPr>
        </p:nvSpPr>
        <p:spPr>
          <a:xfrm>
            <a:off x="838200" y="247914"/>
            <a:ext cx="10515600" cy="1157575"/>
          </a:xfrm>
        </p:spPr>
        <p:txBody>
          <a:bodyPr>
            <a:normAutofit/>
          </a:bodyPr>
          <a:lstStyle/>
          <a:p>
            <a:r>
              <a:rPr lang="en-US" sz="4000" dirty="0"/>
              <a:t>Manual Tuning</a:t>
            </a:r>
            <a:endParaRPr lang="en-US" sz="4000" dirty="0">
              <a:cs typeface="Arial"/>
            </a:endParaRPr>
          </a:p>
        </p:txBody>
      </p:sp>
      <mc:AlternateContent xmlns:mc="http://schemas.openxmlformats.org/markup-compatibility/2006">
        <mc:Choice xmlns:a14="http://schemas.microsoft.com/office/drawing/2010/main" Requires="a14">
          <p:sp>
            <p:nvSpPr>
              <p:cNvPr id="7" name="Content Placeholder 2">
                <a:extLst>
                  <a:ext uri="{FF2B5EF4-FFF2-40B4-BE49-F238E27FC236}">
                    <a16:creationId xmlns:a16="http://schemas.microsoft.com/office/drawing/2014/main" id="{39CB8A3C-2631-D3AD-B62C-35C7AE407285}"/>
                  </a:ext>
                </a:extLst>
              </p:cNvPr>
              <p:cNvSpPr>
                <a:spLocks noGrp="1"/>
              </p:cNvSpPr>
              <p:nvPr>
                <p:ph idx="1"/>
              </p:nvPr>
            </p:nvSpPr>
            <p:spPr>
              <a:xfrm>
                <a:off x="838200" y="1579419"/>
                <a:ext cx="5257800" cy="3962949"/>
              </a:xfrm>
            </p:spPr>
            <p:txBody>
              <a:bodyPr vert="horz" lIns="91440" tIns="45720" rIns="91440" bIns="45720" rtlCol="0" anchor="t">
                <a:normAutofit/>
              </a:bodyPr>
              <a:lstStyle/>
              <a:p>
                <a:pPr marL="285750" indent="-285750">
                  <a:lnSpc>
                    <a:spcPct val="100000"/>
                  </a:lnSpc>
                  <a:spcBef>
                    <a:spcPts val="0"/>
                  </a:spcBef>
                  <a:spcAft>
                    <a:spcPts val="1200"/>
                  </a:spcAft>
                  <a:buFont typeface="Arial" panose="020B0604020202020204" pitchFamily="34" charset="0"/>
                  <a:buChar char="•"/>
                </a:pPr>
                <a:r>
                  <a:rPr lang="en-US" sz="2800" dirty="0">
                    <a:solidFill>
                      <a:srgbClr val="282828"/>
                    </a:solidFill>
                    <a:latin typeface="Aptos"/>
                    <a:ea typeface="Cambria Math"/>
                  </a:rPr>
                  <a:t>Start with </a:t>
                </a:r>
                <a14:m>
                  <m:oMath xmlns:m="http://schemas.openxmlformats.org/officeDocument/2006/math">
                    <m:sSub>
                      <m:sSubPr>
                        <m:ctrlPr>
                          <a:rPr lang="en-US" sz="2800" b="0" i="1" smtClean="0">
                            <a:solidFill>
                              <a:srgbClr val="282828"/>
                            </a:solidFill>
                            <a:latin typeface="Cambria Math" panose="02040503050406030204" pitchFamily="18" charset="0"/>
                            <a:ea typeface="Cambria Math"/>
                          </a:rPr>
                        </m:ctrlPr>
                      </m:sSubPr>
                      <m:e>
                        <m:r>
                          <a:rPr lang="en-US" sz="2800" b="0" i="1" smtClean="0">
                            <a:solidFill>
                              <a:srgbClr val="282828"/>
                            </a:solidFill>
                            <a:latin typeface="Cambria Math" panose="02040503050406030204" pitchFamily="18" charset="0"/>
                            <a:ea typeface="Cambria Math"/>
                          </a:rPr>
                          <m:t>𝐾</m:t>
                        </m:r>
                      </m:e>
                      <m:sub>
                        <m:r>
                          <a:rPr lang="en-US" sz="2800" b="0" i="1" smtClean="0">
                            <a:solidFill>
                              <a:srgbClr val="282828"/>
                            </a:solidFill>
                            <a:latin typeface="Cambria Math" panose="02040503050406030204" pitchFamily="18" charset="0"/>
                            <a:ea typeface="Cambria Math"/>
                          </a:rPr>
                          <m:t>𝑝</m:t>
                        </m:r>
                      </m:sub>
                    </m:sSub>
                  </m:oMath>
                </a14:m>
                <a:r>
                  <a:rPr lang="en-US" sz="2800" dirty="0">
                    <a:solidFill>
                      <a:srgbClr val="282828"/>
                    </a:solidFill>
                    <a:latin typeface="Aptos"/>
                    <a:ea typeface="Cambria Math"/>
                  </a:rPr>
                  <a:t> = 0 and </a:t>
                </a:r>
                <a:r>
                  <a:rPr lang="en-US" sz="2800" dirty="0">
                    <a:solidFill>
                      <a:srgbClr val="282828"/>
                    </a:solidFill>
                    <a:ea typeface="Cambria Math"/>
                  </a:rPr>
                  <a:t> </a:t>
                </a:r>
                <a14:m>
                  <m:oMath xmlns:m="http://schemas.openxmlformats.org/officeDocument/2006/math">
                    <m:sSub>
                      <m:sSubPr>
                        <m:ctrlPr>
                          <a:rPr lang="en-US" sz="2800" i="1">
                            <a:solidFill>
                              <a:srgbClr val="282828"/>
                            </a:solidFill>
                            <a:latin typeface="Cambria Math" panose="02040503050406030204" pitchFamily="18" charset="0"/>
                            <a:ea typeface="Cambria Math"/>
                          </a:rPr>
                        </m:ctrlPr>
                      </m:sSubPr>
                      <m:e>
                        <m:r>
                          <a:rPr lang="en-US" sz="2800" i="1">
                            <a:solidFill>
                              <a:srgbClr val="282828"/>
                            </a:solidFill>
                            <a:latin typeface="Cambria Math" panose="02040503050406030204" pitchFamily="18" charset="0"/>
                            <a:ea typeface="Cambria Math"/>
                          </a:rPr>
                          <m:t>𝐾</m:t>
                        </m:r>
                      </m:e>
                      <m:sub>
                        <m:r>
                          <a:rPr lang="en-US" sz="2800" b="0" i="1" smtClean="0">
                            <a:solidFill>
                              <a:srgbClr val="282828"/>
                            </a:solidFill>
                            <a:latin typeface="Cambria Math" panose="02040503050406030204" pitchFamily="18" charset="0"/>
                            <a:ea typeface="Cambria Math"/>
                          </a:rPr>
                          <m:t>𝑑</m:t>
                        </m:r>
                      </m:sub>
                    </m:sSub>
                  </m:oMath>
                </a14:m>
                <a:r>
                  <a:rPr lang="en-US" sz="2800" dirty="0">
                    <a:solidFill>
                      <a:srgbClr val="282828"/>
                    </a:solidFill>
                    <a:latin typeface="Aptos"/>
                    <a:ea typeface="Cambria Math"/>
                  </a:rPr>
                  <a:t> = 0</a:t>
                </a:r>
              </a:p>
              <a:p>
                <a:pPr marL="285750" indent="-285750">
                  <a:lnSpc>
                    <a:spcPct val="100000"/>
                  </a:lnSpc>
                  <a:spcBef>
                    <a:spcPts val="0"/>
                  </a:spcBef>
                  <a:spcAft>
                    <a:spcPts val="1200"/>
                  </a:spcAft>
                  <a:buFont typeface="Arial" panose="020B0604020202020204" pitchFamily="34" charset="0"/>
                  <a:buChar char="•"/>
                </a:pPr>
                <a:r>
                  <a:rPr lang="en-US" sz="2800" dirty="0">
                    <a:solidFill>
                      <a:srgbClr val="282828"/>
                    </a:solidFill>
                    <a:latin typeface="Aptos"/>
                    <a:ea typeface="Cambria Math"/>
                  </a:rPr>
                  <a:t>Increase </a:t>
                </a:r>
                <a14:m>
                  <m:oMath xmlns:m="http://schemas.openxmlformats.org/officeDocument/2006/math">
                    <m:sSub>
                      <m:sSubPr>
                        <m:ctrlPr>
                          <a:rPr lang="en-US" sz="2800" i="1">
                            <a:solidFill>
                              <a:srgbClr val="282828"/>
                            </a:solidFill>
                            <a:latin typeface="Cambria Math" panose="02040503050406030204" pitchFamily="18" charset="0"/>
                            <a:ea typeface="Cambria Math"/>
                          </a:rPr>
                        </m:ctrlPr>
                      </m:sSubPr>
                      <m:e>
                        <m:r>
                          <a:rPr lang="en-US" sz="2800" i="1">
                            <a:solidFill>
                              <a:srgbClr val="282828"/>
                            </a:solidFill>
                            <a:latin typeface="Cambria Math" panose="02040503050406030204" pitchFamily="18" charset="0"/>
                            <a:ea typeface="Cambria Math"/>
                          </a:rPr>
                          <m:t>𝐾</m:t>
                        </m:r>
                      </m:e>
                      <m:sub>
                        <m:r>
                          <a:rPr lang="en-US" sz="2800" i="1">
                            <a:solidFill>
                              <a:srgbClr val="282828"/>
                            </a:solidFill>
                            <a:latin typeface="Cambria Math" panose="02040503050406030204" pitchFamily="18" charset="0"/>
                            <a:ea typeface="Cambria Math"/>
                          </a:rPr>
                          <m:t>𝑝</m:t>
                        </m:r>
                      </m:sub>
                    </m:sSub>
                  </m:oMath>
                </a14:m>
                <a:r>
                  <a:rPr lang="en-US" sz="2800" dirty="0">
                    <a:solidFill>
                      <a:srgbClr val="282828"/>
                    </a:solidFill>
                    <a:latin typeface="Aptos"/>
                    <a:ea typeface="Cambria Math"/>
                  </a:rPr>
                  <a:t> to get a responsive </a:t>
                </a:r>
                <a:r>
                  <a:rPr lang="en-US" sz="2800" dirty="0">
                    <a:solidFill>
                      <a:srgbClr val="282828"/>
                    </a:solidFill>
                    <a:latin typeface="Aptos"/>
                  </a:rPr>
                  <a:t>loop</a:t>
                </a:r>
              </a:p>
              <a:p>
                <a:pPr marL="285750" indent="-285750">
                  <a:lnSpc>
                    <a:spcPct val="100000"/>
                  </a:lnSpc>
                  <a:spcBef>
                    <a:spcPts val="0"/>
                  </a:spcBef>
                  <a:spcAft>
                    <a:spcPts val="1200"/>
                  </a:spcAft>
                  <a:buFont typeface="Arial" panose="020B0604020202020204" pitchFamily="34" charset="0"/>
                  <a:buChar char="•"/>
                </a:pPr>
                <a:r>
                  <a:rPr lang="en-US" sz="2800" dirty="0">
                    <a:solidFill>
                      <a:srgbClr val="282828"/>
                    </a:solidFill>
                    <a:latin typeface="Aptos"/>
                  </a:rPr>
                  <a:t>Add </a:t>
                </a:r>
                <a14:m>
                  <m:oMath xmlns:m="http://schemas.openxmlformats.org/officeDocument/2006/math">
                    <m:sSub>
                      <m:sSubPr>
                        <m:ctrlPr>
                          <a:rPr lang="en-US" sz="2800" i="1">
                            <a:solidFill>
                              <a:srgbClr val="282828"/>
                            </a:solidFill>
                            <a:latin typeface="Cambria Math" panose="02040503050406030204" pitchFamily="18" charset="0"/>
                            <a:ea typeface="Cambria Math"/>
                          </a:rPr>
                        </m:ctrlPr>
                      </m:sSubPr>
                      <m:e>
                        <m:r>
                          <a:rPr lang="en-US" sz="2800" i="1">
                            <a:solidFill>
                              <a:srgbClr val="282828"/>
                            </a:solidFill>
                            <a:latin typeface="Cambria Math" panose="02040503050406030204" pitchFamily="18" charset="0"/>
                            <a:ea typeface="Cambria Math"/>
                          </a:rPr>
                          <m:t>𝐾</m:t>
                        </m:r>
                      </m:e>
                      <m:sub>
                        <m:r>
                          <a:rPr lang="en-US" sz="2800" b="0" i="1" smtClean="0">
                            <a:solidFill>
                              <a:srgbClr val="282828"/>
                            </a:solidFill>
                            <a:latin typeface="Cambria Math" panose="02040503050406030204" pitchFamily="18" charset="0"/>
                            <a:ea typeface="Cambria Math"/>
                          </a:rPr>
                          <m:t>𝑖</m:t>
                        </m:r>
                      </m:sub>
                    </m:sSub>
                  </m:oMath>
                </a14:m>
                <a:r>
                  <a:rPr lang="en-US" sz="2800" dirty="0">
                    <a:solidFill>
                      <a:srgbClr val="282828"/>
                    </a:solidFill>
                    <a:latin typeface="Aptos"/>
                    <a:ea typeface="Cambria Math"/>
                  </a:rPr>
                  <a:t> </a:t>
                </a:r>
                <a:r>
                  <a:rPr lang="en-US" sz="2800" dirty="0">
                    <a:solidFill>
                      <a:srgbClr val="282828"/>
                    </a:solidFill>
                    <a:latin typeface="Aptos"/>
                  </a:rPr>
                  <a:t>to remove residual offset</a:t>
                </a:r>
              </a:p>
              <a:p>
                <a:pPr marL="285750" indent="-285750">
                  <a:lnSpc>
                    <a:spcPct val="100000"/>
                  </a:lnSpc>
                  <a:spcBef>
                    <a:spcPts val="0"/>
                  </a:spcBef>
                  <a:spcAft>
                    <a:spcPts val="1200"/>
                  </a:spcAft>
                  <a:buFont typeface="Arial" panose="020B0604020202020204" pitchFamily="34" charset="0"/>
                  <a:buChar char="•"/>
                </a:pPr>
                <a:r>
                  <a:rPr lang="en-US" sz="2800" dirty="0">
                    <a:solidFill>
                      <a:srgbClr val="282828"/>
                    </a:solidFill>
                    <a:latin typeface="Aptos"/>
                  </a:rPr>
                  <a:t>Add small </a:t>
                </a:r>
                <a14:m>
                  <m:oMath xmlns:m="http://schemas.openxmlformats.org/officeDocument/2006/math">
                    <m:sSub>
                      <m:sSubPr>
                        <m:ctrlPr>
                          <a:rPr lang="en-US" sz="2800" i="1">
                            <a:solidFill>
                              <a:srgbClr val="282828"/>
                            </a:solidFill>
                            <a:latin typeface="Cambria Math" panose="02040503050406030204" pitchFamily="18" charset="0"/>
                            <a:ea typeface="Cambria Math"/>
                          </a:rPr>
                        </m:ctrlPr>
                      </m:sSubPr>
                      <m:e>
                        <m:r>
                          <a:rPr lang="en-US" sz="2800" i="1">
                            <a:solidFill>
                              <a:srgbClr val="282828"/>
                            </a:solidFill>
                            <a:latin typeface="Cambria Math" panose="02040503050406030204" pitchFamily="18" charset="0"/>
                            <a:ea typeface="Cambria Math"/>
                          </a:rPr>
                          <m:t>𝐾</m:t>
                        </m:r>
                      </m:e>
                      <m:sub>
                        <m:r>
                          <a:rPr lang="en-US" sz="2800" b="0" i="1" smtClean="0">
                            <a:solidFill>
                              <a:srgbClr val="282828"/>
                            </a:solidFill>
                            <a:latin typeface="Cambria Math" panose="02040503050406030204" pitchFamily="18" charset="0"/>
                            <a:ea typeface="Cambria Math"/>
                          </a:rPr>
                          <m:t>𝑑</m:t>
                        </m:r>
                      </m:sub>
                    </m:sSub>
                  </m:oMath>
                </a14:m>
                <a:r>
                  <a:rPr lang="en-US" sz="2800" dirty="0">
                    <a:solidFill>
                      <a:srgbClr val="282828"/>
                    </a:solidFill>
                    <a:latin typeface="Aptos"/>
                    <a:ea typeface="Cambria Math"/>
                  </a:rPr>
                  <a:t> </a:t>
                </a:r>
                <a:r>
                  <a:rPr lang="en-US" sz="2800" dirty="0">
                    <a:solidFill>
                      <a:srgbClr val="282828"/>
                    </a:solidFill>
                    <a:latin typeface="Aptos"/>
                  </a:rPr>
                  <a:t>only if overshoot needs damping</a:t>
                </a:r>
              </a:p>
            </p:txBody>
          </p:sp>
        </mc:Choice>
        <mc:Fallback>
          <p:sp>
            <p:nvSpPr>
              <p:cNvPr id="7" name="Content Placeholder 2">
                <a:extLst>
                  <a:ext uri="{FF2B5EF4-FFF2-40B4-BE49-F238E27FC236}">
                    <a16:creationId xmlns:a16="http://schemas.microsoft.com/office/drawing/2014/main" id="{39CB8A3C-2631-D3AD-B62C-35C7AE407285}"/>
                  </a:ext>
                </a:extLst>
              </p:cNvPr>
              <p:cNvSpPr>
                <a:spLocks noGrp="1" noRot="1" noChangeAspect="1" noMove="1" noResize="1" noEditPoints="1" noAdjustHandles="1" noChangeArrowheads="1" noChangeShapeType="1" noTextEdit="1"/>
              </p:cNvSpPr>
              <p:nvPr>
                <p:ph idx="1"/>
              </p:nvPr>
            </p:nvSpPr>
            <p:spPr>
              <a:xfrm>
                <a:off x="838200" y="1579419"/>
                <a:ext cx="5257800" cy="3962949"/>
              </a:xfrm>
              <a:blipFill>
                <a:blip r:embed="rId3"/>
                <a:stretch>
                  <a:fillRect l="-2088" t="-1231" r="-2668"/>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9EA7DA00-B770-694B-F826-5502E550AEA6}"/>
              </a:ext>
            </a:extLst>
          </p:cNvPr>
          <p:cNvPicPr>
            <a:picLocks noChangeAspect="1"/>
          </p:cNvPicPr>
          <p:nvPr/>
        </p:nvPicPr>
        <p:blipFill>
          <a:blip r:embed="rId4"/>
          <a:stretch>
            <a:fillRect/>
          </a:stretch>
        </p:blipFill>
        <p:spPr>
          <a:xfrm>
            <a:off x="6370832" y="822402"/>
            <a:ext cx="5639264" cy="5073805"/>
          </a:xfrm>
          <a:prstGeom prst="rect">
            <a:avLst/>
          </a:prstGeom>
        </p:spPr>
      </p:pic>
    </p:spTree>
    <p:extLst>
      <p:ext uri="{BB962C8B-B14F-4D97-AF65-F5344CB8AC3E}">
        <p14:creationId xmlns:p14="http://schemas.microsoft.com/office/powerpoint/2010/main" val="319871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E4486-99F7-1601-A31A-3FC3D25B501F}"/>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BC09F004-40E5-A5AE-4F83-A6769D50802C}"/>
              </a:ext>
            </a:extLst>
          </p:cNvPr>
          <p:cNvSpPr>
            <a:spLocks noGrp="1"/>
          </p:cNvSpPr>
          <p:nvPr>
            <p:ph type="ftr" sz="quarter" idx="11"/>
          </p:nvPr>
        </p:nvSpPr>
        <p:spPr/>
        <p:txBody>
          <a:bodyPr/>
          <a:lstStyle/>
          <a:p>
            <a:r>
              <a:rPr lang="en-US" dirty="0"/>
              <a:t>CSSC @ </a:t>
            </a:r>
            <a:r>
              <a:rPr lang="en-US" dirty="0" err="1"/>
              <a:t>UTDallas</a:t>
            </a:r>
            <a:endParaRPr lang="en-US" dirty="0"/>
          </a:p>
        </p:txBody>
      </p:sp>
      <p:sp>
        <p:nvSpPr>
          <p:cNvPr id="5" name="Slide Number Placeholder 4">
            <a:extLst>
              <a:ext uri="{FF2B5EF4-FFF2-40B4-BE49-F238E27FC236}">
                <a16:creationId xmlns:a16="http://schemas.microsoft.com/office/drawing/2014/main" id="{FEA6483F-B087-A59B-2D4C-EDB17865A48E}"/>
              </a:ext>
            </a:extLst>
          </p:cNvPr>
          <p:cNvSpPr>
            <a:spLocks noGrp="1"/>
          </p:cNvSpPr>
          <p:nvPr>
            <p:ph type="sldNum" sz="quarter" idx="12"/>
          </p:nvPr>
        </p:nvSpPr>
        <p:spPr/>
        <p:txBody>
          <a:bodyPr/>
          <a:lstStyle/>
          <a:p>
            <a:fld id="{C68DACDF-E1A9-A04C-A5FF-FC2443684BF5}" type="slidenum">
              <a:rPr lang="en-US" smtClean="0"/>
              <a:pPr/>
              <a:t>9</a:t>
            </a:fld>
            <a:endParaRPr lang="en-US" dirty="0"/>
          </a:p>
        </p:txBody>
      </p:sp>
      <p:sp>
        <p:nvSpPr>
          <p:cNvPr id="3" name="Title 1">
            <a:extLst>
              <a:ext uri="{FF2B5EF4-FFF2-40B4-BE49-F238E27FC236}">
                <a16:creationId xmlns:a16="http://schemas.microsoft.com/office/drawing/2014/main" id="{D72F090D-900D-C199-6054-25624373F30A}"/>
              </a:ext>
            </a:extLst>
          </p:cNvPr>
          <p:cNvSpPr>
            <a:spLocks noGrp="1"/>
          </p:cNvSpPr>
          <p:nvPr>
            <p:ph type="title"/>
          </p:nvPr>
        </p:nvSpPr>
        <p:spPr>
          <a:xfrm>
            <a:off x="838200" y="247914"/>
            <a:ext cx="10515600" cy="1157575"/>
          </a:xfrm>
        </p:spPr>
        <p:txBody>
          <a:bodyPr>
            <a:normAutofit/>
          </a:bodyPr>
          <a:lstStyle/>
          <a:p>
            <a:r>
              <a:rPr lang="en-US" sz="4000" dirty="0">
                <a:cs typeface="Arial"/>
              </a:rPr>
              <a:t>Problems with </a:t>
            </a:r>
            <a:r>
              <a:rPr lang="en-US" sz="4000" dirty="0" err="1">
                <a:cs typeface="Arial"/>
              </a:rPr>
              <a:t>K_d</a:t>
            </a:r>
          </a:p>
        </p:txBody>
      </p:sp>
      <mc:AlternateContent xmlns:mc="http://schemas.openxmlformats.org/markup-compatibility/2006">
        <mc:Choice xmlns:a14="http://schemas.microsoft.com/office/drawing/2010/main" Requires="a14">
          <p:sp>
            <p:nvSpPr>
              <p:cNvPr id="7" name="Content Placeholder 2">
                <a:extLst>
                  <a:ext uri="{FF2B5EF4-FFF2-40B4-BE49-F238E27FC236}">
                    <a16:creationId xmlns:a16="http://schemas.microsoft.com/office/drawing/2014/main" id="{C6FCC342-7E8C-F8E9-60AF-6E5FB83814B6}"/>
                  </a:ext>
                </a:extLst>
              </p:cNvPr>
              <p:cNvSpPr>
                <a:spLocks noGrp="1"/>
              </p:cNvSpPr>
              <p:nvPr>
                <p:ph idx="1"/>
              </p:nvPr>
            </p:nvSpPr>
            <p:spPr>
              <a:xfrm>
                <a:off x="838200" y="1579419"/>
                <a:ext cx="10697028" cy="3962949"/>
              </a:xfrm>
            </p:spPr>
            <p:txBody>
              <a:bodyPr vert="horz" lIns="91440" tIns="45720" rIns="91440" bIns="45720" rtlCol="0" anchor="t">
                <a:normAutofit lnSpcReduction="10000"/>
              </a:bodyPr>
              <a:lstStyle/>
              <a:p>
                <a:pPr algn="ctr">
                  <a:lnSpc>
                    <a:spcPct val="100000"/>
                  </a:lnSpc>
                  <a:spcBef>
                    <a:spcPts val="0"/>
                  </a:spcBef>
                  <a:spcAft>
                    <a:spcPts val="1200"/>
                  </a:spcAft>
                </a:pPr>
                <a14:m>
                  <m:oMathPara xmlns:m="http://schemas.openxmlformats.org/officeDocument/2006/math">
                    <m:oMathParaPr>
                      <m:jc m:val="centerGroup"/>
                    </m:oMathParaPr>
                    <m:oMath xmlns:m="http://schemas.openxmlformats.org/officeDocument/2006/math">
                      <m:r>
                        <a:rPr lang="en-US" sz="2800" i="1" dirty="0">
                          <a:solidFill>
                            <a:srgbClr val="282828"/>
                          </a:solidFill>
                          <a:latin typeface="Cambria Math" panose="02040503050406030204" pitchFamily="18" charset="0"/>
                          <a:ea typeface="Cambria Math"/>
                        </a:rPr>
                        <m:t>𝑒</m:t>
                      </m:r>
                      <m:r>
                        <a:rPr lang="en-US" sz="2800" i="1" dirty="0">
                          <a:solidFill>
                            <a:srgbClr val="282828"/>
                          </a:solidFill>
                          <a:latin typeface="Cambria Math" panose="02040503050406030204" pitchFamily="18" charset="0"/>
                          <a:ea typeface="Cambria Math"/>
                        </a:rPr>
                        <m:t>(</m:t>
                      </m:r>
                      <m:r>
                        <a:rPr lang="en-US" sz="2800" i="1" dirty="0">
                          <a:solidFill>
                            <a:srgbClr val="282828"/>
                          </a:solidFill>
                          <a:latin typeface="Cambria Math" panose="02040503050406030204" pitchFamily="18" charset="0"/>
                          <a:ea typeface="Cambria Math"/>
                        </a:rPr>
                        <m:t>𝑡</m:t>
                      </m:r>
                      <m:r>
                        <a:rPr lang="en-US" sz="2800" i="1" dirty="0">
                          <a:solidFill>
                            <a:srgbClr val="282828"/>
                          </a:solidFill>
                          <a:latin typeface="Cambria Math" panose="02040503050406030204" pitchFamily="18" charset="0"/>
                          <a:ea typeface="Cambria Math"/>
                        </a:rPr>
                        <m:t>) = </m:t>
                      </m:r>
                      <m:r>
                        <a:rPr lang="en-US" sz="2800" i="1" dirty="0">
                          <a:solidFill>
                            <a:srgbClr val="282828"/>
                          </a:solidFill>
                          <a:latin typeface="Cambria Math" panose="02040503050406030204" pitchFamily="18" charset="0"/>
                          <a:ea typeface="Cambria Math"/>
                        </a:rPr>
                        <m:t>𝑢</m:t>
                      </m:r>
                      <m:r>
                        <a:rPr lang="en-US" sz="2800" i="1" dirty="0">
                          <a:solidFill>
                            <a:srgbClr val="282828"/>
                          </a:solidFill>
                          <a:latin typeface="Cambria Math" panose="02040503050406030204" pitchFamily="18" charset="0"/>
                          <a:ea typeface="Cambria Math"/>
                        </a:rPr>
                        <m:t>(</m:t>
                      </m:r>
                      <m:r>
                        <a:rPr lang="en-US" sz="2800" i="1" dirty="0">
                          <a:solidFill>
                            <a:srgbClr val="282828"/>
                          </a:solidFill>
                          <a:latin typeface="Cambria Math" panose="02040503050406030204" pitchFamily="18" charset="0"/>
                          <a:ea typeface="Cambria Math"/>
                        </a:rPr>
                        <m:t>𝑡</m:t>
                      </m:r>
                      <m:r>
                        <a:rPr lang="en-US" sz="2800" i="1" dirty="0">
                          <a:solidFill>
                            <a:srgbClr val="282828"/>
                          </a:solidFill>
                          <a:latin typeface="Cambria Math" panose="02040503050406030204" pitchFamily="18" charset="0"/>
                          <a:ea typeface="Cambria Math"/>
                        </a:rPr>
                        <m:t>) − </m:t>
                      </m:r>
                      <m:r>
                        <a:rPr lang="en-US" sz="2800" i="1" dirty="0">
                          <a:solidFill>
                            <a:srgbClr val="282828"/>
                          </a:solidFill>
                          <a:latin typeface="Cambria Math" panose="02040503050406030204" pitchFamily="18" charset="0"/>
                          <a:ea typeface="Cambria Math"/>
                        </a:rPr>
                        <m:t>𝑦</m:t>
                      </m:r>
                      <m:r>
                        <a:rPr lang="en-US" sz="2800" i="1" dirty="0">
                          <a:solidFill>
                            <a:srgbClr val="282828"/>
                          </a:solidFill>
                          <a:latin typeface="Cambria Math" panose="02040503050406030204" pitchFamily="18" charset="0"/>
                          <a:ea typeface="Cambria Math"/>
                        </a:rPr>
                        <m:t>(</m:t>
                      </m:r>
                      <m:r>
                        <a:rPr lang="en-US" sz="2800" i="1" dirty="0">
                          <a:solidFill>
                            <a:srgbClr val="282828"/>
                          </a:solidFill>
                          <a:latin typeface="Cambria Math" panose="02040503050406030204" pitchFamily="18" charset="0"/>
                          <a:ea typeface="Cambria Math"/>
                        </a:rPr>
                        <m:t>𝑡</m:t>
                      </m:r>
                      <m:r>
                        <a:rPr lang="en-US" sz="2800" i="1" dirty="0">
                          <a:solidFill>
                            <a:srgbClr val="282828"/>
                          </a:solidFill>
                          <a:latin typeface="Cambria Math" panose="02040503050406030204" pitchFamily="18" charset="0"/>
                          <a:ea typeface="Cambria Math"/>
                        </a:rPr>
                        <m:t>)</m:t>
                      </m:r>
                    </m:oMath>
                  </m:oMathPara>
                </a14:m>
                <a:endParaRPr lang="en-US" sz="2800" dirty="0"/>
              </a:p>
              <a:p>
                <a:pPr algn="ctr">
                  <a:lnSpc>
                    <a:spcPct val="100000"/>
                  </a:lnSpc>
                  <a:spcBef>
                    <a:spcPts val="0"/>
                  </a:spcBef>
                  <a:spcAft>
                    <a:spcPts val="1200"/>
                  </a:spcAft>
                </a:pPr>
                <a14:m>
                  <m:oMathPara xmlns:m="http://schemas.openxmlformats.org/officeDocument/2006/math">
                    <m:oMathParaPr>
                      <m:jc m:val="centerGroup"/>
                    </m:oMathParaPr>
                    <m:oMath xmlns:m="http://schemas.openxmlformats.org/officeDocument/2006/math">
                      <m:r>
                        <a:rPr lang="en-US" sz="2800" i="1" dirty="0">
                          <a:solidFill>
                            <a:srgbClr val="282828"/>
                          </a:solidFill>
                          <a:latin typeface="Cambria Math" panose="02040503050406030204" pitchFamily="18" charset="0"/>
                          <a:ea typeface="Cambria Math"/>
                        </a:rPr>
                        <m:t>𝑐</m:t>
                      </m:r>
                      <m:d>
                        <m:dPr>
                          <m:ctrlPr>
                            <a:rPr lang="en-US" sz="2800" i="1" dirty="0">
                              <a:solidFill>
                                <a:srgbClr val="282828"/>
                              </a:solidFill>
                              <a:latin typeface="Cambria Math" panose="02040503050406030204" pitchFamily="18" charset="0"/>
                              <a:ea typeface="Cambria Math"/>
                            </a:rPr>
                          </m:ctrlPr>
                        </m:dPr>
                        <m:e>
                          <m:r>
                            <a:rPr lang="en-US" sz="2800" i="1" dirty="0">
                              <a:solidFill>
                                <a:srgbClr val="282828"/>
                              </a:solidFill>
                              <a:latin typeface="Cambria Math" panose="02040503050406030204" pitchFamily="18" charset="0"/>
                              <a:ea typeface="Cambria Math"/>
                            </a:rPr>
                            <m:t>𝑡</m:t>
                          </m:r>
                        </m:e>
                      </m:d>
                      <m:r>
                        <a:rPr lang="en-US" sz="2800" i="1" dirty="0">
                          <a:solidFill>
                            <a:srgbClr val="282828"/>
                          </a:solidFill>
                          <a:latin typeface="Cambria Math" panose="02040503050406030204" pitchFamily="18" charset="0"/>
                          <a:ea typeface="Cambria Math"/>
                        </a:rPr>
                        <m:t>=</m:t>
                      </m:r>
                      <m:r>
                        <a:rPr lang="en-US" sz="2800" i="1" dirty="0">
                          <a:solidFill>
                            <a:srgbClr val="282828"/>
                          </a:solidFill>
                          <a:latin typeface="Cambria Math" panose="02040503050406030204" pitchFamily="18" charset="0"/>
                          <a:ea typeface="Cambria Math"/>
                        </a:rPr>
                        <m:t>𝑃𝑒</m:t>
                      </m:r>
                      <m:d>
                        <m:dPr>
                          <m:ctrlPr>
                            <a:rPr lang="en-US" sz="2800" i="1" dirty="0">
                              <a:solidFill>
                                <a:srgbClr val="282828"/>
                              </a:solidFill>
                              <a:latin typeface="Cambria Math" panose="02040503050406030204" pitchFamily="18" charset="0"/>
                              <a:ea typeface="Cambria Math"/>
                            </a:rPr>
                          </m:ctrlPr>
                        </m:dPr>
                        <m:e>
                          <m:r>
                            <a:rPr lang="en-US" sz="2800" i="1" dirty="0">
                              <a:solidFill>
                                <a:srgbClr val="282828"/>
                              </a:solidFill>
                              <a:latin typeface="Cambria Math" panose="02040503050406030204" pitchFamily="18" charset="0"/>
                              <a:ea typeface="Cambria Math"/>
                            </a:rPr>
                            <m:t>𝑡</m:t>
                          </m:r>
                        </m:e>
                      </m:d>
                      <m:r>
                        <a:rPr lang="en-US" sz="2800" i="1" dirty="0">
                          <a:solidFill>
                            <a:srgbClr val="282828"/>
                          </a:solidFill>
                          <a:latin typeface="Cambria Math" panose="02040503050406030204" pitchFamily="18" charset="0"/>
                          <a:ea typeface="Cambria Math"/>
                        </a:rPr>
                        <m:t>+</m:t>
                      </m:r>
                      <m:r>
                        <a:rPr lang="en-US" sz="2800" i="1" dirty="0">
                          <a:solidFill>
                            <a:srgbClr val="282828"/>
                          </a:solidFill>
                          <a:latin typeface="Cambria Math" panose="02040503050406030204" pitchFamily="18" charset="0"/>
                          <a:ea typeface="Cambria Math"/>
                        </a:rPr>
                        <m:t>𝐼</m:t>
                      </m:r>
                      <m:nary>
                        <m:naryPr>
                          <m:ctrlPr>
                            <a:rPr lang="en-US" sz="2800" i="1" dirty="0">
                              <a:solidFill>
                                <a:srgbClr val="282828"/>
                              </a:solidFill>
                              <a:latin typeface="Cambria Math" panose="02040503050406030204" pitchFamily="18" charset="0"/>
                              <a:ea typeface="Cambria Math"/>
                            </a:rPr>
                          </m:ctrlPr>
                        </m:naryPr>
                        <m:sub>
                          <m:r>
                            <m:rPr>
                              <m:brk m:alnAt="23"/>
                            </m:rPr>
                            <a:rPr lang="en-US" sz="2800" i="1" dirty="0">
                              <a:solidFill>
                                <a:srgbClr val="282828"/>
                              </a:solidFill>
                              <a:latin typeface="Cambria Math" panose="02040503050406030204" pitchFamily="18" charset="0"/>
                              <a:ea typeface="Cambria Math"/>
                            </a:rPr>
                            <m:t>0</m:t>
                          </m:r>
                        </m:sub>
                        <m:sup>
                          <m:r>
                            <a:rPr lang="en-US" sz="2800" i="1" dirty="0">
                              <a:solidFill>
                                <a:srgbClr val="282828"/>
                              </a:solidFill>
                              <a:latin typeface="Cambria Math" panose="02040503050406030204" pitchFamily="18" charset="0"/>
                              <a:ea typeface="Cambria Math"/>
                            </a:rPr>
                            <m:t>𝑡</m:t>
                          </m:r>
                        </m:sup>
                        <m:e>
                          <m:r>
                            <a:rPr lang="en-US" sz="2800" i="1" dirty="0">
                              <a:solidFill>
                                <a:srgbClr val="282828"/>
                              </a:solidFill>
                              <a:latin typeface="Cambria Math" panose="02040503050406030204" pitchFamily="18" charset="0"/>
                              <a:ea typeface="Cambria Math"/>
                            </a:rPr>
                            <m:t>𝑒</m:t>
                          </m:r>
                          <m:d>
                            <m:dPr>
                              <m:ctrlPr>
                                <a:rPr lang="en-US" sz="2800" i="1" dirty="0">
                                  <a:solidFill>
                                    <a:srgbClr val="282828"/>
                                  </a:solidFill>
                                  <a:latin typeface="Cambria Math" panose="02040503050406030204" pitchFamily="18" charset="0"/>
                                  <a:ea typeface="Cambria Math"/>
                                </a:rPr>
                              </m:ctrlPr>
                            </m:dPr>
                            <m:e>
                              <m:r>
                                <a:rPr lang="en-US" sz="2800" i="1" dirty="0">
                                  <a:solidFill>
                                    <a:srgbClr val="282828"/>
                                  </a:solidFill>
                                  <a:latin typeface="Cambria Math" panose="02040503050406030204" pitchFamily="18" charset="0"/>
                                  <a:ea typeface="Cambria Math"/>
                                </a:rPr>
                                <m:t>𝜏</m:t>
                              </m:r>
                            </m:e>
                          </m:d>
                          <m:r>
                            <a:rPr lang="en-US" sz="2800" i="1" dirty="0">
                              <a:solidFill>
                                <a:srgbClr val="282828"/>
                              </a:solidFill>
                              <a:latin typeface="Cambria Math" panose="02040503050406030204" pitchFamily="18" charset="0"/>
                              <a:ea typeface="Cambria Math"/>
                            </a:rPr>
                            <m:t>𝑑</m:t>
                          </m:r>
                          <m:r>
                            <a:rPr lang="en-US" sz="2800" i="1" dirty="0">
                              <a:solidFill>
                                <a:srgbClr val="282828"/>
                              </a:solidFill>
                              <a:latin typeface="Cambria Math" panose="02040503050406030204" pitchFamily="18" charset="0"/>
                              <a:ea typeface="Cambria Math"/>
                            </a:rPr>
                            <m:t>𝜏</m:t>
                          </m:r>
                        </m:e>
                      </m:nary>
                      <m:r>
                        <a:rPr lang="en-US" sz="2800" i="1" dirty="0">
                          <a:solidFill>
                            <a:srgbClr val="282828"/>
                          </a:solidFill>
                          <a:latin typeface="Cambria Math" panose="02040503050406030204" pitchFamily="18" charset="0"/>
                          <a:ea typeface="Cambria Math"/>
                        </a:rPr>
                        <m:t>+</m:t>
                      </m:r>
                      <m:r>
                        <a:rPr lang="en-US" sz="2800" i="1" dirty="0">
                          <a:solidFill>
                            <a:srgbClr val="282828"/>
                          </a:solidFill>
                          <a:latin typeface="Cambria Math" panose="02040503050406030204" pitchFamily="18" charset="0"/>
                          <a:ea typeface="Cambria Math"/>
                        </a:rPr>
                        <m:t>𝐷</m:t>
                      </m:r>
                      <m:f>
                        <m:fPr>
                          <m:ctrlPr>
                            <a:rPr lang="en-US" sz="2800" i="1" dirty="0">
                              <a:solidFill>
                                <a:srgbClr val="282828"/>
                              </a:solidFill>
                              <a:latin typeface="Cambria Math" panose="02040503050406030204" pitchFamily="18" charset="0"/>
                              <a:ea typeface="Cambria Math"/>
                            </a:rPr>
                          </m:ctrlPr>
                        </m:fPr>
                        <m:num>
                          <m:r>
                            <a:rPr lang="en-US" sz="2800" i="1" dirty="0">
                              <a:solidFill>
                                <a:srgbClr val="282828"/>
                              </a:solidFill>
                              <a:latin typeface="Cambria Math" panose="02040503050406030204" pitchFamily="18" charset="0"/>
                              <a:ea typeface="Cambria Math"/>
                            </a:rPr>
                            <m:t>𝑑𝑒</m:t>
                          </m:r>
                          <m:d>
                            <m:dPr>
                              <m:ctrlPr>
                                <a:rPr lang="en-US" sz="2800" i="1" dirty="0">
                                  <a:solidFill>
                                    <a:srgbClr val="282828"/>
                                  </a:solidFill>
                                  <a:latin typeface="Cambria Math" panose="02040503050406030204" pitchFamily="18" charset="0"/>
                                  <a:ea typeface="Cambria Math"/>
                                </a:rPr>
                              </m:ctrlPr>
                            </m:dPr>
                            <m:e>
                              <m:r>
                                <a:rPr lang="en-US" sz="2800" i="1" dirty="0">
                                  <a:solidFill>
                                    <a:srgbClr val="282828"/>
                                  </a:solidFill>
                                  <a:latin typeface="Cambria Math" panose="02040503050406030204" pitchFamily="18" charset="0"/>
                                  <a:ea typeface="Cambria Math"/>
                                </a:rPr>
                                <m:t>𝑡</m:t>
                              </m:r>
                            </m:e>
                          </m:d>
                        </m:num>
                        <m:den>
                          <m:r>
                            <a:rPr lang="en-US" sz="2800" i="1" dirty="0">
                              <a:solidFill>
                                <a:srgbClr val="282828"/>
                              </a:solidFill>
                              <a:latin typeface="Cambria Math" panose="02040503050406030204" pitchFamily="18" charset="0"/>
                              <a:ea typeface="Cambria Math"/>
                            </a:rPr>
                            <m:t>𝑑𝑡</m:t>
                          </m:r>
                        </m:den>
                      </m:f>
                    </m:oMath>
                  </m:oMathPara>
                </a14:m>
                <a:endParaRPr lang="en-US" sz="2800" dirty="0">
                  <a:solidFill>
                    <a:srgbClr val="282828"/>
                  </a:solidFill>
                  <a:latin typeface="Aptos"/>
                  <a:ea typeface="Cambria Math"/>
                </a:endParaRPr>
              </a:p>
              <a:p>
                <a:pPr marL="285750" indent="-285750">
                  <a:lnSpc>
                    <a:spcPct val="100000"/>
                  </a:lnSpc>
                  <a:spcBef>
                    <a:spcPts val="0"/>
                  </a:spcBef>
                  <a:spcAft>
                    <a:spcPts val="1200"/>
                  </a:spcAft>
                  <a:buFont typeface="Arial" panose="020B0604020202020204" pitchFamily="34" charset="0"/>
                  <a:buChar char="•"/>
                </a:pPr>
                <a:r>
                  <a:rPr lang="en-US" sz="2800" dirty="0">
                    <a:solidFill>
                      <a:srgbClr val="282828"/>
                    </a:solidFill>
                    <a:latin typeface="Aptos"/>
                    <a:ea typeface="Cambria Math"/>
                  </a:rPr>
                  <a:t>Derivative amplifies measurement noise</a:t>
                </a:r>
                <a:endParaRPr lang="en-US" dirty="0"/>
              </a:p>
              <a:p>
                <a:pPr marL="285750" indent="-285750">
                  <a:lnSpc>
                    <a:spcPct val="100000"/>
                  </a:lnSpc>
                  <a:spcBef>
                    <a:spcPts val="0"/>
                  </a:spcBef>
                  <a:spcAft>
                    <a:spcPts val="1200"/>
                  </a:spcAft>
                  <a:buFont typeface="Arial" panose="020B0604020202020204" pitchFamily="34" charset="0"/>
                  <a:buChar char="•"/>
                </a:pPr>
                <a:r>
                  <a:rPr lang="en-US" sz="2800" dirty="0">
                    <a:solidFill>
                      <a:srgbClr val="282828"/>
                    </a:solidFill>
                    <a:latin typeface="Aptos"/>
                    <a:ea typeface="Cambria Math"/>
                  </a:rPr>
                  <a:t>Setpoint steps can create derivative kick</a:t>
                </a:r>
              </a:p>
              <a:p>
                <a:pPr marL="285750" indent="-285750">
                  <a:lnSpc>
                    <a:spcPct val="100000"/>
                  </a:lnSpc>
                  <a:spcBef>
                    <a:spcPts val="0"/>
                  </a:spcBef>
                  <a:spcAft>
                    <a:spcPts val="1200"/>
                  </a:spcAft>
                  <a:buFont typeface="Arial" panose="020B0604020202020204" pitchFamily="34" charset="0"/>
                  <a:buChar char="•"/>
                </a:pPr>
                <a:r>
                  <a:rPr lang="en-US" sz="2800" dirty="0">
                    <a:solidFill>
                      <a:srgbClr val="282828"/>
                    </a:solidFill>
                    <a:latin typeface="Aptos"/>
                    <a:ea typeface="Cambria Math"/>
                  </a:rPr>
                  <a:t>Filtering helps but adds lag</a:t>
                </a:r>
              </a:p>
              <a:p>
                <a:pPr marL="285750" indent="-285750">
                  <a:lnSpc>
                    <a:spcPct val="100000"/>
                  </a:lnSpc>
                  <a:spcBef>
                    <a:spcPts val="0"/>
                  </a:spcBef>
                  <a:spcAft>
                    <a:spcPts val="1200"/>
                  </a:spcAft>
                  <a:buFont typeface="Arial" panose="020B0604020202020204" pitchFamily="34" charset="0"/>
                  <a:buChar char="•"/>
                </a:pPr>
                <a:r>
                  <a:rPr lang="en-US" sz="2800" dirty="0">
                    <a:solidFill>
                      <a:srgbClr val="282828"/>
                    </a:solidFill>
                    <a:latin typeface="Aptos"/>
                    <a:ea typeface="Cambria Math"/>
                  </a:rPr>
                  <a:t>Many noisy loops use PI instead of full PID</a:t>
                </a:r>
              </a:p>
              <a:p>
                <a:pPr marL="285750" indent="-285750">
                  <a:lnSpc>
                    <a:spcPct val="100000"/>
                  </a:lnSpc>
                  <a:spcBef>
                    <a:spcPts val="0"/>
                  </a:spcBef>
                  <a:spcAft>
                    <a:spcPts val="1200"/>
                  </a:spcAft>
                  <a:buFont typeface="Arial" panose="020B0604020202020204" pitchFamily="34" charset="0"/>
                  <a:buChar char="•"/>
                </a:pPr>
                <a:endParaRPr lang="en-US" sz="3600" dirty="0">
                  <a:solidFill>
                    <a:srgbClr val="282828"/>
                  </a:solidFill>
                  <a:latin typeface="Aptos"/>
                  <a:ea typeface="Cambria Math"/>
                </a:endParaRPr>
              </a:p>
            </p:txBody>
          </p:sp>
        </mc:Choice>
        <mc:Fallback>
          <p:sp>
            <p:nvSpPr>
              <p:cNvPr id="7" name="Content Placeholder 2">
                <a:extLst>
                  <a:ext uri="{FF2B5EF4-FFF2-40B4-BE49-F238E27FC236}">
                    <a16:creationId xmlns:a16="http://schemas.microsoft.com/office/drawing/2014/main" id="{C6FCC342-7E8C-F8E9-60AF-6E5FB83814B6}"/>
                  </a:ext>
                </a:extLst>
              </p:cNvPr>
              <p:cNvSpPr>
                <a:spLocks noGrp="1" noRot="1" noChangeAspect="1" noMove="1" noResize="1" noEditPoints="1" noAdjustHandles="1" noChangeArrowheads="1" noChangeShapeType="1" noTextEdit="1"/>
              </p:cNvSpPr>
              <p:nvPr>
                <p:ph idx="1"/>
              </p:nvPr>
            </p:nvSpPr>
            <p:spPr>
              <a:xfrm>
                <a:off x="838200" y="1579419"/>
                <a:ext cx="10697028" cy="3962949"/>
              </a:xfrm>
              <a:blipFill>
                <a:blip r:embed="rId3"/>
                <a:stretch>
                  <a:fillRect l="-1026"/>
                </a:stretch>
              </a:blipFill>
            </p:spPr>
            <p:txBody>
              <a:bodyPr/>
              <a:lstStyle/>
              <a:p>
                <a:r>
                  <a:rPr lang="en-US">
                    <a:noFill/>
                  </a:rPr>
                  <a:t> </a:t>
                </a:r>
              </a:p>
            </p:txBody>
          </p:sp>
        </mc:Fallback>
      </mc:AlternateContent>
    </p:spTree>
    <p:extLst>
      <p:ext uri="{BB962C8B-B14F-4D97-AF65-F5344CB8AC3E}">
        <p14:creationId xmlns:p14="http://schemas.microsoft.com/office/powerpoint/2010/main" val="4548367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29A0B-800F-7E92-EBFB-A41D83A5560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46984DD0-DBF2-7A9C-4BA1-C4ACA2A18E96}"/>
              </a:ext>
            </a:extLst>
          </p:cNvPr>
          <p:cNvSpPr>
            <a:spLocks noGrp="1"/>
          </p:cNvSpPr>
          <p:nvPr>
            <p:ph type="ftr" sz="quarter" idx="11"/>
          </p:nvPr>
        </p:nvSpPr>
        <p:spPr/>
        <p:txBody>
          <a:bodyPr/>
          <a:lstStyle/>
          <a:p>
            <a:r>
              <a:rPr lang="en-US" dirty="0"/>
              <a:t>CSSC @ </a:t>
            </a:r>
            <a:r>
              <a:rPr lang="en-US" dirty="0" err="1"/>
              <a:t>UTDallas</a:t>
            </a:r>
            <a:endParaRPr lang="en-US" dirty="0"/>
          </a:p>
        </p:txBody>
      </p:sp>
      <p:sp>
        <p:nvSpPr>
          <p:cNvPr id="5" name="Slide Number Placeholder 4">
            <a:extLst>
              <a:ext uri="{FF2B5EF4-FFF2-40B4-BE49-F238E27FC236}">
                <a16:creationId xmlns:a16="http://schemas.microsoft.com/office/drawing/2014/main" id="{3E3CA680-BC4F-545E-A23B-86CB0A769703}"/>
              </a:ext>
            </a:extLst>
          </p:cNvPr>
          <p:cNvSpPr>
            <a:spLocks noGrp="1"/>
          </p:cNvSpPr>
          <p:nvPr>
            <p:ph type="sldNum" sz="quarter" idx="12"/>
          </p:nvPr>
        </p:nvSpPr>
        <p:spPr/>
        <p:txBody>
          <a:bodyPr/>
          <a:lstStyle/>
          <a:p>
            <a:fld id="{C68DACDF-E1A9-A04C-A5FF-FC2443684BF5}" type="slidenum">
              <a:rPr lang="en-US" smtClean="0"/>
              <a:pPr/>
              <a:t>10</a:t>
            </a:fld>
            <a:endParaRPr lang="en-US" dirty="0"/>
          </a:p>
        </p:txBody>
      </p:sp>
      <p:sp>
        <p:nvSpPr>
          <p:cNvPr id="3" name="Title 1">
            <a:extLst>
              <a:ext uri="{FF2B5EF4-FFF2-40B4-BE49-F238E27FC236}">
                <a16:creationId xmlns:a16="http://schemas.microsoft.com/office/drawing/2014/main" id="{C93EA27B-7B66-9253-2132-A986CED3A4A5}"/>
              </a:ext>
            </a:extLst>
          </p:cNvPr>
          <p:cNvSpPr>
            <a:spLocks noGrp="1"/>
          </p:cNvSpPr>
          <p:nvPr>
            <p:ph type="title"/>
          </p:nvPr>
        </p:nvSpPr>
        <p:spPr>
          <a:xfrm>
            <a:off x="838200" y="247914"/>
            <a:ext cx="10515600" cy="1157575"/>
          </a:xfrm>
        </p:spPr>
        <p:txBody>
          <a:bodyPr>
            <a:normAutofit/>
          </a:bodyPr>
          <a:lstStyle/>
          <a:p>
            <a:r>
              <a:rPr lang="en-US" sz="4000" dirty="0">
                <a:cs typeface="Arial"/>
              </a:rPr>
              <a:t>Integral Anti-Windup</a:t>
            </a:r>
          </a:p>
        </p:txBody>
      </p:sp>
      <p:sp>
        <p:nvSpPr>
          <p:cNvPr id="7" name="Content Placeholder 2">
            <a:extLst>
              <a:ext uri="{FF2B5EF4-FFF2-40B4-BE49-F238E27FC236}">
                <a16:creationId xmlns:a16="http://schemas.microsoft.com/office/drawing/2014/main" id="{9D5747FC-6EC5-60A9-7AC8-DD5C5724A7E2}"/>
              </a:ext>
            </a:extLst>
          </p:cNvPr>
          <p:cNvSpPr>
            <a:spLocks noGrp="1"/>
          </p:cNvSpPr>
          <p:nvPr>
            <p:ph idx="1"/>
          </p:nvPr>
        </p:nvSpPr>
        <p:spPr>
          <a:xfrm>
            <a:off x="838200" y="1579419"/>
            <a:ext cx="10684933" cy="2257521"/>
          </a:xfrm>
        </p:spPr>
        <p:txBody>
          <a:bodyPr vert="horz" lIns="91440" tIns="45720" rIns="91440" bIns="45720" rtlCol="0" anchor="t">
            <a:normAutofit lnSpcReduction="10000"/>
          </a:bodyPr>
          <a:lstStyle/>
          <a:p>
            <a:pPr marL="285750" indent="-285750">
              <a:lnSpc>
                <a:spcPct val="100000"/>
              </a:lnSpc>
              <a:spcBef>
                <a:spcPts val="0"/>
              </a:spcBef>
              <a:spcAft>
                <a:spcPts val="1200"/>
              </a:spcAft>
              <a:buFont typeface="Arial"/>
              <a:buChar char="•"/>
            </a:pPr>
            <a:r>
              <a:rPr lang="en-US" sz="2800" dirty="0">
                <a:solidFill>
                  <a:srgbClr val="282828"/>
                </a:solidFill>
                <a:latin typeface="Aptos"/>
                <a:ea typeface="Cambria Math"/>
                <a:cs typeface="Arial" panose="020B0604020202020204"/>
              </a:rPr>
              <a:t>Windup happens when the actuator saturates</a:t>
            </a:r>
          </a:p>
          <a:p>
            <a:pPr marL="285750" indent="-285750">
              <a:lnSpc>
                <a:spcPct val="100000"/>
              </a:lnSpc>
              <a:spcBef>
                <a:spcPts val="0"/>
              </a:spcBef>
              <a:spcAft>
                <a:spcPts val="1200"/>
              </a:spcAft>
              <a:buFont typeface="Arial"/>
              <a:buChar char="•"/>
            </a:pPr>
            <a:r>
              <a:rPr lang="en-US" sz="2800" dirty="0">
                <a:solidFill>
                  <a:srgbClr val="282828"/>
                </a:solidFill>
                <a:latin typeface="Aptos"/>
                <a:ea typeface="Cambria Math"/>
                <a:cs typeface="Arial" panose="020B0604020202020204"/>
              </a:rPr>
              <a:t>The integrator keeps accumulating error</a:t>
            </a:r>
          </a:p>
          <a:p>
            <a:pPr marL="285750" indent="-285750">
              <a:lnSpc>
                <a:spcPct val="100000"/>
              </a:lnSpc>
              <a:spcBef>
                <a:spcPts val="0"/>
              </a:spcBef>
              <a:spcAft>
                <a:spcPts val="1200"/>
              </a:spcAft>
              <a:buFont typeface="Arial"/>
              <a:buChar char="•"/>
            </a:pPr>
            <a:r>
              <a:rPr lang="en-US" sz="2800" dirty="0">
                <a:solidFill>
                  <a:srgbClr val="282828"/>
                </a:solidFill>
                <a:latin typeface="Aptos"/>
                <a:ea typeface="Cambria Math"/>
                <a:cs typeface="Arial" panose="020B0604020202020204"/>
              </a:rPr>
              <a:t>Recovery becomes slow and overshoot grows</a:t>
            </a:r>
          </a:p>
          <a:p>
            <a:pPr marL="285750" indent="-285750">
              <a:lnSpc>
                <a:spcPct val="100000"/>
              </a:lnSpc>
              <a:spcBef>
                <a:spcPts val="0"/>
              </a:spcBef>
              <a:spcAft>
                <a:spcPts val="1200"/>
              </a:spcAft>
              <a:buFont typeface="Arial"/>
              <a:buChar char="•"/>
            </a:pPr>
            <a:r>
              <a:rPr lang="en-US" sz="2800" dirty="0">
                <a:solidFill>
                  <a:srgbClr val="282828"/>
                </a:solidFill>
                <a:latin typeface="Aptos"/>
                <a:ea typeface="Cambria Math"/>
                <a:cs typeface="Arial" panose="020B0604020202020204"/>
              </a:rPr>
              <a:t>Clamp or back-calculate the integrator state</a:t>
            </a:r>
          </a:p>
          <a:p>
            <a:pPr marL="285750" indent="-285750">
              <a:lnSpc>
                <a:spcPct val="100000"/>
              </a:lnSpc>
              <a:spcBef>
                <a:spcPts val="0"/>
              </a:spcBef>
              <a:spcAft>
                <a:spcPts val="1200"/>
              </a:spcAft>
              <a:buFont typeface="Arial"/>
              <a:buChar char="•"/>
            </a:pPr>
            <a:endParaRPr lang="en-US" sz="2800" dirty="0">
              <a:solidFill>
                <a:srgbClr val="282828"/>
              </a:solidFill>
              <a:latin typeface="Aptos"/>
              <a:ea typeface="Cambria Math"/>
              <a:cs typeface="Arial" panose="020B0604020202020204"/>
            </a:endParaRPr>
          </a:p>
        </p:txBody>
      </p:sp>
    </p:spTree>
    <p:extLst>
      <p:ext uri="{BB962C8B-B14F-4D97-AF65-F5344CB8AC3E}">
        <p14:creationId xmlns:p14="http://schemas.microsoft.com/office/powerpoint/2010/main" val="40381454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1D046-C305-404D-55CA-153D84E52850}"/>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4747B517-9D55-3BA8-0509-E1DF11DE3F65}"/>
              </a:ext>
            </a:extLst>
          </p:cNvPr>
          <p:cNvSpPr>
            <a:spLocks noGrp="1"/>
          </p:cNvSpPr>
          <p:nvPr>
            <p:ph type="ftr" sz="quarter" idx="11"/>
          </p:nvPr>
        </p:nvSpPr>
        <p:spPr/>
        <p:txBody>
          <a:bodyPr/>
          <a:lstStyle/>
          <a:p>
            <a:r>
              <a:rPr lang="en-US" dirty="0"/>
              <a:t>CSSC @ </a:t>
            </a:r>
            <a:r>
              <a:rPr lang="en-US" dirty="0" err="1"/>
              <a:t>UTDallas</a:t>
            </a:r>
            <a:endParaRPr lang="en-US" dirty="0"/>
          </a:p>
        </p:txBody>
      </p:sp>
      <p:sp>
        <p:nvSpPr>
          <p:cNvPr id="5" name="Slide Number Placeholder 4">
            <a:extLst>
              <a:ext uri="{FF2B5EF4-FFF2-40B4-BE49-F238E27FC236}">
                <a16:creationId xmlns:a16="http://schemas.microsoft.com/office/drawing/2014/main" id="{972B25CB-E5DE-0873-815B-D2EA04369989}"/>
              </a:ext>
            </a:extLst>
          </p:cNvPr>
          <p:cNvSpPr>
            <a:spLocks noGrp="1"/>
          </p:cNvSpPr>
          <p:nvPr>
            <p:ph type="sldNum" sz="quarter" idx="12"/>
          </p:nvPr>
        </p:nvSpPr>
        <p:spPr/>
        <p:txBody>
          <a:bodyPr/>
          <a:lstStyle/>
          <a:p>
            <a:fld id="{C68DACDF-E1A9-A04C-A5FF-FC2443684BF5}" type="slidenum">
              <a:rPr lang="en-US" smtClean="0"/>
              <a:pPr/>
              <a:t>11</a:t>
            </a:fld>
            <a:endParaRPr lang="en-US" dirty="0"/>
          </a:p>
        </p:txBody>
      </p:sp>
      <p:sp>
        <p:nvSpPr>
          <p:cNvPr id="3" name="Title 1">
            <a:extLst>
              <a:ext uri="{FF2B5EF4-FFF2-40B4-BE49-F238E27FC236}">
                <a16:creationId xmlns:a16="http://schemas.microsoft.com/office/drawing/2014/main" id="{BBD25163-6100-A884-CFE7-EF9CB1187FE1}"/>
              </a:ext>
            </a:extLst>
          </p:cNvPr>
          <p:cNvSpPr>
            <a:spLocks noGrp="1"/>
          </p:cNvSpPr>
          <p:nvPr>
            <p:ph type="title"/>
          </p:nvPr>
        </p:nvSpPr>
        <p:spPr>
          <a:xfrm>
            <a:off x="838200" y="247914"/>
            <a:ext cx="10515600" cy="1157575"/>
          </a:xfrm>
        </p:spPr>
        <p:txBody>
          <a:bodyPr>
            <a:normAutofit/>
          </a:bodyPr>
          <a:lstStyle/>
          <a:p>
            <a:r>
              <a:rPr lang="en-US" sz="4000" dirty="0">
                <a:cs typeface="Arial"/>
              </a:rPr>
              <a:t>Back-calculation</a:t>
            </a:r>
            <a:endParaRPr lang="en-US" dirty="0"/>
          </a:p>
        </p:txBody>
      </p:sp>
      <p:pic>
        <p:nvPicPr>
          <p:cNvPr id="2" name="Picture 1" descr="Backcalculation for PID">
            <a:extLst>
              <a:ext uri="{FF2B5EF4-FFF2-40B4-BE49-F238E27FC236}">
                <a16:creationId xmlns:a16="http://schemas.microsoft.com/office/drawing/2014/main" id="{BB6546EE-960C-F532-F6C5-0AE6B5E5040F}"/>
              </a:ext>
            </a:extLst>
          </p:cNvPr>
          <p:cNvPicPr>
            <a:picLocks noChangeAspect="1"/>
          </p:cNvPicPr>
          <p:nvPr/>
        </p:nvPicPr>
        <p:blipFill>
          <a:blip r:embed="rId3"/>
          <a:stretch>
            <a:fillRect/>
          </a:stretch>
        </p:blipFill>
        <p:spPr>
          <a:xfrm>
            <a:off x="239637" y="1575556"/>
            <a:ext cx="11811000" cy="3943350"/>
          </a:xfrm>
          <a:prstGeom prst="rect">
            <a:avLst/>
          </a:prstGeom>
        </p:spPr>
      </p:pic>
    </p:spTree>
    <p:extLst>
      <p:ext uri="{BB962C8B-B14F-4D97-AF65-F5344CB8AC3E}">
        <p14:creationId xmlns:p14="http://schemas.microsoft.com/office/powerpoint/2010/main" val="3805030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FA425-A11C-168D-4A35-5391F7C0843A}"/>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0ACD349-860B-5471-6CF9-BA498AB65E13}"/>
              </a:ext>
            </a:extLst>
          </p:cNvPr>
          <p:cNvSpPr>
            <a:spLocks noGrp="1"/>
          </p:cNvSpPr>
          <p:nvPr>
            <p:ph type="ftr" sz="quarter" idx="11"/>
          </p:nvPr>
        </p:nvSpPr>
        <p:spPr/>
        <p:txBody>
          <a:bodyPr/>
          <a:lstStyle/>
          <a:p>
            <a:r>
              <a:rPr lang="en-US" dirty="0"/>
              <a:t>CSSC @ </a:t>
            </a:r>
            <a:r>
              <a:rPr lang="en-US" dirty="0" err="1"/>
              <a:t>UTDallas</a:t>
            </a:r>
            <a:endParaRPr lang="en-US" dirty="0"/>
          </a:p>
        </p:txBody>
      </p:sp>
      <p:sp>
        <p:nvSpPr>
          <p:cNvPr id="5" name="Slide Number Placeholder 4">
            <a:extLst>
              <a:ext uri="{FF2B5EF4-FFF2-40B4-BE49-F238E27FC236}">
                <a16:creationId xmlns:a16="http://schemas.microsoft.com/office/drawing/2014/main" id="{E66A4A77-0309-6C85-54AF-03297A88FC3B}"/>
              </a:ext>
            </a:extLst>
          </p:cNvPr>
          <p:cNvSpPr>
            <a:spLocks noGrp="1"/>
          </p:cNvSpPr>
          <p:nvPr>
            <p:ph type="sldNum" sz="quarter" idx="12"/>
          </p:nvPr>
        </p:nvSpPr>
        <p:spPr/>
        <p:txBody>
          <a:bodyPr/>
          <a:lstStyle/>
          <a:p>
            <a:fld id="{C68DACDF-E1A9-A04C-A5FF-FC2443684BF5}" type="slidenum">
              <a:rPr lang="en-US" smtClean="0"/>
              <a:pPr/>
              <a:t>12</a:t>
            </a:fld>
            <a:endParaRPr lang="en-US" dirty="0"/>
          </a:p>
        </p:txBody>
      </p:sp>
      <p:sp>
        <p:nvSpPr>
          <p:cNvPr id="3" name="Title 1">
            <a:extLst>
              <a:ext uri="{FF2B5EF4-FFF2-40B4-BE49-F238E27FC236}">
                <a16:creationId xmlns:a16="http://schemas.microsoft.com/office/drawing/2014/main" id="{C21703EB-78E6-3D3B-E349-7F864A66F873}"/>
              </a:ext>
            </a:extLst>
          </p:cNvPr>
          <p:cNvSpPr>
            <a:spLocks noGrp="1"/>
          </p:cNvSpPr>
          <p:nvPr>
            <p:ph type="title"/>
          </p:nvPr>
        </p:nvSpPr>
        <p:spPr>
          <a:xfrm>
            <a:off x="838200" y="247914"/>
            <a:ext cx="10515600" cy="1157575"/>
          </a:xfrm>
        </p:spPr>
        <p:txBody>
          <a:bodyPr>
            <a:normAutofit/>
          </a:bodyPr>
          <a:lstStyle/>
          <a:p>
            <a:r>
              <a:rPr lang="en-US" sz="4000" dirty="0">
                <a:cs typeface="Arial"/>
              </a:rPr>
              <a:t>Ziegler-Nichols Tuning</a:t>
            </a:r>
            <a:endParaRPr lang="en-US" dirty="0"/>
          </a:p>
        </p:txBody>
      </p:sp>
      <mc:AlternateContent xmlns:mc="http://schemas.openxmlformats.org/markup-compatibility/2006">
        <mc:Choice xmlns:a14="http://schemas.microsoft.com/office/drawing/2010/main" Requires="a14">
          <p:sp>
            <p:nvSpPr>
              <p:cNvPr id="7" name="Content Placeholder 2">
                <a:extLst>
                  <a:ext uri="{FF2B5EF4-FFF2-40B4-BE49-F238E27FC236}">
                    <a16:creationId xmlns:a16="http://schemas.microsoft.com/office/drawing/2014/main" id="{44E308E3-8A83-BE53-372A-9E601F97236F}"/>
                  </a:ext>
                </a:extLst>
              </p:cNvPr>
              <p:cNvSpPr>
                <a:spLocks noGrp="1"/>
              </p:cNvSpPr>
              <p:nvPr>
                <p:ph idx="1"/>
              </p:nvPr>
            </p:nvSpPr>
            <p:spPr>
              <a:xfrm>
                <a:off x="838200" y="1579419"/>
                <a:ext cx="10684933" cy="4289521"/>
              </a:xfrm>
            </p:spPr>
            <p:txBody>
              <a:bodyPr vert="horz" lIns="91440" tIns="45720" rIns="91440" bIns="45720" rtlCol="0" anchor="t">
                <a:normAutofit/>
              </a:bodyPr>
              <a:lstStyle/>
              <a:p>
                <a:pPr marL="285750" indent="-285750">
                  <a:lnSpc>
                    <a:spcPct val="100000"/>
                  </a:lnSpc>
                  <a:spcBef>
                    <a:spcPts val="0"/>
                  </a:spcBef>
                  <a:spcAft>
                    <a:spcPts val="1200"/>
                  </a:spcAft>
                  <a:buFont typeface="Arial"/>
                  <a:buChar char="•"/>
                </a:pPr>
                <a:r>
                  <a:rPr lang="en-US" sz="2800" dirty="0">
                    <a:solidFill>
                      <a:srgbClr val="282828"/>
                    </a:solidFill>
                    <a:latin typeface="Aptos"/>
                    <a:ea typeface="Cambria Math"/>
                    <a:cs typeface="Arial" panose="020B0604020202020204"/>
                  </a:rPr>
                  <a:t>Set </a:t>
                </a:r>
                <a14:m>
                  <m:oMath xmlns:m="http://schemas.openxmlformats.org/officeDocument/2006/math">
                    <m:sSub>
                      <m:sSubPr>
                        <m:ctrlPr>
                          <a:rPr lang="en-US" sz="2800" i="1">
                            <a:solidFill>
                              <a:srgbClr val="282828"/>
                            </a:solidFill>
                            <a:latin typeface="Cambria Math" panose="02040503050406030204" pitchFamily="18" charset="0"/>
                            <a:ea typeface="Cambria Math"/>
                          </a:rPr>
                        </m:ctrlPr>
                      </m:sSubPr>
                      <m:e>
                        <m:r>
                          <a:rPr lang="en-US" sz="2800" i="1">
                            <a:solidFill>
                              <a:srgbClr val="282828"/>
                            </a:solidFill>
                            <a:latin typeface="Cambria Math" panose="02040503050406030204" pitchFamily="18" charset="0"/>
                            <a:ea typeface="Cambria Math"/>
                          </a:rPr>
                          <m:t>𝐾</m:t>
                        </m:r>
                      </m:e>
                      <m:sub>
                        <m:r>
                          <a:rPr lang="en-US" sz="2800" b="0" i="1" smtClean="0">
                            <a:solidFill>
                              <a:srgbClr val="282828"/>
                            </a:solidFill>
                            <a:latin typeface="Cambria Math" panose="02040503050406030204" pitchFamily="18" charset="0"/>
                            <a:ea typeface="Cambria Math"/>
                          </a:rPr>
                          <m:t>𝑖</m:t>
                        </m:r>
                      </m:sub>
                    </m:sSub>
                  </m:oMath>
                </a14:m>
                <a:r>
                  <a:rPr lang="en-US" sz="2800" dirty="0">
                    <a:solidFill>
                      <a:srgbClr val="282828"/>
                    </a:solidFill>
                    <a:latin typeface="Aptos"/>
                    <a:ea typeface="Cambria Math"/>
                    <a:cs typeface="Arial" panose="020B0604020202020204"/>
                  </a:rPr>
                  <a:t> and </a:t>
                </a:r>
                <a14:m>
                  <m:oMath xmlns:m="http://schemas.openxmlformats.org/officeDocument/2006/math">
                    <m:sSub>
                      <m:sSubPr>
                        <m:ctrlPr>
                          <a:rPr lang="en-US" sz="2800" i="1">
                            <a:solidFill>
                              <a:srgbClr val="282828"/>
                            </a:solidFill>
                            <a:latin typeface="Cambria Math" panose="02040503050406030204" pitchFamily="18" charset="0"/>
                            <a:ea typeface="Cambria Math"/>
                          </a:rPr>
                        </m:ctrlPr>
                      </m:sSubPr>
                      <m:e>
                        <m:r>
                          <a:rPr lang="en-US" sz="2800" i="1">
                            <a:solidFill>
                              <a:srgbClr val="282828"/>
                            </a:solidFill>
                            <a:latin typeface="Cambria Math" panose="02040503050406030204" pitchFamily="18" charset="0"/>
                            <a:ea typeface="Cambria Math"/>
                          </a:rPr>
                          <m:t>𝐾</m:t>
                        </m:r>
                      </m:e>
                      <m:sub>
                        <m:r>
                          <a:rPr lang="en-US" sz="2800" b="0" i="1" smtClean="0">
                            <a:solidFill>
                              <a:srgbClr val="282828"/>
                            </a:solidFill>
                            <a:latin typeface="Cambria Math" panose="02040503050406030204" pitchFamily="18" charset="0"/>
                            <a:ea typeface="Cambria Math"/>
                          </a:rPr>
                          <m:t>𝑑</m:t>
                        </m:r>
                      </m:sub>
                    </m:sSub>
                  </m:oMath>
                </a14:m>
                <a:r>
                  <a:rPr lang="en-US" sz="2800" dirty="0">
                    <a:solidFill>
                      <a:srgbClr val="282828"/>
                    </a:solidFill>
                    <a:latin typeface="Aptos"/>
                    <a:ea typeface="Cambria Math"/>
                    <a:cs typeface="Arial" panose="020B0604020202020204"/>
                  </a:rPr>
                  <a:t> to zero first</a:t>
                </a:r>
              </a:p>
              <a:p>
                <a:pPr marL="285750" indent="-285750">
                  <a:lnSpc>
                    <a:spcPct val="100000"/>
                  </a:lnSpc>
                  <a:spcBef>
                    <a:spcPts val="0"/>
                  </a:spcBef>
                  <a:spcAft>
                    <a:spcPts val="1200"/>
                  </a:spcAft>
                  <a:buFont typeface="Arial"/>
                  <a:buChar char="•"/>
                </a:pPr>
                <a:r>
                  <a:rPr lang="en-US" sz="2800" dirty="0">
                    <a:solidFill>
                      <a:srgbClr val="282828"/>
                    </a:solidFill>
                    <a:latin typeface="Aptos"/>
                    <a:ea typeface="Cambria Math"/>
                    <a:cs typeface="Arial" panose="020B0604020202020204"/>
                  </a:rPr>
                  <a:t>Increase </a:t>
                </a:r>
                <a14:m>
                  <m:oMath xmlns:m="http://schemas.openxmlformats.org/officeDocument/2006/math">
                    <m:sSub>
                      <m:sSubPr>
                        <m:ctrlPr>
                          <a:rPr lang="en-US" sz="2800" i="1">
                            <a:solidFill>
                              <a:srgbClr val="282828"/>
                            </a:solidFill>
                            <a:latin typeface="Cambria Math" panose="02040503050406030204" pitchFamily="18" charset="0"/>
                            <a:ea typeface="Cambria Math"/>
                          </a:rPr>
                        </m:ctrlPr>
                      </m:sSubPr>
                      <m:e>
                        <m:r>
                          <a:rPr lang="en-US" sz="2800" i="1">
                            <a:solidFill>
                              <a:srgbClr val="282828"/>
                            </a:solidFill>
                            <a:latin typeface="Cambria Math" panose="02040503050406030204" pitchFamily="18" charset="0"/>
                            <a:ea typeface="Cambria Math"/>
                          </a:rPr>
                          <m:t>𝐾</m:t>
                        </m:r>
                      </m:e>
                      <m:sub>
                        <m:r>
                          <a:rPr lang="en-US" sz="2800" i="1">
                            <a:solidFill>
                              <a:srgbClr val="282828"/>
                            </a:solidFill>
                            <a:latin typeface="Cambria Math" panose="02040503050406030204" pitchFamily="18" charset="0"/>
                            <a:ea typeface="Cambria Math"/>
                          </a:rPr>
                          <m:t>𝑝</m:t>
                        </m:r>
                      </m:sub>
                    </m:sSub>
                  </m:oMath>
                </a14:m>
                <a:r>
                  <a:rPr lang="en-US" sz="2800" dirty="0">
                    <a:solidFill>
                      <a:srgbClr val="282828"/>
                    </a:solidFill>
                    <a:latin typeface="Aptos"/>
                    <a:ea typeface="Cambria Math"/>
                    <a:cs typeface="Arial" panose="020B0604020202020204"/>
                  </a:rPr>
                  <a:t> until sustained oscillation appears</a:t>
                </a:r>
              </a:p>
              <a:p>
                <a:pPr marL="285750" indent="-285750">
                  <a:lnSpc>
                    <a:spcPct val="100000"/>
                  </a:lnSpc>
                  <a:spcBef>
                    <a:spcPts val="0"/>
                  </a:spcBef>
                  <a:spcAft>
                    <a:spcPts val="1200"/>
                  </a:spcAft>
                  <a:buFont typeface="Arial"/>
                  <a:buChar char="•"/>
                </a:pPr>
                <a:r>
                  <a:rPr lang="en-US" sz="2800" dirty="0">
                    <a:solidFill>
                      <a:srgbClr val="282828"/>
                    </a:solidFill>
                    <a:latin typeface="Aptos"/>
                    <a:ea typeface="Cambria Math"/>
                    <a:cs typeface="Arial" panose="020B0604020202020204"/>
                  </a:rPr>
                  <a:t>Record ultimate gain </a:t>
                </a:r>
                <a14:m>
                  <m:oMath xmlns:m="http://schemas.openxmlformats.org/officeDocument/2006/math">
                    <m:sSub>
                      <m:sSubPr>
                        <m:ctrlPr>
                          <a:rPr lang="en-US" sz="2800" i="1">
                            <a:solidFill>
                              <a:srgbClr val="282828"/>
                            </a:solidFill>
                            <a:latin typeface="Cambria Math" panose="02040503050406030204" pitchFamily="18" charset="0"/>
                            <a:ea typeface="Cambria Math"/>
                          </a:rPr>
                        </m:ctrlPr>
                      </m:sSubPr>
                      <m:e>
                        <m:r>
                          <a:rPr lang="en-US" sz="2800" i="1">
                            <a:solidFill>
                              <a:srgbClr val="282828"/>
                            </a:solidFill>
                            <a:latin typeface="Cambria Math" panose="02040503050406030204" pitchFamily="18" charset="0"/>
                            <a:ea typeface="Cambria Math"/>
                          </a:rPr>
                          <m:t>𝐾</m:t>
                        </m:r>
                      </m:e>
                      <m:sub>
                        <m:r>
                          <a:rPr lang="en-US" sz="2800" b="0" i="1" smtClean="0">
                            <a:solidFill>
                              <a:srgbClr val="282828"/>
                            </a:solidFill>
                            <a:latin typeface="Cambria Math" panose="02040503050406030204" pitchFamily="18" charset="0"/>
                            <a:ea typeface="Cambria Math"/>
                          </a:rPr>
                          <m:t>𝑢</m:t>
                        </m:r>
                      </m:sub>
                    </m:sSub>
                  </m:oMath>
                </a14:m>
                <a:r>
                  <a:rPr lang="en-US" sz="2800" dirty="0">
                    <a:solidFill>
                      <a:srgbClr val="282828"/>
                    </a:solidFill>
                    <a:latin typeface="Aptos"/>
                    <a:ea typeface="Cambria Math"/>
                    <a:cs typeface="Arial" panose="020B0604020202020204"/>
                  </a:rPr>
                  <a:t> and period </a:t>
                </a:r>
                <a14:m>
                  <m:oMath xmlns:m="http://schemas.openxmlformats.org/officeDocument/2006/math">
                    <m:sSub>
                      <m:sSubPr>
                        <m:ctrlPr>
                          <a:rPr lang="en-US" sz="2800" i="1">
                            <a:solidFill>
                              <a:srgbClr val="282828"/>
                            </a:solidFill>
                            <a:latin typeface="Cambria Math" panose="02040503050406030204" pitchFamily="18" charset="0"/>
                            <a:ea typeface="Cambria Math"/>
                          </a:rPr>
                        </m:ctrlPr>
                      </m:sSubPr>
                      <m:e>
                        <m:r>
                          <a:rPr lang="en-US" sz="2800" b="0" i="1" smtClean="0">
                            <a:solidFill>
                              <a:srgbClr val="282828"/>
                            </a:solidFill>
                            <a:latin typeface="Cambria Math" panose="02040503050406030204" pitchFamily="18" charset="0"/>
                            <a:ea typeface="Cambria Math"/>
                          </a:rPr>
                          <m:t>𝑇</m:t>
                        </m:r>
                      </m:e>
                      <m:sub>
                        <m:r>
                          <a:rPr lang="en-US" sz="2800" b="0" i="1" smtClean="0">
                            <a:solidFill>
                              <a:srgbClr val="282828"/>
                            </a:solidFill>
                            <a:latin typeface="Cambria Math" panose="02040503050406030204" pitchFamily="18" charset="0"/>
                            <a:ea typeface="Cambria Math"/>
                          </a:rPr>
                          <m:t>𝑢</m:t>
                        </m:r>
                      </m:sub>
                    </m:sSub>
                  </m:oMath>
                </a14:m>
                <a:endParaRPr lang="en-US" sz="2800" dirty="0">
                  <a:solidFill>
                    <a:srgbClr val="282828"/>
                  </a:solidFill>
                  <a:latin typeface="Aptos"/>
                  <a:ea typeface="Cambria Math"/>
                  <a:cs typeface="Arial" panose="020B0604020202020204"/>
                </a:endParaRPr>
              </a:p>
              <a:p>
                <a:pPr marL="285750" indent="-285750">
                  <a:lnSpc>
                    <a:spcPct val="100000"/>
                  </a:lnSpc>
                  <a:spcBef>
                    <a:spcPts val="0"/>
                  </a:spcBef>
                  <a:spcAft>
                    <a:spcPts val="1200"/>
                  </a:spcAft>
                  <a:buFont typeface="Arial"/>
                  <a:buChar char="•"/>
                </a:pPr>
                <a:r>
                  <a:rPr lang="en-US" sz="2800" dirty="0">
                    <a:solidFill>
                      <a:srgbClr val="282828"/>
                    </a:solidFill>
                    <a:latin typeface="Aptos"/>
                    <a:ea typeface="Cambria Math"/>
                    <a:cs typeface="Arial" panose="020B0604020202020204"/>
                  </a:rPr>
                  <a:t>Use the rule as a starting point, not a final answer</a:t>
                </a:r>
              </a:p>
              <a:p>
                <a:pPr marL="285750" indent="-285750">
                  <a:lnSpc>
                    <a:spcPct val="100000"/>
                  </a:lnSpc>
                  <a:spcBef>
                    <a:spcPts val="0"/>
                  </a:spcBef>
                  <a:spcAft>
                    <a:spcPts val="1200"/>
                  </a:spcAft>
                  <a:buFont typeface="Arial"/>
                  <a:buChar char="•"/>
                </a:pPr>
                <a:r>
                  <a:rPr lang="en-US" sz="2800" dirty="0">
                    <a:solidFill>
                      <a:srgbClr val="282828"/>
                    </a:solidFill>
                    <a:latin typeface="Aptos"/>
                    <a:ea typeface="Cambria Math"/>
                    <a:cs typeface="Arial" panose="020B0604020202020204"/>
                  </a:rPr>
                  <a:t>Classic rule: </a:t>
                </a:r>
                <a14:m>
                  <m:oMath xmlns:m="http://schemas.openxmlformats.org/officeDocument/2006/math">
                    <m:sSub>
                      <m:sSubPr>
                        <m:ctrlPr>
                          <a:rPr lang="en-US" sz="2800" i="1">
                            <a:solidFill>
                              <a:srgbClr val="282828"/>
                            </a:solidFill>
                            <a:latin typeface="Cambria Math" panose="02040503050406030204" pitchFamily="18" charset="0"/>
                            <a:ea typeface="Cambria Math"/>
                          </a:rPr>
                        </m:ctrlPr>
                      </m:sSubPr>
                      <m:e>
                        <m:r>
                          <a:rPr lang="en-US" sz="2800" i="1">
                            <a:solidFill>
                              <a:srgbClr val="282828"/>
                            </a:solidFill>
                            <a:latin typeface="Cambria Math" panose="02040503050406030204" pitchFamily="18" charset="0"/>
                            <a:ea typeface="Cambria Math"/>
                          </a:rPr>
                          <m:t>𝐾</m:t>
                        </m:r>
                      </m:e>
                      <m:sub>
                        <m:r>
                          <a:rPr lang="en-US" sz="2800" i="1">
                            <a:solidFill>
                              <a:srgbClr val="282828"/>
                            </a:solidFill>
                            <a:latin typeface="Cambria Math" panose="02040503050406030204" pitchFamily="18" charset="0"/>
                            <a:ea typeface="Cambria Math"/>
                          </a:rPr>
                          <m:t>𝑝</m:t>
                        </m:r>
                      </m:sub>
                    </m:sSub>
                  </m:oMath>
                </a14:m>
                <a:r>
                  <a:rPr lang="en-US" sz="2800" dirty="0">
                    <a:solidFill>
                      <a:srgbClr val="282828"/>
                    </a:solidFill>
                    <a:latin typeface="Cambria Math"/>
                    <a:ea typeface="Cambria Math"/>
                    <a:cs typeface="Arial" panose="020B0604020202020204"/>
                  </a:rPr>
                  <a:t> = 0.6 </a:t>
                </a:r>
                <a14:m>
                  <m:oMath xmlns:m="http://schemas.openxmlformats.org/officeDocument/2006/math">
                    <m:sSub>
                      <m:sSubPr>
                        <m:ctrlPr>
                          <a:rPr lang="en-US" sz="2800" i="1">
                            <a:solidFill>
                              <a:srgbClr val="282828"/>
                            </a:solidFill>
                            <a:latin typeface="Cambria Math" panose="02040503050406030204" pitchFamily="18" charset="0"/>
                            <a:ea typeface="Cambria Math"/>
                          </a:rPr>
                        </m:ctrlPr>
                      </m:sSubPr>
                      <m:e>
                        <m:r>
                          <a:rPr lang="en-US" sz="2800" i="1">
                            <a:solidFill>
                              <a:srgbClr val="282828"/>
                            </a:solidFill>
                            <a:latin typeface="Cambria Math" panose="02040503050406030204" pitchFamily="18" charset="0"/>
                            <a:ea typeface="Cambria Math"/>
                          </a:rPr>
                          <m:t>𝐾</m:t>
                        </m:r>
                      </m:e>
                      <m:sub>
                        <m:r>
                          <a:rPr lang="en-US" sz="2800" i="1">
                            <a:solidFill>
                              <a:srgbClr val="282828"/>
                            </a:solidFill>
                            <a:latin typeface="Cambria Math" panose="02040503050406030204" pitchFamily="18" charset="0"/>
                            <a:ea typeface="Cambria Math"/>
                          </a:rPr>
                          <m:t>𝑢</m:t>
                        </m:r>
                      </m:sub>
                    </m:sSub>
                  </m:oMath>
                </a14:m>
                <a:r>
                  <a:rPr lang="en-US" sz="2800" dirty="0">
                    <a:solidFill>
                      <a:srgbClr val="282828"/>
                    </a:solidFill>
                    <a:latin typeface="Cambria Math"/>
                    <a:ea typeface="Cambria Math"/>
                    <a:cs typeface="Arial" panose="020B0604020202020204"/>
                  </a:rPr>
                  <a:t>, </a:t>
                </a:r>
                <a14:m>
                  <m:oMath xmlns:m="http://schemas.openxmlformats.org/officeDocument/2006/math">
                    <m:sSub>
                      <m:sSubPr>
                        <m:ctrlPr>
                          <a:rPr lang="en-US" sz="2800" i="1">
                            <a:solidFill>
                              <a:srgbClr val="282828"/>
                            </a:solidFill>
                            <a:latin typeface="Cambria Math" panose="02040503050406030204" pitchFamily="18" charset="0"/>
                            <a:ea typeface="Cambria Math"/>
                          </a:rPr>
                        </m:ctrlPr>
                      </m:sSubPr>
                      <m:e>
                        <m:r>
                          <a:rPr lang="en-US" sz="2800" i="1">
                            <a:solidFill>
                              <a:srgbClr val="282828"/>
                            </a:solidFill>
                            <a:latin typeface="Cambria Math" panose="02040503050406030204" pitchFamily="18" charset="0"/>
                            <a:ea typeface="Cambria Math"/>
                          </a:rPr>
                          <m:t>𝐾</m:t>
                        </m:r>
                      </m:e>
                      <m:sub>
                        <m:r>
                          <a:rPr lang="en-US" sz="2800" b="0" i="1" smtClean="0">
                            <a:solidFill>
                              <a:srgbClr val="282828"/>
                            </a:solidFill>
                            <a:latin typeface="Cambria Math" panose="02040503050406030204" pitchFamily="18" charset="0"/>
                            <a:ea typeface="Cambria Math"/>
                          </a:rPr>
                          <m:t>𝑖</m:t>
                        </m:r>
                      </m:sub>
                    </m:sSub>
                  </m:oMath>
                </a14:m>
                <a:r>
                  <a:rPr lang="en-US" sz="2800" dirty="0">
                    <a:solidFill>
                      <a:srgbClr val="282828"/>
                    </a:solidFill>
                    <a:latin typeface="Cambria Math"/>
                    <a:ea typeface="Cambria Math"/>
                    <a:cs typeface="Arial" panose="020B0604020202020204"/>
                  </a:rPr>
                  <a:t> = 1.2 </a:t>
                </a:r>
                <a14:m>
                  <m:oMath xmlns:m="http://schemas.openxmlformats.org/officeDocument/2006/math">
                    <m:sSub>
                      <m:sSubPr>
                        <m:ctrlPr>
                          <a:rPr lang="en-US" sz="2800" i="1">
                            <a:solidFill>
                              <a:srgbClr val="282828"/>
                            </a:solidFill>
                            <a:latin typeface="Cambria Math" panose="02040503050406030204" pitchFamily="18" charset="0"/>
                            <a:ea typeface="Cambria Math"/>
                          </a:rPr>
                        </m:ctrlPr>
                      </m:sSubPr>
                      <m:e>
                        <m:r>
                          <a:rPr lang="en-US" sz="2800" i="1">
                            <a:solidFill>
                              <a:srgbClr val="282828"/>
                            </a:solidFill>
                            <a:latin typeface="Cambria Math" panose="02040503050406030204" pitchFamily="18" charset="0"/>
                            <a:ea typeface="Cambria Math"/>
                          </a:rPr>
                          <m:t>𝐾</m:t>
                        </m:r>
                      </m:e>
                      <m:sub>
                        <m:r>
                          <a:rPr lang="en-US" sz="2800" i="1">
                            <a:solidFill>
                              <a:srgbClr val="282828"/>
                            </a:solidFill>
                            <a:latin typeface="Cambria Math" panose="02040503050406030204" pitchFamily="18" charset="0"/>
                            <a:ea typeface="Cambria Math"/>
                          </a:rPr>
                          <m:t>𝑢</m:t>
                        </m:r>
                      </m:sub>
                    </m:sSub>
                  </m:oMath>
                </a14:m>
                <a:r>
                  <a:rPr lang="en-US" sz="2800" dirty="0">
                    <a:solidFill>
                      <a:srgbClr val="282828"/>
                    </a:solidFill>
                    <a:latin typeface="Cambria Math"/>
                    <a:ea typeface="Cambria Math"/>
                    <a:cs typeface="Arial" panose="020B0604020202020204"/>
                  </a:rPr>
                  <a:t>/</a:t>
                </a:r>
                <a14:m>
                  <m:oMath xmlns:m="http://schemas.openxmlformats.org/officeDocument/2006/math">
                    <m:sSub>
                      <m:sSubPr>
                        <m:ctrlPr>
                          <a:rPr lang="en-US" sz="2800" i="1">
                            <a:solidFill>
                              <a:srgbClr val="282828"/>
                            </a:solidFill>
                            <a:latin typeface="Cambria Math" panose="02040503050406030204" pitchFamily="18" charset="0"/>
                            <a:ea typeface="Cambria Math"/>
                          </a:rPr>
                        </m:ctrlPr>
                      </m:sSubPr>
                      <m:e>
                        <m:r>
                          <a:rPr lang="en-US" sz="2800" i="1">
                            <a:solidFill>
                              <a:srgbClr val="282828"/>
                            </a:solidFill>
                            <a:latin typeface="Cambria Math" panose="02040503050406030204" pitchFamily="18" charset="0"/>
                            <a:ea typeface="Cambria Math"/>
                          </a:rPr>
                          <m:t>𝑇</m:t>
                        </m:r>
                      </m:e>
                      <m:sub>
                        <m:r>
                          <a:rPr lang="en-US" sz="2800" i="1">
                            <a:solidFill>
                              <a:srgbClr val="282828"/>
                            </a:solidFill>
                            <a:latin typeface="Cambria Math" panose="02040503050406030204" pitchFamily="18" charset="0"/>
                            <a:ea typeface="Cambria Math"/>
                          </a:rPr>
                          <m:t>𝑢</m:t>
                        </m:r>
                      </m:sub>
                    </m:sSub>
                  </m:oMath>
                </a14:m>
                <a:r>
                  <a:rPr lang="en-US" sz="2800" dirty="0">
                    <a:solidFill>
                      <a:srgbClr val="282828"/>
                    </a:solidFill>
                    <a:latin typeface="Cambria Math"/>
                    <a:ea typeface="Cambria Math"/>
                    <a:cs typeface="Arial" panose="020B0604020202020204"/>
                  </a:rPr>
                  <a:t>, </a:t>
                </a:r>
                <a14:m>
                  <m:oMath xmlns:m="http://schemas.openxmlformats.org/officeDocument/2006/math">
                    <m:sSub>
                      <m:sSubPr>
                        <m:ctrlPr>
                          <a:rPr lang="en-US" sz="2800" i="1">
                            <a:solidFill>
                              <a:srgbClr val="282828"/>
                            </a:solidFill>
                            <a:latin typeface="Cambria Math" panose="02040503050406030204" pitchFamily="18" charset="0"/>
                            <a:ea typeface="Cambria Math"/>
                          </a:rPr>
                        </m:ctrlPr>
                      </m:sSubPr>
                      <m:e>
                        <m:r>
                          <a:rPr lang="en-US" sz="2800" i="1">
                            <a:solidFill>
                              <a:srgbClr val="282828"/>
                            </a:solidFill>
                            <a:latin typeface="Cambria Math" panose="02040503050406030204" pitchFamily="18" charset="0"/>
                            <a:ea typeface="Cambria Math"/>
                          </a:rPr>
                          <m:t>𝐾</m:t>
                        </m:r>
                      </m:e>
                      <m:sub>
                        <m:r>
                          <a:rPr lang="en-US" sz="2800" i="1">
                            <a:solidFill>
                              <a:srgbClr val="282828"/>
                            </a:solidFill>
                            <a:latin typeface="Cambria Math" panose="02040503050406030204" pitchFamily="18" charset="0"/>
                            <a:ea typeface="Cambria Math"/>
                          </a:rPr>
                          <m:t>𝑑</m:t>
                        </m:r>
                      </m:sub>
                    </m:sSub>
                  </m:oMath>
                </a14:m>
                <a:r>
                  <a:rPr lang="en-US" sz="2800" dirty="0">
                    <a:solidFill>
                      <a:srgbClr val="282828"/>
                    </a:solidFill>
                    <a:latin typeface="Cambria Math"/>
                    <a:ea typeface="Cambria Math"/>
                    <a:cs typeface="Arial" panose="020B0604020202020204"/>
                  </a:rPr>
                  <a:t> = 0.175 </a:t>
                </a:r>
                <a14:m>
                  <m:oMath xmlns:m="http://schemas.openxmlformats.org/officeDocument/2006/math">
                    <m:sSub>
                      <m:sSubPr>
                        <m:ctrlPr>
                          <a:rPr lang="en-US" sz="2800" i="1">
                            <a:solidFill>
                              <a:srgbClr val="282828"/>
                            </a:solidFill>
                            <a:latin typeface="Cambria Math" panose="02040503050406030204" pitchFamily="18" charset="0"/>
                            <a:ea typeface="Cambria Math"/>
                          </a:rPr>
                        </m:ctrlPr>
                      </m:sSubPr>
                      <m:e>
                        <m:r>
                          <a:rPr lang="en-US" sz="2800" i="1">
                            <a:solidFill>
                              <a:srgbClr val="282828"/>
                            </a:solidFill>
                            <a:latin typeface="Cambria Math" panose="02040503050406030204" pitchFamily="18" charset="0"/>
                            <a:ea typeface="Cambria Math"/>
                          </a:rPr>
                          <m:t>𝐾</m:t>
                        </m:r>
                      </m:e>
                      <m:sub>
                        <m:r>
                          <a:rPr lang="en-US" sz="2800" i="1">
                            <a:solidFill>
                              <a:srgbClr val="282828"/>
                            </a:solidFill>
                            <a:latin typeface="Cambria Math" panose="02040503050406030204" pitchFamily="18" charset="0"/>
                            <a:ea typeface="Cambria Math"/>
                          </a:rPr>
                          <m:t>𝑢</m:t>
                        </m:r>
                      </m:sub>
                    </m:sSub>
                    <m:sSub>
                      <m:sSubPr>
                        <m:ctrlPr>
                          <a:rPr lang="en-US" sz="2800" i="1">
                            <a:solidFill>
                              <a:srgbClr val="282828"/>
                            </a:solidFill>
                            <a:latin typeface="Cambria Math" panose="02040503050406030204" pitchFamily="18" charset="0"/>
                            <a:ea typeface="Cambria Math"/>
                          </a:rPr>
                        </m:ctrlPr>
                      </m:sSubPr>
                      <m:e>
                        <m:r>
                          <a:rPr lang="en-US" sz="2800" i="1">
                            <a:solidFill>
                              <a:srgbClr val="282828"/>
                            </a:solidFill>
                            <a:latin typeface="Cambria Math" panose="02040503050406030204" pitchFamily="18" charset="0"/>
                            <a:ea typeface="Cambria Math"/>
                          </a:rPr>
                          <m:t>𝑇</m:t>
                        </m:r>
                      </m:e>
                      <m:sub>
                        <m:r>
                          <a:rPr lang="en-US" sz="2800" i="1">
                            <a:solidFill>
                              <a:srgbClr val="282828"/>
                            </a:solidFill>
                            <a:latin typeface="Cambria Math" panose="02040503050406030204" pitchFamily="18" charset="0"/>
                            <a:ea typeface="Cambria Math"/>
                          </a:rPr>
                          <m:t>𝑢</m:t>
                        </m:r>
                      </m:sub>
                    </m:sSub>
                  </m:oMath>
                </a14:m>
                <a:endParaRPr lang="en-US" sz="2800" dirty="0">
                  <a:solidFill>
                    <a:srgbClr val="282828"/>
                  </a:solidFill>
                  <a:latin typeface="Cambria Math"/>
                  <a:ea typeface="Cambria Math"/>
                  <a:cs typeface="Arial" panose="020B0604020202020204"/>
                </a:endParaRPr>
              </a:p>
              <a:p>
                <a:pPr marL="285750" indent="-285750">
                  <a:lnSpc>
                    <a:spcPct val="100000"/>
                  </a:lnSpc>
                  <a:spcBef>
                    <a:spcPts val="0"/>
                  </a:spcBef>
                  <a:spcAft>
                    <a:spcPts val="1200"/>
                  </a:spcAft>
                  <a:buFont typeface="Arial,Sans-Serif"/>
                  <a:buChar char="•"/>
                </a:pPr>
                <a:r>
                  <a:rPr lang="en-US" sz="2800" dirty="0">
                    <a:solidFill>
                      <a:srgbClr val="282828"/>
                    </a:solidFill>
                    <a:latin typeface="Cambria Math"/>
                    <a:ea typeface="Cambria Math"/>
                    <a:cs typeface="Arial" panose="020B0604020202020204"/>
                  </a:rPr>
                  <a:t>Other Variants: </a:t>
                </a:r>
                <a:r>
                  <a:rPr lang="en-US" sz="2800" dirty="0">
                    <a:solidFill>
                      <a:srgbClr val="0218E6"/>
                    </a:solidFill>
                    <a:latin typeface="Cambria Math"/>
                    <a:ea typeface="Cambria Math"/>
                    <a:cs typeface="Arial" panose="020B0604020202020204"/>
                    <a:hlinkClick r:id="rId3">
                      <a:extLst>
                        <a:ext uri="{A12FA001-AC4F-418D-AE19-62706E023703}">
                          <ahyp:hlinkClr xmlns:ahyp="http://schemas.microsoft.com/office/drawing/2018/hyperlinkcolor" val="tx"/>
                        </a:ext>
                      </a:extLst>
                    </a:hlinkClick>
                  </a:rPr>
                  <a:t>Zieglar-Nichols Method - Wikipedia</a:t>
                </a:r>
                <a:endParaRPr lang="en-US" sz="2800" dirty="0">
                  <a:solidFill>
                    <a:srgbClr val="0218E6"/>
                  </a:solidFill>
                  <a:latin typeface="Cambria Math"/>
                  <a:ea typeface="Cambria Math"/>
                  <a:cs typeface="Arial" panose="020B0604020202020204"/>
                </a:endParaRPr>
              </a:p>
            </p:txBody>
          </p:sp>
        </mc:Choice>
        <mc:Fallback>
          <p:sp>
            <p:nvSpPr>
              <p:cNvPr id="7" name="Content Placeholder 2">
                <a:extLst>
                  <a:ext uri="{FF2B5EF4-FFF2-40B4-BE49-F238E27FC236}">
                    <a16:creationId xmlns:a16="http://schemas.microsoft.com/office/drawing/2014/main" id="{44E308E3-8A83-BE53-372A-9E601F97236F}"/>
                  </a:ext>
                </a:extLst>
              </p:cNvPr>
              <p:cNvSpPr>
                <a:spLocks noGrp="1" noRot="1" noChangeAspect="1" noMove="1" noResize="1" noEditPoints="1" noAdjustHandles="1" noChangeArrowheads="1" noChangeShapeType="1" noTextEdit="1"/>
              </p:cNvSpPr>
              <p:nvPr>
                <p:ph idx="1"/>
              </p:nvPr>
            </p:nvSpPr>
            <p:spPr>
              <a:xfrm>
                <a:off x="838200" y="1579419"/>
                <a:ext cx="10684933" cy="4289521"/>
              </a:xfrm>
              <a:blipFill>
                <a:blip r:embed="rId4"/>
                <a:stretch>
                  <a:fillRect l="-1027" t="-1420"/>
                </a:stretch>
              </a:blipFill>
            </p:spPr>
            <p:txBody>
              <a:bodyPr/>
              <a:lstStyle/>
              <a:p>
                <a:r>
                  <a:rPr lang="en-US">
                    <a:noFill/>
                  </a:rPr>
                  <a:t> </a:t>
                </a:r>
              </a:p>
            </p:txBody>
          </p:sp>
        </mc:Fallback>
      </mc:AlternateContent>
    </p:spTree>
    <p:extLst>
      <p:ext uri="{BB962C8B-B14F-4D97-AF65-F5344CB8AC3E}">
        <p14:creationId xmlns:p14="http://schemas.microsoft.com/office/powerpoint/2010/main" val="724952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39B75-DBFF-0C6E-6F09-AE0E7313588C}"/>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40D752D8-492A-CC07-0EE0-E27E4C14A2F0}"/>
              </a:ext>
            </a:extLst>
          </p:cNvPr>
          <p:cNvSpPr>
            <a:spLocks noGrp="1"/>
          </p:cNvSpPr>
          <p:nvPr>
            <p:ph type="ftr" sz="quarter" idx="11"/>
          </p:nvPr>
        </p:nvSpPr>
        <p:spPr/>
        <p:txBody>
          <a:bodyPr/>
          <a:lstStyle/>
          <a:p>
            <a:r>
              <a:rPr lang="en-US" dirty="0"/>
              <a:t>CSSC @ </a:t>
            </a:r>
            <a:r>
              <a:rPr lang="en-US" dirty="0" err="1"/>
              <a:t>UTDallas</a:t>
            </a:r>
            <a:endParaRPr lang="en-US" dirty="0"/>
          </a:p>
        </p:txBody>
      </p:sp>
      <p:sp>
        <p:nvSpPr>
          <p:cNvPr id="5" name="Slide Number Placeholder 4">
            <a:extLst>
              <a:ext uri="{FF2B5EF4-FFF2-40B4-BE49-F238E27FC236}">
                <a16:creationId xmlns:a16="http://schemas.microsoft.com/office/drawing/2014/main" id="{F13A9FD0-ED34-F761-ED7D-01A7BC830AA3}"/>
              </a:ext>
            </a:extLst>
          </p:cNvPr>
          <p:cNvSpPr>
            <a:spLocks noGrp="1"/>
          </p:cNvSpPr>
          <p:nvPr>
            <p:ph type="sldNum" sz="quarter" idx="12"/>
          </p:nvPr>
        </p:nvSpPr>
        <p:spPr/>
        <p:txBody>
          <a:bodyPr/>
          <a:lstStyle/>
          <a:p>
            <a:fld id="{C68DACDF-E1A9-A04C-A5FF-FC2443684BF5}" type="slidenum">
              <a:rPr lang="en-US" smtClean="0"/>
              <a:pPr/>
              <a:t>13</a:t>
            </a:fld>
            <a:endParaRPr lang="en-US" dirty="0"/>
          </a:p>
        </p:txBody>
      </p:sp>
      <p:sp>
        <p:nvSpPr>
          <p:cNvPr id="3" name="Title 1">
            <a:extLst>
              <a:ext uri="{FF2B5EF4-FFF2-40B4-BE49-F238E27FC236}">
                <a16:creationId xmlns:a16="http://schemas.microsoft.com/office/drawing/2014/main" id="{7E52B521-724E-EA95-BB74-2F7241D987D1}"/>
              </a:ext>
            </a:extLst>
          </p:cNvPr>
          <p:cNvSpPr>
            <a:spLocks noGrp="1"/>
          </p:cNvSpPr>
          <p:nvPr>
            <p:ph type="title"/>
          </p:nvPr>
        </p:nvSpPr>
        <p:spPr>
          <a:xfrm>
            <a:off x="838200" y="247914"/>
            <a:ext cx="10515600" cy="1157575"/>
          </a:xfrm>
        </p:spPr>
        <p:txBody>
          <a:bodyPr>
            <a:normAutofit/>
          </a:bodyPr>
          <a:lstStyle/>
          <a:p>
            <a:r>
              <a:rPr lang="en-US" sz="4000" dirty="0">
                <a:cs typeface="Arial"/>
              </a:rPr>
              <a:t>Gain Scheduling</a:t>
            </a:r>
          </a:p>
        </p:txBody>
      </p:sp>
      <p:sp>
        <p:nvSpPr>
          <p:cNvPr id="7" name="Content Placeholder 2">
            <a:extLst>
              <a:ext uri="{FF2B5EF4-FFF2-40B4-BE49-F238E27FC236}">
                <a16:creationId xmlns:a16="http://schemas.microsoft.com/office/drawing/2014/main" id="{5EE8BD18-07DA-8FD5-4F1B-BCD903B1878B}"/>
              </a:ext>
            </a:extLst>
          </p:cNvPr>
          <p:cNvSpPr>
            <a:spLocks noGrp="1"/>
          </p:cNvSpPr>
          <p:nvPr>
            <p:ph idx="1"/>
          </p:nvPr>
        </p:nvSpPr>
        <p:spPr>
          <a:xfrm>
            <a:off x="838200" y="1579419"/>
            <a:ext cx="10684933" cy="4289521"/>
          </a:xfrm>
        </p:spPr>
        <p:txBody>
          <a:bodyPr vert="horz" lIns="91440" tIns="45720" rIns="91440" bIns="45720" rtlCol="0" anchor="t">
            <a:normAutofit/>
          </a:bodyPr>
          <a:lstStyle/>
          <a:p>
            <a:pPr marL="285750" indent="-285750">
              <a:lnSpc>
                <a:spcPct val="100000"/>
              </a:lnSpc>
              <a:spcBef>
                <a:spcPts val="0"/>
              </a:spcBef>
              <a:spcAft>
                <a:spcPts val="1200"/>
              </a:spcAft>
              <a:buFont typeface="Arial"/>
              <a:buChar char="•"/>
            </a:pPr>
            <a:r>
              <a:rPr lang="en-US" sz="2800" dirty="0">
                <a:solidFill>
                  <a:srgbClr val="282828"/>
                </a:solidFill>
                <a:latin typeface="Aptos"/>
                <a:ea typeface="Cambria Math"/>
                <a:cs typeface="Arial" panose="020B0604020202020204"/>
              </a:rPr>
              <a:t>One gain set may not fit all operating points</a:t>
            </a:r>
          </a:p>
          <a:p>
            <a:pPr marL="285750" indent="-285750">
              <a:lnSpc>
                <a:spcPct val="100000"/>
              </a:lnSpc>
              <a:spcBef>
                <a:spcPts val="0"/>
              </a:spcBef>
              <a:spcAft>
                <a:spcPts val="1200"/>
              </a:spcAft>
              <a:buFont typeface="Arial"/>
              <a:buChar char="•"/>
            </a:pPr>
            <a:r>
              <a:rPr lang="en-US" sz="2800" dirty="0">
                <a:solidFill>
                  <a:srgbClr val="282828"/>
                </a:solidFill>
                <a:latin typeface="Aptos"/>
                <a:ea typeface="Cambria Math"/>
                <a:cs typeface="Arial" panose="020B0604020202020204"/>
              </a:rPr>
              <a:t>Schedule gains using speed, load, angle, or flow</a:t>
            </a:r>
          </a:p>
          <a:p>
            <a:pPr marL="285750" indent="-285750">
              <a:lnSpc>
                <a:spcPct val="100000"/>
              </a:lnSpc>
              <a:spcBef>
                <a:spcPts val="0"/>
              </a:spcBef>
              <a:spcAft>
                <a:spcPts val="1200"/>
              </a:spcAft>
              <a:buFont typeface="Arial"/>
              <a:buChar char="•"/>
            </a:pPr>
            <a:r>
              <a:rPr lang="en-US" sz="2800" dirty="0">
                <a:solidFill>
                  <a:srgbClr val="282828"/>
                </a:solidFill>
                <a:latin typeface="Aptos"/>
                <a:ea typeface="Cambria Math"/>
                <a:cs typeface="Arial" panose="020B0604020202020204"/>
              </a:rPr>
              <a:t>Interpolate smoothly between local tunings</a:t>
            </a:r>
          </a:p>
          <a:p>
            <a:pPr marL="285750" indent="-285750">
              <a:lnSpc>
                <a:spcPct val="100000"/>
              </a:lnSpc>
              <a:spcBef>
                <a:spcPts val="0"/>
              </a:spcBef>
              <a:spcAft>
                <a:spcPts val="1200"/>
              </a:spcAft>
              <a:buFont typeface="Arial"/>
              <a:buChar char="•"/>
            </a:pPr>
            <a:r>
              <a:rPr lang="en-US" sz="2800" dirty="0">
                <a:solidFill>
                  <a:srgbClr val="282828"/>
                </a:solidFill>
                <a:latin typeface="Aptos"/>
                <a:ea typeface="Cambria Math"/>
                <a:cs typeface="Arial" panose="020B0604020202020204"/>
              </a:rPr>
              <a:t>Validate transitions as carefully as steady operation</a:t>
            </a:r>
          </a:p>
        </p:txBody>
      </p:sp>
    </p:spTree>
    <p:extLst>
      <p:ext uri="{BB962C8B-B14F-4D97-AF65-F5344CB8AC3E}">
        <p14:creationId xmlns:p14="http://schemas.microsoft.com/office/powerpoint/2010/main" val="26549580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6522F-1180-E78A-ADC9-15FF2E1B38E3}"/>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DC65B368-4ED7-E0ED-118E-A876D1232C2E}"/>
              </a:ext>
            </a:extLst>
          </p:cNvPr>
          <p:cNvSpPr>
            <a:spLocks noGrp="1"/>
          </p:cNvSpPr>
          <p:nvPr>
            <p:ph type="ftr" sz="quarter" idx="11"/>
          </p:nvPr>
        </p:nvSpPr>
        <p:spPr/>
        <p:txBody>
          <a:bodyPr/>
          <a:lstStyle/>
          <a:p>
            <a:r>
              <a:rPr lang="en-US" dirty="0"/>
              <a:t>CSSC @ </a:t>
            </a:r>
            <a:r>
              <a:rPr lang="en-US" dirty="0" err="1"/>
              <a:t>UTDallas</a:t>
            </a:r>
            <a:endParaRPr lang="en-US" dirty="0"/>
          </a:p>
        </p:txBody>
      </p:sp>
      <p:sp>
        <p:nvSpPr>
          <p:cNvPr id="5" name="Slide Number Placeholder 4">
            <a:extLst>
              <a:ext uri="{FF2B5EF4-FFF2-40B4-BE49-F238E27FC236}">
                <a16:creationId xmlns:a16="http://schemas.microsoft.com/office/drawing/2014/main" id="{0CDBA594-33BF-2EB3-EB85-FFC82ADFBBD9}"/>
              </a:ext>
            </a:extLst>
          </p:cNvPr>
          <p:cNvSpPr>
            <a:spLocks noGrp="1"/>
          </p:cNvSpPr>
          <p:nvPr>
            <p:ph type="sldNum" sz="quarter" idx="12"/>
          </p:nvPr>
        </p:nvSpPr>
        <p:spPr/>
        <p:txBody>
          <a:bodyPr/>
          <a:lstStyle/>
          <a:p>
            <a:fld id="{C68DACDF-E1A9-A04C-A5FF-FC2443684BF5}" type="slidenum">
              <a:rPr lang="en-US" smtClean="0"/>
              <a:pPr/>
              <a:t>14</a:t>
            </a:fld>
            <a:endParaRPr lang="en-US" dirty="0"/>
          </a:p>
        </p:txBody>
      </p:sp>
      <p:sp>
        <p:nvSpPr>
          <p:cNvPr id="3" name="Title 1">
            <a:extLst>
              <a:ext uri="{FF2B5EF4-FFF2-40B4-BE49-F238E27FC236}">
                <a16:creationId xmlns:a16="http://schemas.microsoft.com/office/drawing/2014/main" id="{66F2FA82-1869-F27D-659D-A50BDB0C97B1}"/>
              </a:ext>
            </a:extLst>
          </p:cNvPr>
          <p:cNvSpPr>
            <a:spLocks noGrp="1"/>
          </p:cNvSpPr>
          <p:nvPr>
            <p:ph type="title"/>
          </p:nvPr>
        </p:nvSpPr>
        <p:spPr>
          <a:xfrm>
            <a:off x="838200" y="247914"/>
            <a:ext cx="10515600" cy="1157575"/>
          </a:xfrm>
        </p:spPr>
        <p:txBody>
          <a:bodyPr>
            <a:normAutofit/>
          </a:bodyPr>
          <a:lstStyle/>
          <a:p>
            <a:r>
              <a:rPr lang="en-US" sz="4000" dirty="0">
                <a:cs typeface="Arial"/>
              </a:rPr>
              <a:t>References</a:t>
            </a:r>
            <a:endParaRPr lang="en-US" dirty="0"/>
          </a:p>
        </p:txBody>
      </p:sp>
      <p:sp>
        <p:nvSpPr>
          <p:cNvPr id="7" name="Content Placeholder 2">
            <a:extLst>
              <a:ext uri="{FF2B5EF4-FFF2-40B4-BE49-F238E27FC236}">
                <a16:creationId xmlns:a16="http://schemas.microsoft.com/office/drawing/2014/main" id="{F46909C8-CC4B-5EC5-D2D5-A1F4651A7C31}"/>
              </a:ext>
            </a:extLst>
          </p:cNvPr>
          <p:cNvSpPr>
            <a:spLocks noGrp="1"/>
          </p:cNvSpPr>
          <p:nvPr>
            <p:ph idx="1"/>
          </p:nvPr>
        </p:nvSpPr>
        <p:spPr>
          <a:xfrm>
            <a:off x="838200" y="1579419"/>
            <a:ext cx="10684933" cy="2257521"/>
          </a:xfrm>
        </p:spPr>
        <p:txBody>
          <a:bodyPr vert="horz" lIns="91440" tIns="45720" rIns="91440" bIns="45720" rtlCol="0" anchor="t">
            <a:normAutofit lnSpcReduction="10000"/>
          </a:bodyPr>
          <a:lstStyle/>
          <a:p>
            <a:pPr marL="285750" indent="-285750">
              <a:lnSpc>
                <a:spcPct val="100000"/>
              </a:lnSpc>
              <a:spcBef>
                <a:spcPts val="0"/>
              </a:spcBef>
              <a:spcAft>
                <a:spcPts val="1200"/>
              </a:spcAft>
              <a:buFont typeface="Arial"/>
              <a:buChar char="•"/>
            </a:pPr>
            <a:r>
              <a:rPr lang="en-US" sz="2800" dirty="0" err="1">
                <a:solidFill>
                  <a:srgbClr val="282828"/>
                </a:solidFill>
                <a:ea typeface="+mn-lt"/>
                <a:cs typeface="+mn-lt"/>
              </a:rPr>
              <a:t>Markaroglu</a:t>
            </a:r>
            <a:r>
              <a:rPr lang="en-US" sz="2800" dirty="0">
                <a:solidFill>
                  <a:srgbClr val="282828"/>
                </a:solidFill>
                <a:ea typeface="+mn-lt"/>
                <a:cs typeface="+mn-lt"/>
              </a:rPr>
              <a:t>, Hayk, et al. "Tracking time adjustment in back calculation anti-windup scheme." </a:t>
            </a:r>
            <a:r>
              <a:rPr lang="en-US" sz="2800" i="1" dirty="0">
                <a:solidFill>
                  <a:srgbClr val="282828"/>
                </a:solidFill>
                <a:ea typeface="+mn-lt"/>
                <a:cs typeface="+mn-lt"/>
              </a:rPr>
              <a:t>ECMS 2006 Proceedings edited by: W. </a:t>
            </a:r>
            <a:r>
              <a:rPr lang="en-US" sz="2800" i="1" dirty="0" err="1">
                <a:solidFill>
                  <a:srgbClr val="282828"/>
                </a:solidFill>
                <a:ea typeface="+mn-lt"/>
                <a:cs typeface="+mn-lt"/>
              </a:rPr>
              <a:t>Borutzky</a:t>
            </a:r>
            <a:r>
              <a:rPr lang="en-US" sz="2800" i="1" dirty="0">
                <a:solidFill>
                  <a:srgbClr val="282828"/>
                </a:solidFill>
                <a:ea typeface="+mn-lt"/>
                <a:cs typeface="+mn-lt"/>
              </a:rPr>
              <a:t>, A. </a:t>
            </a:r>
            <a:r>
              <a:rPr lang="en-US" sz="2800" i="1" dirty="0" err="1">
                <a:solidFill>
                  <a:srgbClr val="282828"/>
                </a:solidFill>
                <a:ea typeface="+mn-lt"/>
                <a:cs typeface="+mn-lt"/>
              </a:rPr>
              <a:t>Orsoni</a:t>
            </a:r>
            <a:r>
              <a:rPr lang="en-US" sz="2800" i="1" dirty="0">
                <a:solidFill>
                  <a:srgbClr val="282828"/>
                </a:solidFill>
                <a:ea typeface="+mn-lt"/>
                <a:cs typeface="+mn-lt"/>
              </a:rPr>
              <a:t>, R. Zobel</a:t>
            </a:r>
            <a:r>
              <a:rPr lang="en-US" sz="2800" dirty="0">
                <a:solidFill>
                  <a:srgbClr val="282828"/>
                </a:solidFill>
                <a:ea typeface="+mn-lt"/>
                <a:cs typeface="+mn-lt"/>
              </a:rPr>
              <a:t> (2006).</a:t>
            </a:r>
            <a:endParaRPr lang="en-US" sz="2800" dirty="0">
              <a:solidFill>
                <a:srgbClr val="282828"/>
              </a:solidFill>
            </a:endParaRPr>
          </a:p>
          <a:p>
            <a:pPr marL="285750" indent="-285750">
              <a:lnSpc>
                <a:spcPct val="100000"/>
              </a:lnSpc>
              <a:spcBef>
                <a:spcPts val="0"/>
              </a:spcBef>
              <a:spcAft>
                <a:spcPts val="1200"/>
              </a:spcAft>
              <a:buFont typeface="Arial"/>
              <a:buChar char="•"/>
            </a:pPr>
            <a:r>
              <a:rPr lang="en-US" sz="2800"/>
              <a:t>FPV Drone PID Explained – Mastering Flight Performance through PID Tuning. </a:t>
            </a:r>
            <a:r>
              <a:rPr lang="en-US" sz="2800" i="1"/>
              <a:t>URL: oscarliang.com/pid</a:t>
            </a:r>
            <a:endParaRPr lang="en-US" sz="2800" i="1">
              <a:solidFill>
                <a:srgbClr val="282828"/>
              </a:solidFill>
              <a:ea typeface="+mn-lt"/>
              <a:cs typeface="+mn-lt"/>
            </a:endParaRPr>
          </a:p>
        </p:txBody>
      </p:sp>
    </p:spTree>
    <p:extLst>
      <p:ext uri="{BB962C8B-B14F-4D97-AF65-F5344CB8AC3E}">
        <p14:creationId xmlns:p14="http://schemas.microsoft.com/office/powerpoint/2010/main" val="16147746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BABA69F-4C4D-1393-6A00-D3E427A5E2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0B14C5-A71C-633C-2721-B96F4F246CFC}"/>
              </a:ext>
            </a:extLst>
          </p:cNvPr>
          <p:cNvSpPr>
            <a:spLocks noGrp="1"/>
          </p:cNvSpPr>
          <p:nvPr>
            <p:ph type="title"/>
          </p:nvPr>
        </p:nvSpPr>
        <p:spPr/>
        <p:txBody>
          <a:bodyPr/>
          <a:lstStyle/>
          <a:p>
            <a:r>
              <a:rPr lang="en-US" dirty="0"/>
              <a:t>Experiment Design</a:t>
            </a:r>
          </a:p>
        </p:txBody>
      </p:sp>
      <p:sp>
        <p:nvSpPr>
          <p:cNvPr id="4" name="Footer Placeholder 3">
            <a:extLst>
              <a:ext uri="{FF2B5EF4-FFF2-40B4-BE49-F238E27FC236}">
                <a16:creationId xmlns:a16="http://schemas.microsoft.com/office/drawing/2014/main" id="{433DBF91-AB23-5E97-AD35-920B673E6B0F}"/>
              </a:ext>
            </a:extLst>
          </p:cNvPr>
          <p:cNvSpPr>
            <a:spLocks noGrp="1"/>
          </p:cNvSpPr>
          <p:nvPr>
            <p:ph type="ftr" sz="quarter" idx="11"/>
          </p:nvPr>
        </p:nvSpPr>
        <p:spPr/>
        <p:txBody>
          <a:bodyPr/>
          <a:lstStyle/>
          <a:p>
            <a:r>
              <a:rPr lang="en-US"/>
              <a:t>CSSC @ UTDallas</a:t>
            </a:r>
            <a:endParaRPr lang="en-US" dirty="0"/>
          </a:p>
        </p:txBody>
      </p:sp>
      <p:sp>
        <p:nvSpPr>
          <p:cNvPr id="5" name="Slide Number Placeholder 4">
            <a:extLst>
              <a:ext uri="{FF2B5EF4-FFF2-40B4-BE49-F238E27FC236}">
                <a16:creationId xmlns:a16="http://schemas.microsoft.com/office/drawing/2014/main" id="{B2EFF557-7EA1-33DD-7456-8FFF43AAFE8C}"/>
              </a:ext>
            </a:extLst>
          </p:cNvPr>
          <p:cNvSpPr>
            <a:spLocks noGrp="1"/>
          </p:cNvSpPr>
          <p:nvPr>
            <p:ph type="sldNum" sz="quarter" idx="12"/>
          </p:nvPr>
        </p:nvSpPr>
        <p:spPr/>
        <p:txBody>
          <a:bodyPr/>
          <a:lstStyle/>
          <a:p>
            <a:fld id="{C68DACDF-E1A9-A04C-A5FF-FC2443684BF5}" type="slidenum">
              <a:rPr lang="en-US" smtClean="0"/>
              <a:pPr/>
              <a:t>15</a:t>
            </a:fld>
            <a:endParaRPr lang="en-US" dirty="0"/>
          </a:p>
        </p:txBody>
      </p:sp>
      <p:sp>
        <p:nvSpPr>
          <p:cNvPr id="9" name="TextBox 8">
            <a:extLst>
              <a:ext uri="{FF2B5EF4-FFF2-40B4-BE49-F238E27FC236}">
                <a16:creationId xmlns:a16="http://schemas.microsoft.com/office/drawing/2014/main" id="{B739071F-2B4B-BE21-1266-48B54BF9745A}"/>
              </a:ext>
            </a:extLst>
          </p:cNvPr>
          <p:cNvSpPr txBox="1"/>
          <p:nvPr/>
        </p:nvSpPr>
        <p:spPr>
          <a:xfrm>
            <a:off x="457200" y="1327284"/>
            <a:ext cx="6743700" cy="3693319"/>
          </a:xfrm>
          <a:prstGeom prst="rect">
            <a:avLst/>
          </a:prstGeom>
          <a:noFill/>
        </p:spPr>
        <p:txBody>
          <a:bodyPr wrap="square" rtlCol="0">
            <a:spAutoFit/>
          </a:bodyPr>
          <a:lstStyle/>
          <a:p>
            <a:pPr marL="285750" indent="-285750">
              <a:buFont typeface="Arial" panose="020B0604020202020204" pitchFamily="34" charset="0"/>
              <a:buChar char="•"/>
            </a:pPr>
            <a:r>
              <a:rPr lang="en-US" dirty="0"/>
              <a:t>Dataset must capture the dynamics of interest, consider:</a:t>
            </a:r>
          </a:p>
          <a:p>
            <a:pPr marL="742950" lvl="1" indent="-285750">
              <a:buFont typeface="Arial" panose="020B0604020202020204" pitchFamily="34" charset="0"/>
              <a:buChar char="•"/>
            </a:pPr>
            <a:r>
              <a:rPr lang="en-US" dirty="0"/>
              <a:t>Standard operating region</a:t>
            </a:r>
          </a:p>
          <a:p>
            <a:pPr marL="742950" lvl="1" indent="-285750">
              <a:buFont typeface="Arial" panose="020B0604020202020204" pitchFamily="34" charset="0"/>
              <a:buChar char="•"/>
            </a:pPr>
            <a:r>
              <a:rPr lang="en-US" dirty="0"/>
              <a:t>Safety and system constraints</a:t>
            </a:r>
          </a:p>
          <a:p>
            <a:pPr marL="742950" lvl="1" indent="-285750">
              <a:buFont typeface="Arial" panose="020B0604020202020204" pitchFamily="34" charset="0"/>
              <a:buChar char="•"/>
            </a:pPr>
            <a:r>
              <a:rPr lang="en-US" dirty="0"/>
              <a:t>What inputs and outputs can be measured?</a:t>
            </a:r>
          </a:p>
          <a:p>
            <a:pPr marL="742950" lvl="1" indent="-285750">
              <a:buFont typeface="Arial" panose="020B0604020202020204" pitchFamily="34" charset="0"/>
              <a:buChar char="•"/>
            </a:pPr>
            <a:r>
              <a:rPr lang="en-US" dirty="0"/>
              <a:t>What sampling rates are needed in measurement?</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Some common test signals</a:t>
            </a:r>
          </a:p>
          <a:p>
            <a:pPr marL="742950" lvl="1" indent="-285750">
              <a:buFont typeface="Arial" panose="020B0604020202020204" pitchFamily="34" charset="0"/>
              <a:buChar char="•"/>
            </a:pPr>
            <a:r>
              <a:rPr lang="en-US" dirty="0"/>
              <a:t>Step response</a:t>
            </a:r>
          </a:p>
          <a:p>
            <a:pPr marL="742950" lvl="1" indent="-285750">
              <a:buFont typeface="Arial" panose="020B0604020202020204" pitchFamily="34" charset="0"/>
              <a:buChar char="•"/>
            </a:pPr>
            <a:r>
              <a:rPr lang="en-US" dirty="0"/>
              <a:t>Impulse response</a:t>
            </a:r>
          </a:p>
          <a:p>
            <a:pPr marL="742950" lvl="1" indent="-285750">
              <a:buFont typeface="Arial" panose="020B0604020202020204" pitchFamily="34" charset="0"/>
              <a:buChar char="•"/>
            </a:pPr>
            <a:r>
              <a:rPr lang="en-US" dirty="0"/>
              <a:t>Sinusoidal and chirp responses</a:t>
            </a:r>
          </a:p>
          <a:p>
            <a:pPr marL="742950" lvl="1" indent="-285750">
              <a:buFont typeface="Arial" panose="020B0604020202020204" pitchFamily="34" charset="0"/>
              <a:buChar char="•"/>
            </a:pPr>
            <a:r>
              <a:rPr lang="en-US" dirty="0"/>
              <a:t>Pseudo-random binary sequences</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pic>
        <p:nvPicPr>
          <p:cNvPr id="6" name="Picture 5">
            <a:extLst>
              <a:ext uri="{FF2B5EF4-FFF2-40B4-BE49-F238E27FC236}">
                <a16:creationId xmlns:a16="http://schemas.microsoft.com/office/drawing/2014/main" id="{0BDB7568-0027-1243-7521-7F9CC1E5A1E1}"/>
              </a:ext>
            </a:extLst>
          </p:cNvPr>
          <p:cNvPicPr>
            <a:picLocks noChangeAspect="1"/>
          </p:cNvPicPr>
          <p:nvPr/>
        </p:nvPicPr>
        <p:blipFill>
          <a:blip r:embed="rId2"/>
          <a:stretch>
            <a:fillRect/>
          </a:stretch>
        </p:blipFill>
        <p:spPr>
          <a:xfrm>
            <a:off x="8751347" y="2922944"/>
            <a:ext cx="3535680" cy="2651760"/>
          </a:xfrm>
          <a:prstGeom prst="rect">
            <a:avLst/>
          </a:prstGeom>
        </p:spPr>
      </p:pic>
      <p:pic>
        <p:nvPicPr>
          <p:cNvPr id="8" name="Picture 7">
            <a:extLst>
              <a:ext uri="{FF2B5EF4-FFF2-40B4-BE49-F238E27FC236}">
                <a16:creationId xmlns:a16="http://schemas.microsoft.com/office/drawing/2014/main" id="{74335B27-928B-B99D-8624-D5CB08A53D0E}"/>
              </a:ext>
            </a:extLst>
          </p:cNvPr>
          <p:cNvPicPr>
            <a:picLocks noChangeAspect="1"/>
          </p:cNvPicPr>
          <p:nvPr/>
        </p:nvPicPr>
        <p:blipFill>
          <a:blip r:embed="rId3"/>
          <a:stretch>
            <a:fillRect/>
          </a:stretch>
        </p:blipFill>
        <p:spPr>
          <a:xfrm>
            <a:off x="5215667" y="2922944"/>
            <a:ext cx="3535680" cy="2651760"/>
          </a:xfrm>
          <a:prstGeom prst="rect">
            <a:avLst/>
          </a:prstGeom>
        </p:spPr>
      </p:pic>
      <p:pic>
        <p:nvPicPr>
          <p:cNvPr id="13" name="Picture 12">
            <a:extLst>
              <a:ext uri="{FF2B5EF4-FFF2-40B4-BE49-F238E27FC236}">
                <a16:creationId xmlns:a16="http://schemas.microsoft.com/office/drawing/2014/main" id="{08BF30D6-BB4F-CD32-5189-2AF9B48618B1}"/>
              </a:ext>
            </a:extLst>
          </p:cNvPr>
          <p:cNvPicPr>
            <a:picLocks noChangeAspect="1"/>
          </p:cNvPicPr>
          <p:nvPr/>
        </p:nvPicPr>
        <p:blipFill>
          <a:blip r:embed="rId4"/>
          <a:stretch>
            <a:fillRect/>
          </a:stretch>
        </p:blipFill>
        <p:spPr>
          <a:xfrm>
            <a:off x="6408829" y="136250"/>
            <a:ext cx="3169920" cy="2377440"/>
          </a:xfrm>
          <a:prstGeom prst="rect">
            <a:avLst/>
          </a:prstGeom>
        </p:spPr>
      </p:pic>
      <p:pic>
        <p:nvPicPr>
          <p:cNvPr id="15" name="Picture 14">
            <a:extLst>
              <a:ext uri="{FF2B5EF4-FFF2-40B4-BE49-F238E27FC236}">
                <a16:creationId xmlns:a16="http://schemas.microsoft.com/office/drawing/2014/main" id="{5A4D05C7-02E5-E4A3-24D9-66AE6B405142}"/>
              </a:ext>
            </a:extLst>
          </p:cNvPr>
          <p:cNvPicPr>
            <a:picLocks noChangeAspect="1"/>
          </p:cNvPicPr>
          <p:nvPr/>
        </p:nvPicPr>
        <p:blipFill>
          <a:blip r:embed="rId5"/>
          <a:stretch>
            <a:fillRect/>
          </a:stretch>
        </p:blipFill>
        <p:spPr>
          <a:xfrm>
            <a:off x="9117107" y="136250"/>
            <a:ext cx="3169920" cy="2377440"/>
          </a:xfrm>
          <a:prstGeom prst="rect">
            <a:avLst/>
          </a:prstGeom>
        </p:spPr>
      </p:pic>
    </p:spTree>
    <p:extLst>
      <p:ext uri="{BB962C8B-B14F-4D97-AF65-F5344CB8AC3E}">
        <p14:creationId xmlns:p14="http://schemas.microsoft.com/office/powerpoint/2010/main" val="3103769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F0DDDFB-5AB7-DD03-685C-EA264CFE4F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066BAB-D309-270C-9D22-B44EACA302DE}"/>
              </a:ext>
            </a:extLst>
          </p:cNvPr>
          <p:cNvSpPr>
            <a:spLocks noGrp="1"/>
          </p:cNvSpPr>
          <p:nvPr>
            <p:ph type="title"/>
          </p:nvPr>
        </p:nvSpPr>
        <p:spPr/>
        <p:txBody>
          <a:bodyPr/>
          <a:lstStyle/>
          <a:p>
            <a:r>
              <a:rPr lang="en-US" dirty="0"/>
              <a:t>Modeling the Real World</a:t>
            </a:r>
          </a:p>
        </p:txBody>
      </p:sp>
      <p:sp>
        <p:nvSpPr>
          <p:cNvPr id="4" name="Footer Placeholder 3">
            <a:extLst>
              <a:ext uri="{FF2B5EF4-FFF2-40B4-BE49-F238E27FC236}">
                <a16:creationId xmlns:a16="http://schemas.microsoft.com/office/drawing/2014/main" id="{63518B57-AA53-A9AB-9657-2B113139F265}"/>
              </a:ext>
            </a:extLst>
          </p:cNvPr>
          <p:cNvSpPr>
            <a:spLocks noGrp="1"/>
          </p:cNvSpPr>
          <p:nvPr>
            <p:ph type="ftr" sz="quarter" idx="11"/>
          </p:nvPr>
        </p:nvSpPr>
        <p:spPr/>
        <p:txBody>
          <a:bodyPr/>
          <a:lstStyle/>
          <a:p>
            <a:r>
              <a:rPr lang="en-US"/>
              <a:t>CSSC @ UTDallas</a:t>
            </a:r>
            <a:endParaRPr lang="en-US" dirty="0"/>
          </a:p>
        </p:txBody>
      </p:sp>
      <p:sp>
        <p:nvSpPr>
          <p:cNvPr id="5" name="Slide Number Placeholder 4">
            <a:extLst>
              <a:ext uri="{FF2B5EF4-FFF2-40B4-BE49-F238E27FC236}">
                <a16:creationId xmlns:a16="http://schemas.microsoft.com/office/drawing/2014/main" id="{B6A61F67-FEFE-58B4-3614-4BD98A5AD720}"/>
              </a:ext>
            </a:extLst>
          </p:cNvPr>
          <p:cNvSpPr>
            <a:spLocks noGrp="1"/>
          </p:cNvSpPr>
          <p:nvPr>
            <p:ph type="sldNum" sz="quarter" idx="12"/>
          </p:nvPr>
        </p:nvSpPr>
        <p:spPr/>
        <p:txBody>
          <a:bodyPr/>
          <a:lstStyle/>
          <a:p>
            <a:fld id="{C68DACDF-E1A9-A04C-A5FF-FC2443684BF5}" type="slidenum">
              <a:rPr lang="en-US" smtClean="0"/>
              <a:pPr/>
              <a:t>16</a:t>
            </a:fld>
            <a:endParaRPr lang="en-US" dirty="0"/>
          </a:p>
        </p:txBody>
      </p:sp>
      <p:sp>
        <p:nvSpPr>
          <p:cNvPr id="9" name="TextBox 8">
            <a:extLst>
              <a:ext uri="{FF2B5EF4-FFF2-40B4-BE49-F238E27FC236}">
                <a16:creationId xmlns:a16="http://schemas.microsoft.com/office/drawing/2014/main" id="{7AB57F72-5695-0CD3-F6EA-8680D42D9938}"/>
              </a:ext>
            </a:extLst>
          </p:cNvPr>
          <p:cNvSpPr txBox="1"/>
          <p:nvPr/>
        </p:nvSpPr>
        <p:spPr>
          <a:xfrm>
            <a:off x="316831" y="1433682"/>
            <a:ext cx="4528881" cy="4524315"/>
          </a:xfrm>
          <a:prstGeom prst="rect">
            <a:avLst/>
          </a:prstGeom>
          <a:noFill/>
        </p:spPr>
        <p:txBody>
          <a:bodyPr wrap="square" rtlCol="0">
            <a:spAutoFit/>
          </a:bodyPr>
          <a:lstStyle/>
          <a:p>
            <a:pPr marL="285750" indent="-285750">
              <a:buFont typeface="Arial" panose="020B0604020202020204" pitchFamily="34" charset="0"/>
              <a:buChar char="•"/>
            </a:pPr>
            <a:r>
              <a:rPr lang="en-US" dirty="0"/>
              <a:t>Not generally feasible to measure full system state</a:t>
            </a:r>
          </a:p>
          <a:p>
            <a:pPr marL="285750" indent="-285750">
              <a:buFont typeface="Arial" panose="020B0604020202020204" pitchFamily="34" charset="0"/>
              <a:buChar char="•"/>
            </a:pPr>
            <a:r>
              <a:rPr lang="en-US" dirty="0"/>
              <a:t>Measurement noise</a:t>
            </a:r>
          </a:p>
          <a:p>
            <a:pPr marL="285750" indent="-285750">
              <a:buFont typeface="Arial" panose="020B0604020202020204" pitchFamily="34" charset="0"/>
              <a:buChar char="•"/>
            </a:pPr>
            <a:r>
              <a:rPr lang="en-US" dirty="0"/>
              <a:t>Process noise</a:t>
            </a:r>
          </a:p>
          <a:p>
            <a:pPr marL="285750" indent="-285750">
              <a:buFont typeface="Arial" panose="020B0604020202020204" pitchFamily="34" charset="0"/>
              <a:buChar char="•"/>
            </a:pPr>
            <a:r>
              <a:rPr lang="en-US" dirty="0"/>
              <a:t>Delays in the system</a:t>
            </a:r>
          </a:p>
          <a:p>
            <a:endParaRPr lang="en-US" dirty="0"/>
          </a:p>
          <a:p>
            <a:r>
              <a:rPr lang="en-US" dirty="0"/>
              <a:t>Two options:</a:t>
            </a:r>
          </a:p>
          <a:p>
            <a:pPr marL="285750" indent="-285750">
              <a:buFont typeface="Arial" panose="020B0604020202020204" pitchFamily="34" charset="0"/>
              <a:buChar char="•"/>
            </a:pPr>
            <a:r>
              <a:rPr lang="en-US" dirty="0"/>
              <a:t>Explicitly model disturbances</a:t>
            </a:r>
          </a:p>
          <a:p>
            <a:pPr marL="742950" lvl="1" indent="-285750">
              <a:buFont typeface="Arial" panose="020B0604020202020204" pitchFamily="34" charset="0"/>
              <a:buChar char="•"/>
            </a:pPr>
            <a:r>
              <a:rPr lang="en-US" dirty="0"/>
              <a:t>Structured and reproducible noise</a:t>
            </a:r>
          </a:p>
          <a:p>
            <a:pPr marL="742950" lvl="1" indent="-285750">
              <a:buFont typeface="Arial" panose="020B0604020202020204" pitchFamily="34" charset="0"/>
              <a:buChar char="•"/>
            </a:pPr>
            <a:r>
              <a:rPr lang="en-US" dirty="0"/>
              <a:t>Consistent lag/ delay</a:t>
            </a:r>
          </a:p>
          <a:p>
            <a:pPr marL="285750" indent="-285750">
              <a:buFont typeface="Arial" panose="020B0604020202020204" pitchFamily="34" charset="0"/>
              <a:buChar char="•"/>
            </a:pPr>
            <a:r>
              <a:rPr lang="en-US" dirty="0"/>
              <a:t>Filter or trim data</a:t>
            </a:r>
          </a:p>
          <a:p>
            <a:pPr marL="742950" lvl="1" indent="-285750">
              <a:buFont typeface="Arial" panose="020B0604020202020204" pitchFamily="34" charset="0"/>
              <a:buChar char="•"/>
            </a:pPr>
            <a:r>
              <a:rPr lang="en-US" dirty="0"/>
              <a:t>Startup transients</a:t>
            </a:r>
          </a:p>
          <a:p>
            <a:pPr marL="742950" lvl="1" indent="-285750">
              <a:buFont typeface="Arial" panose="020B0604020202020204" pitchFamily="34" charset="0"/>
              <a:buChar char="•"/>
            </a:pPr>
            <a:r>
              <a:rPr lang="en-US" dirty="0"/>
              <a:t>White measurement noise</a:t>
            </a:r>
          </a:p>
          <a:p>
            <a:pPr marL="742950" lvl="1" indent="-285750">
              <a:buFont typeface="Arial" panose="020B0604020202020204" pitchFamily="34" charset="0"/>
              <a:buChar char="•"/>
            </a:pPr>
            <a:r>
              <a:rPr lang="en-US" dirty="0"/>
              <a:t>Saturated sensor or anomalies</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3" name="Rectangle 2">
            <a:extLst>
              <a:ext uri="{FF2B5EF4-FFF2-40B4-BE49-F238E27FC236}">
                <a16:creationId xmlns:a16="http://schemas.microsoft.com/office/drawing/2014/main" id="{0F0F357F-8B63-CBD9-32A1-829CD7CEFEFA}"/>
              </a:ext>
            </a:extLst>
          </p:cNvPr>
          <p:cNvSpPr/>
          <p:nvPr/>
        </p:nvSpPr>
        <p:spPr>
          <a:xfrm>
            <a:off x="7907755" y="2578888"/>
            <a:ext cx="1293394" cy="95651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t>System</a:t>
            </a:r>
          </a:p>
        </p:txBody>
      </p:sp>
      <p:sp>
        <p:nvSpPr>
          <p:cNvPr id="6" name="Rectangle: Rounded Corners 5">
            <a:extLst>
              <a:ext uri="{FF2B5EF4-FFF2-40B4-BE49-F238E27FC236}">
                <a16:creationId xmlns:a16="http://schemas.microsoft.com/office/drawing/2014/main" id="{F6CC327F-DFC8-3C68-7BA5-84A08C0AA99B}"/>
              </a:ext>
            </a:extLst>
          </p:cNvPr>
          <p:cNvSpPr/>
          <p:nvPr/>
        </p:nvSpPr>
        <p:spPr>
          <a:xfrm>
            <a:off x="6121066" y="2763559"/>
            <a:ext cx="1143000" cy="580299"/>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Delay</a:t>
            </a:r>
          </a:p>
        </p:txBody>
      </p:sp>
      <p:cxnSp>
        <p:nvCxnSpPr>
          <p:cNvPr id="7" name="Straight Arrow Connector 6">
            <a:extLst>
              <a:ext uri="{FF2B5EF4-FFF2-40B4-BE49-F238E27FC236}">
                <a16:creationId xmlns:a16="http://schemas.microsoft.com/office/drawing/2014/main" id="{76E57502-145A-CD4D-7D83-82FCD2D75297}"/>
              </a:ext>
            </a:extLst>
          </p:cNvPr>
          <p:cNvCxnSpPr>
            <a:cxnSpLocks/>
          </p:cNvCxnSpPr>
          <p:nvPr/>
        </p:nvCxnSpPr>
        <p:spPr>
          <a:xfrm flipH="1">
            <a:off x="8554451" y="1921350"/>
            <a:ext cx="1" cy="651093"/>
          </a:xfrm>
          <a:prstGeom prst="straightConnector1">
            <a:avLst/>
          </a:prstGeom>
          <a:ln w="38100">
            <a:solidFill>
              <a:schemeClr val="tx1"/>
            </a:solidFill>
            <a:tailEnd type="triangle"/>
          </a:ln>
        </p:spPr>
        <p:style>
          <a:lnRef idx="1">
            <a:schemeClr val="accent5"/>
          </a:lnRef>
          <a:fillRef idx="0">
            <a:schemeClr val="accent5"/>
          </a:fillRef>
          <a:effectRef idx="0">
            <a:schemeClr val="accent5"/>
          </a:effectRef>
          <a:fontRef idx="minor">
            <a:schemeClr val="tx1"/>
          </a:fontRef>
        </p:style>
      </p:cxnSp>
      <p:sp>
        <p:nvSpPr>
          <p:cNvPr id="10" name="Rectangle: Rounded Corners 9">
            <a:extLst>
              <a:ext uri="{FF2B5EF4-FFF2-40B4-BE49-F238E27FC236}">
                <a16:creationId xmlns:a16="http://schemas.microsoft.com/office/drawing/2014/main" id="{9ADD5BE5-7C4A-EAD8-3143-71020C4A23D1}"/>
              </a:ext>
            </a:extLst>
          </p:cNvPr>
          <p:cNvSpPr/>
          <p:nvPr/>
        </p:nvSpPr>
        <p:spPr>
          <a:xfrm>
            <a:off x="7640050" y="1334606"/>
            <a:ext cx="1828802" cy="580299"/>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Process Noise</a:t>
            </a:r>
          </a:p>
        </p:txBody>
      </p:sp>
      <p:cxnSp>
        <p:nvCxnSpPr>
          <p:cNvPr id="11" name="Straight Arrow Connector 10">
            <a:extLst>
              <a:ext uri="{FF2B5EF4-FFF2-40B4-BE49-F238E27FC236}">
                <a16:creationId xmlns:a16="http://schemas.microsoft.com/office/drawing/2014/main" id="{FA4FDA8F-08B1-E17A-C3A1-129EE2860C91}"/>
              </a:ext>
            </a:extLst>
          </p:cNvPr>
          <p:cNvCxnSpPr>
            <a:cxnSpLocks/>
            <a:endCxn id="6" idx="1"/>
          </p:cNvCxnSpPr>
          <p:nvPr/>
        </p:nvCxnSpPr>
        <p:spPr>
          <a:xfrm>
            <a:off x="5152524" y="3053709"/>
            <a:ext cx="968542" cy="0"/>
          </a:xfrm>
          <a:prstGeom prst="straightConnector1">
            <a:avLst/>
          </a:prstGeom>
          <a:ln w="38100">
            <a:solidFill>
              <a:schemeClr val="tx1"/>
            </a:solidFill>
            <a:tailEnd type="triangle"/>
          </a:ln>
        </p:spPr>
        <p:style>
          <a:lnRef idx="1">
            <a:schemeClr val="accent5"/>
          </a:lnRef>
          <a:fillRef idx="0">
            <a:schemeClr val="accent5"/>
          </a:fillRef>
          <a:effectRef idx="0">
            <a:schemeClr val="accent5"/>
          </a:effectRef>
          <a:fontRef idx="minor">
            <a:schemeClr val="tx1"/>
          </a:fontRef>
        </p:style>
      </p:cxnSp>
      <p:cxnSp>
        <p:nvCxnSpPr>
          <p:cNvPr id="14" name="Straight Arrow Connector 13">
            <a:extLst>
              <a:ext uri="{FF2B5EF4-FFF2-40B4-BE49-F238E27FC236}">
                <a16:creationId xmlns:a16="http://schemas.microsoft.com/office/drawing/2014/main" id="{C54E2CB0-3BAC-BFC4-0859-B56DDF4A2041}"/>
              </a:ext>
            </a:extLst>
          </p:cNvPr>
          <p:cNvCxnSpPr>
            <a:cxnSpLocks/>
            <a:endCxn id="3" idx="1"/>
          </p:cNvCxnSpPr>
          <p:nvPr/>
        </p:nvCxnSpPr>
        <p:spPr>
          <a:xfrm>
            <a:off x="7264066" y="3057143"/>
            <a:ext cx="643689" cy="0"/>
          </a:xfrm>
          <a:prstGeom prst="straightConnector1">
            <a:avLst/>
          </a:prstGeom>
          <a:ln w="38100">
            <a:solidFill>
              <a:schemeClr val="tx1"/>
            </a:solidFill>
            <a:tailEnd type="triangle"/>
          </a:ln>
        </p:spPr>
        <p:style>
          <a:lnRef idx="1">
            <a:schemeClr val="accent5"/>
          </a:lnRef>
          <a:fillRef idx="0">
            <a:schemeClr val="accent5"/>
          </a:fillRef>
          <a:effectRef idx="0">
            <a:schemeClr val="accent5"/>
          </a:effectRef>
          <a:fontRef idx="minor">
            <a:schemeClr val="tx1"/>
          </a:fontRef>
        </p:style>
      </p:cxnSp>
      <p:sp>
        <p:nvSpPr>
          <p:cNvPr id="16" name="Rectangle: Rounded Corners 15">
            <a:extLst>
              <a:ext uri="{FF2B5EF4-FFF2-40B4-BE49-F238E27FC236}">
                <a16:creationId xmlns:a16="http://schemas.microsoft.com/office/drawing/2014/main" id="{32D76808-3AED-6D0B-3B14-47A09E470472}"/>
              </a:ext>
            </a:extLst>
          </p:cNvPr>
          <p:cNvSpPr/>
          <p:nvPr/>
        </p:nvSpPr>
        <p:spPr>
          <a:xfrm>
            <a:off x="9775658" y="1334605"/>
            <a:ext cx="2099510" cy="580299"/>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Measurement Noise</a:t>
            </a:r>
          </a:p>
        </p:txBody>
      </p:sp>
      <p:cxnSp>
        <p:nvCxnSpPr>
          <p:cNvPr id="18" name="Straight Arrow Connector 17">
            <a:extLst>
              <a:ext uri="{FF2B5EF4-FFF2-40B4-BE49-F238E27FC236}">
                <a16:creationId xmlns:a16="http://schemas.microsoft.com/office/drawing/2014/main" id="{73928B3A-2FF7-65A0-D6F2-029CCDCE986F}"/>
              </a:ext>
            </a:extLst>
          </p:cNvPr>
          <p:cNvCxnSpPr>
            <a:cxnSpLocks/>
            <a:endCxn id="24" idx="0"/>
          </p:cNvCxnSpPr>
          <p:nvPr/>
        </p:nvCxnSpPr>
        <p:spPr>
          <a:xfrm flipH="1">
            <a:off x="10816390" y="1914904"/>
            <a:ext cx="9024" cy="657539"/>
          </a:xfrm>
          <a:prstGeom prst="straightConnector1">
            <a:avLst/>
          </a:prstGeom>
          <a:ln w="38100">
            <a:solidFill>
              <a:schemeClr val="tx1"/>
            </a:solidFill>
            <a:tailEnd type="triangle"/>
          </a:ln>
        </p:spPr>
        <p:style>
          <a:lnRef idx="1">
            <a:schemeClr val="accent5"/>
          </a:lnRef>
          <a:fillRef idx="0">
            <a:schemeClr val="accent5"/>
          </a:fillRef>
          <a:effectRef idx="0">
            <a:schemeClr val="accent5"/>
          </a:effectRef>
          <a:fontRef idx="minor">
            <a:schemeClr val="tx1"/>
          </a:fontRef>
        </p:style>
      </p:cxnSp>
      <p:cxnSp>
        <p:nvCxnSpPr>
          <p:cNvPr id="20" name="Straight Arrow Connector 19">
            <a:extLst>
              <a:ext uri="{FF2B5EF4-FFF2-40B4-BE49-F238E27FC236}">
                <a16:creationId xmlns:a16="http://schemas.microsoft.com/office/drawing/2014/main" id="{6B2F9AD2-FF32-DC43-252F-45BB4BB2B283}"/>
              </a:ext>
            </a:extLst>
          </p:cNvPr>
          <p:cNvCxnSpPr>
            <a:cxnSpLocks/>
            <a:endCxn id="24" idx="1"/>
          </p:cNvCxnSpPr>
          <p:nvPr/>
        </p:nvCxnSpPr>
        <p:spPr>
          <a:xfrm flipV="1">
            <a:off x="9201149" y="3053921"/>
            <a:ext cx="797094" cy="7129"/>
          </a:xfrm>
          <a:prstGeom prst="straightConnector1">
            <a:avLst/>
          </a:prstGeom>
          <a:ln w="38100">
            <a:solidFill>
              <a:schemeClr val="tx1"/>
            </a:solidFill>
            <a:tailEnd type="triangle"/>
          </a:ln>
        </p:spPr>
        <p:style>
          <a:lnRef idx="1">
            <a:schemeClr val="accent5"/>
          </a:lnRef>
          <a:fillRef idx="0">
            <a:schemeClr val="accent5"/>
          </a:fillRef>
          <a:effectRef idx="0">
            <a:schemeClr val="accent5"/>
          </a:effectRef>
          <a:fontRef idx="minor">
            <a:schemeClr val="tx1"/>
          </a:fontRef>
        </p:style>
      </p:cxnSp>
      <p:sp>
        <p:nvSpPr>
          <p:cNvPr id="24" name="Rectangle 23">
            <a:extLst>
              <a:ext uri="{FF2B5EF4-FFF2-40B4-BE49-F238E27FC236}">
                <a16:creationId xmlns:a16="http://schemas.microsoft.com/office/drawing/2014/main" id="{7A53C8DE-FBC1-DAAA-8D42-500AFFCC00D0}"/>
              </a:ext>
            </a:extLst>
          </p:cNvPr>
          <p:cNvSpPr/>
          <p:nvPr/>
        </p:nvSpPr>
        <p:spPr>
          <a:xfrm>
            <a:off x="9998243" y="2572443"/>
            <a:ext cx="1636294" cy="9629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t>Measurement</a:t>
            </a:r>
          </a:p>
        </p:txBody>
      </p:sp>
      <p:cxnSp>
        <p:nvCxnSpPr>
          <p:cNvPr id="31" name="Straight Connector 30">
            <a:extLst>
              <a:ext uri="{FF2B5EF4-FFF2-40B4-BE49-F238E27FC236}">
                <a16:creationId xmlns:a16="http://schemas.microsoft.com/office/drawing/2014/main" id="{F0896C2B-6519-0146-9D1F-90BCD6BA00DB}"/>
              </a:ext>
            </a:extLst>
          </p:cNvPr>
          <p:cNvCxnSpPr>
            <a:stCxn id="24" idx="2"/>
          </p:cNvCxnSpPr>
          <p:nvPr/>
        </p:nvCxnSpPr>
        <p:spPr>
          <a:xfrm>
            <a:off x="10816390" y="3535398"/>
            <a:ext cx="0" cy="447054"/>
          </a:xfrm>
          <a:prstGeom prst="line">
            <a:avLst/>
          </a:prstGeom>
          <a:ln w="38100"/>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52719833-B583-7B82-282D-B625A8A4993A}"/>
              </a:ext>
            </a:extLst>
          </p:cNvPr>
          <p:cNvCxnSpPr>
            <a:cxnSpLocks/>
          </p:cNvCxnSpPr>
          <p:nvPr/>
        </p:nvCxnSpPr>
        <p:spPr>
          <a:xfrm flipH="1">
            <a:off x="5152524" y="3982452"/>
            <a:ext cx="5682918" cy="0"/>
          </a:xfrm>
          <a:prstGeom prst="straightConnector1">
            <a:avLst/>
          </a:prstGeom>
          <a:ln w="38100">
            <a:solidFill>
              <a:schemeClr val="tx1"/>
            </a:solidFill>
            <a:tailEnd type="triangle"/>
          </a:ln>
        </p:spPr>
        <p:style>
          <a:lnRef idx="1">
            <a:schemeClr val="accent5"/>
          </a:lnRef>
          <a:fillRef idx="0">
            <a:schemeClr val="accent5"/>
          </a:fillRef>
          <a:effectRef idx="0">
            <a:schemeClr val="accent5"/>
          </a:effectRef>
          <a:fontRef idx="minor">
            <a:schemeClr val="tx1"/>
          </a:fontRef>
        </p:style>
      </p:cxnSp>
      <p:sp>
        <p:nvSpPr>
          <p:cNvPr id="37" name="TextBox 36">
            <a:extLst>
              <a:ext uri="{FF2B5EF4-FFF2-40B4-BE49-F238E27FC236}">
                <a16:creationId xmlns:a16="http://schemas.microsoft.com/office/drawing/2014/main" id="{E5128C5C-D730-C825-B7DF-5F9CCB93326D}"/>
              </a:ext>
            </a:extLst>
          </p:cNvPr>
          <p:cNvSpPr txBox="1"/>
          <p:nvPr/>
        </p:nvSpPr>
        <p:spPr>
          <a:xfrm>
            <a:off x="5275847" y="2671010"/>
            <a:ext cx="397042" cy="369332"/>
          </a:xfrm>
          <a:prstGeom prst="rect">
            <a:avLst/>
          </a:prstGeom>
          <a:noFill/>
        </p:spPr>
        <p:txBody>
          <a:bodyPr wrap="square" rtlCol="0">
            <a:spAutoFit/>
          </a:bodyPr>
          <a:lstStyle/>
          <a:p>
            <a:r>
              <a:rPr lang="en-US" dirty="0"/>
              <a:t>u</a:t>
            </a:r>
          </a:p>
        </p:txBody>
      </p:sp>
      <p:sp>
        <p:nvSpPr>
          <p:cNvPr id="38" name="TextBox 37">
            <a:extLst>
              <a:ext uri="{FF2B5EF4-FFF2-40B4-BE49-F238E27FC236}">
                <a16:creationId xmlns:a16="http://schemas.microsoft.com/office/drawing/2014/main" id="{36CFD879-AA05-51EF-D527-CA428B765729}"/>
              </a:ext>
            </a:extLst>
          </p:cNvPr>
          <p:cNvSpPr txBox="1"/>
          <p:nvPr/>
        </p:nvSpPr>
        <p:spPr>
          <a:xfrm>
            <a:off x="5275847" y="3574259"/>
            <a:ext cx="397042" cy="369332"/>
          </a:xfrm>
          <a:prstGeom prst="rect">
            <a:avLst/>
          </a:prstGeom>
          <a:noFill/>
        </p:spPr>
        <p:txBody>
          <a:bodyPr wrap="square" rtlCol="0">
            <a:spAutoFit/>
          </a:bodyPr>
          <a:lstStyle/>
          <a:p>
            <a:r>
              <a:rPr lang="en-US" dirty="0"/>
              <a:t>y</a:t>
            </a:r>
          </a:p>
        </p:txBody>
      </p:sp>
      <p:sp>
        <p:nvSpPr>
          <p:cNvPr id="39" name="TextBox 38">
            <a:extLst>
              <a:ext uri="{FF2B5EF4-FFF2-40B4-BE49-F238E27FC236}">
                <a16:creationId xmlns:a16="http://schemas.microsoft.com/office/drawing/2014/main" id="{526B7224-72A0-1AB8-9040-DA005ACA565D}"/>
              </a:ext>
            </a:extLst>
          </p:cNvPr>
          <p:cNvSpPr txBox="1"/>
          <p:nvPr/>
        </p:nvSpPr>
        <p:spPr>
          <a:xfrm>
            <a:off x="9378616" y="2671010"/>
            <a:ext cx="397042" cy="369332"/>
          </a:xfrm>
          <a:prstGeom prst="rect">
            <a:avLst/>
          </a:prstGeom>
          <a:noFill/>
        </p:spPr>
        <p:txBody>
          <a:bodyPr wrap="square" rtlCol="0">
            <a:spAutoFit/>
          </a:bodyPr>
          <a:lstStyle/>
          <a:p>
            <a:r>
              <a:rPr lang="en-US" dirty="0"/>
              <a:t>x</a:t>
            </a:r>
          </a:p>
        </p:txBody>
      </p:sp>
      <p:grpSp>
        <p:nvGrpSpPr>
          <p:cNvPr id="15" name="Group 14">
            <a:extLst>
              <a:ext uri="{FF2B5EF4-FFF2-40B4-BE49-F238E27FC236}">
                <a16:creationId xmlns:a16="http://schemas.microsoft.com/office/drawing/2014/main" id="{E8F5B0FA-4506-83A8-B0CF-214A0C76983D}"/>
              </a:ext>
            </a:extLst>
          </p:cNvPr>
          <p:cNvGrpSpPr/>
          <p:nvPr/>
        </p:nvGrpSpPr>
        <p:grpSpPr>
          <a:xfrm>
            <a:off x="8823915" y="4577140"/>
            <a:ext cx="1903485" cy="1074737"/>
            <a:chOff x="9629385" y="4555899"/>
            <a:chExt cx="1903485" cy="1074737"/>
          </a:xfrm>
        </p:grpSpPr>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3EE7F09B-7B17-C8DC-EC8F-EAE4B94B3F63}"/>
                    </a:ext>
                  </a:extLst>
                </p:cNvPr>
                <p:cNvSpPr/>
                <p:nvPr/>
              </p:nvSpPr>
              <p:spPr>
                <a:xfrm>
                  <a:off x="9629385" y="4555899"/>
                  <a:ext cx="1903485" cy="107473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r"/>
                  <a14:m>
                    <m:oMathPara xmlns:m="http://schemas.openxmlformats.org/officeDocument/2006/math">
                      <m:oMathParaPr>
                        <m:jc m:val="right"/>
                      </m:oMathParaPr>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𝑒𝑠𝑡</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m:oMathPara>
                  </a14:m>
                  <a:endParaRPr lang="en-US" dirty="0"/>
                </a:p>
              </p:txBody>
            </p:sp>
          </mc:Choice>
          <mc:Fallback xmlns="">
            <p:sp>
              <p:nvSpPr>
                <p:cNvPr id="13" name="Rectangle 12">
                  <a:extLst>
                    <a:ext uri="{FF2B5EF4-FFF2-40B4-BE49-F238E27FC236}">
                      <a16:creationId xmlns:a16="http://schemas.microsoft.com/office/drawing/2014/main" id="{3EE7F09B-7B17-C8DC-EC8F-EAE4B94B3F63}"/>
                    </a:ext>
                  </a:extLst>
                </p:cNvPr>
                <p:cNvSpPr>
                  <a:spLocks noRot="1" noChangeAspect="1" noMove="1" noResize="1" noEditPoints="1" noAdjustHandles="1" noChangeArrowheads="1" noChangeShapeType="1" noTextEdit="1"/>
                </p:cNvSpPr>
                <p:nvPr/>
              </p:nvSpPr>
              <p:spPr>
                <a:xfrm>
                  <a:off x="9629385" y="4555899"/>
                  <a:ext cx="1903485" cy="1074737"/>
                </a:xfrm>
                <a:prstGeom prst="rect">
                  <a:avLst/>
                </a:prstGeom>
                <a:blipFill>
                  <a:blip r:embed="rId2"/>
                  <a:stretch>
                    <a:fillRect r="-6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Rounded Corners 7">
                  <a:extLst>
                    <a:ext uri="{FF2B5EF4-FFF2-40B4-BE49-F238E27FC236}">
                      <a16:creationId xmlns:a16="http://schemas.microsoft.com/office/drawing/2014/main" id="{D2AE62D9-397A-E9A6-0E08-A4A9972D0316}"/>
                    </a:ext>
                  </a:extLst>
                </p:cNvPr>
                <p:cNvSpPr/>
                <p:nvPr/>
              </p:nvSpPr>
              <p:spPr>
                <a:xfrm>
                  <a:off x="9775658" y="4813508"/>
                  <a:ext cx="746806" cy="62772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𝜏</m:t>
                            </m:r>
                            <m:r>
                              <a:rPr lang="en-US" i="1">
                                <a:latin typeface="Cambria Math" panose="02040503050406030204" pitchFamily="18" charset="0"/>
                                <a:ea typeface="Cambria Math" panose="02040503050406030204" pitchFamily="18" charset="0"/>
                              </a:rPr>
                              <m:t>𝑠</m:t>
                            </m:r>
                          </m:sup>
                        </m:sSup>
                      </m:oMath>
                    </m:oMathPara>
                  </a14:m>
                  <a:endParaRPr lang="en-US" dirty="0"/>
                </a:p>
              </p:txBody>
            </p:sp>
          </mc:Choice>
          <mc:Fallback xmlns="">
            <p:sp>
              <p:nvSpPr>
                <p:cNvPr id="8" name="Rectangle: Rounded Corners 7">
                  <a:extLst>
                    <a:ext uri="{FF2B5EF4-FFF2-40B4-BE49-F238E27FC236}">
                      <a16:creationId xmlns:a16="http://schemas.microsoft.com/office/drawing/2014/main" id="{D2AE62D9-397A-E9A6-0E08-A4A9972D0316}"/>
                    </a:ext>
                  </a:extLst>
                </p:cNvPr>
                <p:cNvSpPr>
                  <a:spLocks noRot="1" noChangeAspect="1" noMove="1" noResize="1" noEditPoints="1" noAdjustHandles="1" noChangeArrowheads="1" noChangeShapeType="1" noTextEdit="1"/>
                </p:cNvSpPr>
                <p:nvPr/>
              </p:nvSpPr>
              <p:spPr>
                <a:xfrm>
                  <a:off x="9775658" y="4813508"/>
                  <a:ext cx="746806" cy="627720"/>
                </a:xfrm>
                <a:prstGeom prst="roundRect">
                  <a:avLst/>
                </a:prstGeom>
                <a:blipFill>
                  <a:blip r:embed="rId3"/>
                  <a:stretch>
                    <a:fillRect/>
                  </a:stretch>
                </a:blipFill>
              </p:spPr>
              <p:txBody>
                <a:bodyPr/>
                <a:lstStyle/>
                <a:p>
                  <a:r>
                    <a:rPr lang="en-US">
                      <a:noFill/>
                    </a:rPr>
                    <a:t> </a:t>
                  </a:r>
                </a:p>
              </p:txBody>
            </p:sp>
          </mc:Fallback>
        </mc:AlternateContent>
      </p:grpSp>
      <p:sp>
        <p:nvSpPr>
          <p:cNvPr id="12" name="TextBox 11">
            <a:extLst>
              <a:ext uri="{FF2B5EF4-FFF2-40B4-BE49-F238E27FC236}">
                <a16:creationId xmlns:a16="http://schemas.microsoft.com/office/drawing/2014/main" id="{2E498CD4-3073-5109-AF54-DFE913759B0A}"/>
              </a:ext>
            </a:extLst>
          </p:cNvPr>
          <p:cNvSpPr txBox="1"/>
          <p:nvPr/>
        </p:nvSpPr>
        <p:spPr>
          <a:xfrm>
            <a:off x="5736566" y="4514345"/>
            <a:ext cx="1903484" cy="1200329"/>
          </a:xfrm>
          <a:prstGeom prst="rect">
            <a:avLst/>
          </a:prstGeom>
          <a:noFill/>
        </p:spPr>
        <p:txBody>
          <a:bodyPr wrap="square" rtlCol="0">
            <a:spAutoFit/>
          </a:bodyPr>
          <a:lstStyle/>
          <a:p>
            <a:r>
              <a:rPr lang="en-US" dirty="0"/>
              <a:t>Constant delays are generally easy to estimate from the data</a:t>
            </a:r>
          </a:p>
        </p:txBody>
      </p:sp>
      <p:cxnSp>
        <p:nvCxnSpPr>
          <p:cNvPr id="17" name="Straight Arrow Connector 16">
            <a:extLst>
              <a:ext uri="{FF2B5EF4-FFF2-40B4-BE49-F238E27FC236}">
                <a16:creationId xmlns:a16="http://schemas.microsoft.com/office/drawing/2014/main" id="{E1121EAE-68E1-0F08-EFE2-4485F1656841}"/>
              </a:ext>
            </a:extLst>
          </p:cNvPr>
          <p:cNvCxnSpPr>
            <a:cxnSpLocks/>
          </p:cNvCxnSpPr>
          <p:nvPr/>
        </p:nvCxnSpPr>
        <p:spPr>
          <a:xfrm>
            <a:off x="7855373" y="5112207"/>
            <a:ext cx="968542" cy="0"/>
          </a:xfrm>
          <a:prstGeom prst="straightConnector1">
            <a:avLst/>
          </a:prstGeom>
          <a:ln w="38100">
            <a:solidFill>
              <a:schemeClr val="tx1"/>
            </a:solidFill>
            <a:tailEnd type="triangle"/>
          </a:ln>
        </p:spPr>
        <p:style>
          <a:lnRef idx="1">
            <a:schemeClr val="accent5"/>
          </a:lnRef>
          <a:fillRef idx="0">
            <a:schemeClr val="accent5"/>
          </a:fillRef>
          <a:effectRef idx="0">
            <a:schemeClr val="accent5"/>
          </a:effectRef>
          <a:fontRef idx="minor">
            <a:schemeClr val="tx1"/>
          </a:fontRef>
        </p:style>
      </p:cxnSp>
      <p:sp>
        <p:nvSpPr>
          <p:cNvPr id="19" name="TextBox 18">
            <a:extLst>
              <a:ext uri="{FF2B5EF4-FFF2-40B4-BE49-F238E27FC236}">
                <a16:creationId xmlns:a16="http://schemas.microsoft.com/office/drawing/2014/main" id="{0EBE0C3E-F4B2-CB98-A5ED-3CE83DA4CA6C}"/>
              </a:ext>
            </a:extLst>
          </p:cNvPr>
          <p:cNvSpPr txBox="1"/>
          <p:nvPr/>
        </p:nvSpPr>
        <p:spPr>
          <a:xfrm>
            <a:off x="7978696" y="4729508"/>
            <a:ext cx="397042" cy="369332"/>
          </a:xfrm>
          <a:prstGeom prst="rect">
            <a:avLst/>
          </a:prstGeom>
          <a:noFill/>
        </p:spPr>
        <p:txBody>
          <a:bodyPr wrap="square" rtlCol="0">
            <a:spAutoFit/>
          </a:bodyPr>
          <a:lstStyle/>
          <a:p>
            <a:r>
              <a:rPr lang="en-US" dirty="0"/>
              <a:t>u</a:t>
            </a:r>
          </a:p>
        </p:txBody>
      </p:sp>
      <p:cxnSp>
        <p:nvCxnSpPr>
          <p:cNvPr id="21" name="Straight Arrow Connector 20">
            <a:extLst>
              <a:ext uri="{FF2B5EF4-FFF2-40B4-BE49-F238E27FC236}">
                <a16:creationId xmlns:a16="http://schemas.microsoft.com/office/drawing/2014/main" id="{83CAAB2F-4A33-C23A-6DB7-2B871816C94B}"/>
              </a:ext>
            </a:extLst>
          </p:cNvPr>
          <p:cNvCxnSpPr>
            <a:cxnSpLocks/>
          </p:cNvCxnSpPr>
          <p:nvPr/>
        </p:nvCxnSpPr>
        <p:spPr>
          <a:xfrm flipV="1">
            <a:off x="10727400" y="5105078"/>
            <a:ext cx="797094" cy="7129"/>
          </a:xfrm>
          <a:prstGeom prst="straightConnector1">
            <a:avLst/>
          </a:prstGeom>
          <a:ln w="38100">
            <a:solidFill>
              <a:schemeClr val="tx1"/>
            </a:solidFill>
            <a:tailEnd type="triangle"/>
          </a:ln>
        </p:spPr>
        <p:style>
          <a:lnRef idx="1">
            <a:schemeClr val="accent5"/>
          </a:lnRef>
          <a:fillRef idx="0">
            <a:schemeClr val="accent5"/>
          </a:fillRef>
          <a:effectRef idx="0">
            <a:schemeClr val="accent5"/>
          </a:effectRef>
          <a:fontRef idx="minor">
            <a:schemeClr val="tx1"/>
          </a:fontRef>
        </p:style>
      </p:cxnSp>
      <p:sp>
        <p:nvSpPr>
          <p:cNvPr id="22" name="TextBox 21">
            <a:extLst>
              <a:ext uri="{FF2B5EF4-FFF2-40B4-BE49-F238E27FC236}">
                <a16:creationId xmlns:a16="http://schemas.microsoft.com/office/drawing/2014/main" id="{E89A6616-CA7B-00D3-09A7-FFC413ECE31D}"/>
              </a:ext>
            </a:extLst>
          </p:cNvPr>
          <p:cNvSpPr txBox="1"/>
          <p:nvPr/>
        </p:nvSpPr>
        <p:spPr>
          <a:xfrm>
            <a:off x="10904867" y="4722167"/>
            <a:ext cx="397042" cy="369332"/>
          </a:xfrm>
          <a:prstGeom prst="rect">
            <a:avLst/>
          </a:prstGeom>
          <a:noFill/>
        </p:spPr>
        <p:txBody>
          <a:bodyPr wrap="square" rtlCol="0">
            <a:spAutoFit/>
          </a:bodyPr>
          <a:lstStyle/>
          <a:p>
            <a:r>
              <a:rPr lang="en-US" dirty="0"/>
              <a:t>x</a:t>
            </a:r>
          </a:p>
        </p:txBody>
      </p:sp>
    </p:spTree>
    <p:extLst>
      <p:ext uri="{BB962C8B-B14F-4D97-AF65-F5344CB8AC3E}">
        <p14:creationId xmlns:p14="http://schemas.microsoft.com/office/powerpoint/2010/main" val="138830799"/>
      </p:ext>
    </p:extLst>
  </p:cSld>
  <p:clrMapOvr>
    <a:masterClrMapping/>
  </p:clrMapOvr>
</p:sld>
</file>

<file path=ppt/theme/theme1.xml><?xml version="1.0" encoding="utf-8"?>
<a:theme xmlns:a="http://schemas.openxmlformats.org/drawingml/2006/main" name="1_Office Theme">
  <a:themeElements>
    <a:clrScheme name="UTD 2019 Colors">
      <a:dk1>
        <a:srgbClr val="000000"/>
      </a:dk1>
      <a:lt1>
        <a:srgbClr val="FFFFFF"/>
      </a:lt1>
      <a:dk2>
        <a:srgbClr val="414141"/>
      </a:dk2>
      <a:lt2>
        <a:srgbClr val="E7E6E6"/>
      </a:lt2>
      <a:accent1>
        <a:srgbClr val="E87500"/>
      </a:accent1>
      <a:accent2>
        <a:srgbClr val="69BD28"/>
      </a:accent2>
      <a:accent3>
        <a:srgbClr val="00A0DE"/>
      </a:accent3>
      <a:accent4>
        <a:srgbClr val="FFB611"/>
      </a:accent4>
      <a:accent5>
        <a:srgbClr val="154734"/>
      </a:accent5>
      <a:accent6>
        <a:srgbClr val="5FE0B7"/>
      </a:accent6>
      <a:hlink>
        <a:srgbClr val="C8C8C8"/>
      </a:hlink>
      <a:folHlink>
        <a:srgbClr val="808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2ABE38BA518424A98DE136B5A4D5BBB" ma:contentTypeVersion="7" ma:contentTypeDescription="Create a new document." ma:contentTypeScope="" ma:versionID="6f6ef3b06f4ecb0588acd0e670c58b9e">
  <xsd:schema xmlns:xsd="http://www.w3.org/2001/XMLSchema" xmlns:xs="http://www.w3.org/2001/XMLSchema" xmlns:p="http://schemas.microsoft.com/office/2006/metadata/properties" xmlns:ns3="6ad28483-17e6-41fb-bc0e-a9a93afcd187" xmlns:ns4="9aa7709c-b3df-41fe-a9d8-dd94c9a11819" targetNamespace="http://schemas.microsoft.com/office/2006/metadata/properties" ma:root="true" ma:fieldsID="c9739085591d71e0d5540cf91b7e38ee" ns3:_="" ns4:_="">
    <xsd:import namespace="6ad28483-17e6-41fb-bc0e-a9a93afcd187"/>
    <xsd:import namespace="9aa7709c-b3df-41fe-a9d8-dd94c9a11819"/>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d28483-17e6-41fb-bc0e-a9a93afcd18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aa7709c-b3df-41fe-a9d8-dd94c9a11819"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F48F90B-EE2D-4724-8C13-C4F0A4EB41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ad28483-17e6-41fb-bc0e-a9a93afcd187"/>
    <ds:schemaRef ds:uri="9aa7709c-b3df-41fe-a9d8-dd94c9a1181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FDC3E2B-2B95-4DEE-BED9-0388B258D0F5}">
  <ds:schemaRefs>
    <ds:schemaRef ds:uri="http://schemas.microsoft.com/sharepoint/v3/contenttype/forms"/>
  </ds:schemaRefs>
</ds:datastoreItem>
</file>

<file path=customXml/itemProps3.xml><?xml version="1.0" encoding="utf-8"?>
<ds:datastoreItem xmlns:ds="http://schemas.openxmlformats.org/officeDocument/2006/customXml" ds:itemID="{D9406880-3DFF-4A78-B374-1310A739C756}">
  <ds:schemaRefs>
    <ds:schemaRef ds:uri="http://schemas.microsoft.com/office/2006/documentManagement/types"/>
    <ds:schemaRef ds:uri="http://purl.org/dc/terms/"/>
    <ds:schemaRef ds:uri="http://schemas.microsoft.com/office/2006/metadata/properties"/>
    <ds:schemaRef ds:uri="9aa7709c-b3df-41fe-a9d8-dd94c9a11819"/>
    <ds:schemaRef ds:uri="http://purl.org/dc/dcmitype/"/>
    <ds:schemaRef ds:uri="http://schemas.microsoft.com/office/infopath/2007/PartnerControls"/>
    <ds:schemaRef ds:uri="http://purl.org/dc/elements/1.1/"/>
    <ds:schemaRef ds:uri="http://schemas.openxmlformats.org/package/2006/metadata/core-properties"/>
    <ds:schemaRef ds:uri="6ad28483-17e6-41fb-bc0e-a9a93afcd187"/>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139834</TotalTime>
  <Words>2546</Words>
  <Application>Microsoft Office PowerPoint</Application>
  <PresentationFormat>Widescreen</PresentationFormat>
  <Paragraphs>159</Paragraphs>
  <Slides>16</Slides>
  <Notes>11</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Arial,Sans-Serif</vt:lpstr>
      <vt:lpstr>Calibri</vt:lpstr>
      <vt:lpstr>Cambria Math</vt:lpstr>
      <vt:lpstr>1_Office Theme</vt:lpstr>
      <vt:lpstr>The PID Workshop</vt:lpstr>
      <vt:lpstr>The PID Workshop</vt:lpstr>
      <vt:lpstr>Intro to PID</vt:lpstr>
      <vt:lpstr>Intro to PID</vt:lpstr>
      <vt:lpstr>Car Acceleration Analogy</vt:lpstr>
      <vt:lpstr>Car Acceleration Analogy</vt:lpstr>
      <vt:lpstr>Car Acceleration Analogy</vt:lpstr>
      <vt:lpstr>Manual Tuning</vt:lpstr>
      <vt:lpstr>Problems with K_d</vt:lpstr>
      <vt:lpstr>Integral Anti-Windup</vt:lpstr>
      <vt:lpstr>Back-calculation</vt:lpstr>
      <vt:lpstr>Ziegler-Nichols Tuning</vt:lpstr>
      <vt:lpstr>Gain Scheduling</vt:lpstr>
      <vt:lpstr>References</vt:lpstr>
      <vt:lpstr>Experiment Design</vt:lpstr>
      <vt:lpstr>Modeling the Real World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Kumar, Devesh</dc:creator>
  <cp:lastModifiedBy>Zubair, Muhammad Usama</cp:lastModifiedBy>
  <cp:revision>1433</cp:revision>
  <dcterms:created xsi:type="dcterms:W3CDTF">2017-09-15T16:01:31Z</dcterms:created>
  <dcterms:modified xsi:type="dcterms:W3CDTF">2026-04-28T16:23:07Z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0x01010032ABE38BA518424A98DE136B5A4D5BBB</vt:lpwstr>
  </property>
</Properties>
</file>